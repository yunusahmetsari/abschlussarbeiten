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2"/>
  </p:notesMasterIdLst>
  <p:sldIdLst>
    <p:sldId id="257" r:id="rId2"/>
    <p:sldId id="294" r:id="rId3"/>
    <p:sldId id="296" r:id="rId4"/>
    <p:sldId id="297" r:id="rId5"/>
    <p:sldId id="298" r:id="rId6"/>
    <p:sldId id="279" r:id="rId7"/>
    <p:sldId id="300" r:id="rId8"/>
    <p:sldId id="289" r:id="rId9"/>
    <p:sldId id="281" r:id="rId10"/>
    <p:sldId id="303" r:id="rId11"/>
    <p:sldId id="277" r:id="rId12"/>
    <p:sldId id="299" r:id="rId13"/>
    <p:sldId id="286" r:id="rId14"/>
    <p:sldId id="304" r:id="rId15"/>
    <p:sldId id="267" r:id="rId16"/>
    <p:sldId id="305" r:id="rId17"/>
    <p:sldId id="269" r:id="rId18"/>
    <p:sldId id="264" r:id="rId19"/>
    <p:sldId id="272" r:id="rId20"/>
    <p:sldId id="275" r:id="rId21"/>
  </p:sldIdLst>
  <p:sldSz cx="9144000" cy="5143500" type="screen16x9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2541040A-B97D-42F0-814E-3636A5C72397}">
          <p14:sldIdLst>
            <p14:sldId id="257"/>
            <p14:sldId id="294"/>
            <p14:sldId id="296"/>
            <p14:sldId id="297"/>
            <p14:sldId id="298"/>
            <p14:sldId id="279"/>
            <p14:sldId id="300"/>
            <p14:sldId id="289"/>
            <p14:sldId id="281"/>
            <p14:sldId id="303"/>
            <p14:sldId id="277"/>
            <p14:sldId id="299"/>
            <p14:sldId id="286"/>
            <p14:sldId id="304"/>
            <p14:sldId id="267"/>
            <p14:sldId id="305"/>
            <p14:sldId id="269"/>
            <p14:sldId id="264"/>
            <p14:sldId id="272"/>
            <p14:sldId id="27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3026">
          <p15:clr>
            <a:srgbClr val="A4A3A4"/>
          </p15:clr>
        </p15:guide>
        <p15:guide id="4" pos="5465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ominik Schäfer" initials="DS" lastIdx="56" clrIdx="0">
    <p:extLst>
      <p:ext uri="{19B8F6BF-5375-455C-9EA6-DF929625EA0E}">
        <p15:presenceInfo xmlns:p15="http://schemas.microsoft.com/office/powerpoint/2012/main" userId="Dominik Schäf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500"/>
    <a:srgbClr val="0128E9"/>
    <a:srgbClr val="00FF00"/>
    <a:srgbClr val="003C5A"/>
    <a:srgbClr val="8DD644"/>
    <a:srgbClr val="FDE724"/>
    <a:srgbClr val="277C8E"/>
    <a:srgbClr val="433B83"/>
    <a:srgbClr val="4F81BD"/>
    <a:srgbClr val="B928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07" autoAdjust="0"/>
    <p:restoredTop sz="73086" autoAdjust="0"/>
  </p:normalViewPr>
  <p:slideViewPr>
    <p:cSldViewPr>
      <p:cViewPr varScale="1">
        <p:scale>
          <a:sx n="157" d="100"/>
          <a:sy n="157" d="100"/>
        </p:scale>
        <p:origin x="1734" y="132"/>
      </p:cViewPr>
      <p:guideLst>
        <p:guide orient="horz" pos="1620"/>
        <p:guide pos="2880"/>
        <p:guide orient="horz" pos="3026"/>
        <p:guide pos="5465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EFF599-6389-40AA-8A2B-A3122779CDDC}" type="datetimeFigureOut">
              <a:rPr lang="de-DE" smtClean="0"/>
              <a:t>01.06.2022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E5633C-52E2-4285-BCA0-13E53574E4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9205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itchFamily="2" charset="2"/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5633C-52E2-4285-BCA0-13E53574E450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15909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de-DE" sz="1800" b="0" i="0" u="none" strike="noStrike" baseline="0" dirty="0">
              <a:solidFill>
                <a:srgbClr val="333333"/>
              </a:solidFill>
              <a:latin typeface="ArialMT"/>
              <a:ea typeface="Segoe UI Symbol" pitchFamily="34" charset="0"/>
              <a:cs typeface="Arial" pitchFamily="34" charset="0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5633C-52E2-4285-BCA0-13E53574E450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29271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de-DE" sz="1800" b="0" i="0" u="none" strike="noStrike" baseline="0" dirty="0">
              <a:solidFill>
                <a:srgbClr val="333333"/>
              </a:solidFill>
              <a:latin typeface="ArialMT"/>
              <a:ea typeface="Segoe UI Symbol" pitchFamily="34" charset="0"/>
              <a:cs typeface="Arial" pitchFamily="34" charset="0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5633C-52E2-4285-BCA0-13E53574E450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59704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de-DE" b="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5633C-52E2-4285-BCA0-13E53574E450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99932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de-DE" sz="1800" b="0" i="0" u="none" strike="noStrike" baseline="0" dirty="0">
              <a:solidFill>
                <a:srgbClr val="333333"/>
              </a:solidFill>
              <a:latin typeface="ArialMT"/>
              <a:ea typeface="Segoe UI Symbol" pitchFamily="34" charset="0"/>
              <a:cs typeface="Arial" pitchFamily="34" charset="0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5633C-52E2-4285-BCA0-13E53574E450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58382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itchFamily="2" charset="2"/>
              <a:buNone/>
            </a:pPr>
            <a:endParaRPr lang="en-US" sz="1800" b="0" i="0" u="none" strike="noStrike" baseline="0" dirty="0">
              <a:solidFill>
                <a:srgbClr val="7F7F7F"/>
              </a:solidFill>
              <a:latin typeface="Arial" panose="020B0604020202020204" pitchFamily="34" charset="0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5633C-52E2-4285-BCA0-13E53574E450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722456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itchFamily="2" charset="2"/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5633C-52E2-4285-BCA0-13E53574E450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7724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itchFamily="2" charset="2"/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5633C-52E2-4285-BCA0-13E53574E450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99791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itchFamily="2" charset="2"/>
              <a:buNone/>
            </a:pPr>
            <a:endParaRPr lang="de-DE" i="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5633C-52E2-4285-BCA0-13E53574E450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264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itchFamily="2" charset="2"/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5633C-52E2-4285-BCA0-13E53574E450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2076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itchFamily="2" charset="2"/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5633C-52E2-4285-BCA0-13E53574E450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77894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itchFamily="2" charset="2"/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5633C-52E2-4285-BCA0-13E53574E450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23231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itchFamily="2" charset="2"/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5633C-52E2-4285-BCA0-13E53574E450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45181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itchFamily="2" charset="2"/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5633C-52E2-4285-BCA0-13E53574E450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687597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5633C-52E2-4285-BCA0-13E53574E450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95909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5633C-52E2-4285-BCA0-13E53574E450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56192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itchFamily="2" charset="2"/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5633C-52E2-4285-BCA0-13E53574E450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906226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itchFamily="2" charset="2"/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5633C-52E2-4285-BCA0-13E53574E450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74182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itchFamily="2" charset="2"/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5633C-52E2-4285-BCA0-13E53574E450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75576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itchFamily="2" charset="2"/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5633C-52E2-4285-BCA0-13E53574E450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9606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3809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51" y="131894"/>
            <a:ext cx="1372913" cy="265604"/>
          </a:xfrm>
          <a:prstGeom prst="rect">
            <a:avLst/>
          </a:prstGeom>
        </p:spPr>
      </p:pic>
      <p:sp>
        <p:nvSpPr>
          <p:cNvPr id="3" name="Textfeld 2"/>
          <p:cNvSpPr txBox="1"/>
          <p:nvPr userDrawn="1"/>
        </p:nvSpPr>
        <p:spPr>
          <a:xfrm>
            <a:off x="8796619" y="487600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85628ABB-A950-418B-8021-1BF641A8A95C}" type="slidenum">
              <a:rPr lang="de-DE" sz="105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pPr algn="r"/>
              <a:t>‹Nr.›</a:t>
            </a:fld>
            <a:endParaRPr lang="de-DE" sz="1050">
              <a:solidFill>
                <a:schemeClr val="bg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Grafik 3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3656" y="123478"/>
            <a:ext cx="1513612" cy="269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465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006B99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rgbClr val="006B99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rgbClr val="006B99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rgbClr val="006B99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rgbClr val="006B99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rgbClr val="006B99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0.png"/><Relationship Id="rId5" Type="http://schemas.openxmlformats.org/officeDocument/2006/relationships/image" Target="../media/image15.png"/><Relationship Id="rId10" Type="http://schemas.openxmlformats.org/officeDocument/2006/relationships/image" Target="../media/image19.png"/><Relationship Id="rId4" Type="http://schemas.openxmlformats.org/officeDocument/2006/relationships/image" Target="../media/image14.png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4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4.png"/><Relationship Id="rId3" Type="http://schemas.microsoft.com/office/2007/relationships/media" Target="../media/media2.mp4"/><Relationship Id="rId7" Type="http://schemas.openxmlformats.org/officeDocument/2006/relationships/image" Target="../media/image30.png"/><Relationship Id="rId12" Type="http://schemas.openxmlformats.org/officeDocument/2006/relationships/image" Target="../media/image300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notesSlide" Target="../notesSlides/notesSlide11.xml"/><Relationship Id="rId11" Type="http://schemas.openxmlformats.org/officeDocument/2006/relationships/image" Target="../media/image34.png"/><Relationship Id="rId5" Type="http://schemas.openxmlformats.org/officeDocument/2006/relationships/slideLayout" Target="../slideLayouts/slideLayout1.xml"/><Relationship Id="rId10" Type="http://schemas.openxmlformats.org/officeDocument/2006/relationships/image" Target="../media/image33.png"/><Relationship Id="rId4" Type="http://schemas.openxmlformats.org/officeDocument/2006/relationships/video" Target="../media/media2.mp4"/><Relationship Id="rId9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3.png"/><Relationship Id="rId7" Type="http://schemas.openxmlformats.org/officeDocument/2006/relationships/image" Target="../media/image38.png"/><Relationship Id="rId12" Type="http://schemas.openxmlformats.org/officeDocument/2006/relationships/image" Target="../media/image4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41.png"/><Relationship Id="rId5" Type="http://schemas.openxmlformats.org/officeDocument/2006/relationships/image" Target="../media/image36.png"/><Relationship Id="rId10" Type="http://schemas.openxmlformats.org/officeDocument/2006/relationships/image" Target="../media/image40.png"/><Relationship Id="rId4" Type="http://schemas.openxmlformats.org/officeDocument/2006/relationships/image" Target="../media/image35.png"/><Relationship Id="rId9" Type="http://schemas.openxmlformats.org/officeDocument/2006/relationships/image" Target="../media/image36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5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3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0.png"/><Relationship Id="rId10" Type="http://schemas.openxmlformats.org/officeDocument/2006/relationships/image" Target="../media/image58.png"/><Relationship Id="rId4" Type="http://schemas.openxmlformats.org/officeDocument/2006/relationships/image" Target="../media/image520.png"/><Relationship Id="rId9" Type="http://schemas.openxmlformats.org/officeDocument/2006/relationships/image" Target="../media/image5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8.png"/><Relationship Id="rId4" Type="http://schemas.openxmlformats.org/officeDocument/2006/relationships/image" Target="../media/image5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0.png"/><Relationship Id="rId4" Type="http://schemas.openxmlformats.org/officeDocument/2006/relationships/image" Target="../media/image4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76000" y="627534"/>
            <a:ext cx="871296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r>
              <a:rPr lang="de-DE" sz="1600">
                <a:solidFill>
                  <a:srgbClr val="003C5A"/>
                </a:solidFill>
                <a:latin typeface="Arial" panose="020B0604020202020204" pitchFamily="34" charset="0"/>
                <a:ea typeface="Segoe UI Symbol" pitchFamily="34" charset="0"/>
                <a:cs typeface="Arial" pitchFamily="34" charset="0"/>
              </a:rPr>
              <a:t>LTD Seminar, </a:t>
            </a:r>
            <a:r>
              <a:rPr lang="de-DE" sz="1600">
                <a:solidFill>
                  <a:srgbClr val="003C5A"/>
                </a:solidFill>
                <a:latin typeface="Arial" pitchFamily="34" charset="0"/>
                <a:cs typeface="Arial" pitchFamily="34" charset="0"/>
              </a:rPr>
              <a:t>03. November 2021</a:t>
            </a:r>
            <a:endParaRPr lang="de-DE" sz="160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118532" y="4096112"/>
            <a:ext cx="9144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lang="en-GB" sz="1600" err="1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Lehrstuhl</a:t>
            </a:r>
            <a:r>
              <a:rPr lang="en-GB" sz="160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 </a:t>
            </a:r>
            <a:r>
              <a:rPr lang="en-GB" sz="1600" err="1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für</a:t>
            </a:r>
            <a:r>
              <a:rPr lang="en-GB" sz="160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 Thermodynamik (LTD)</a:t>
            </a:r>
          </a:p>
          <a:p>
            <a:pPr eaLnBrk="0" hangingPunct="0"/>
            <a:r>
              <a:rPr lang="en-GB" sz="1600" err="1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Technische</a:t>
            </a:r>
            <a:r>
              <a:rPr lang="en-GB" sz="160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 </a:t>
            </a:r>
            <a:r>
              <a:rPr lang="en-GB" sz="1600" err="1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Universität</a:t>
            </a:r>
            <a:r>
              <a:rPr lang="en-GB" sz="160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 Kaiserslautern</a:t>
            </a: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125521" y="2737252"/>
            <a:ext cx="91440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 anchorCtr="0">
            <a:noAutofit/>
          </a:bodyPr>
          <a:lstStyle/>
          <a:p>
            <a:pPr eaLnBrk="0" hangingPunct="0"/>
            <a:r>
              <a:rPr lang="de-DE" sz="16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Yunus Ahmet Sari</a:t>
            </a:r>
            <a:br>
              <a:rPr lang="de-DE" sz="16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</a:br>
            <a:br>
              <a:rPr lang="de-DE" sz="16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</a:br>
            <a:r>
              <a:rPr lang="de-DE" sz="16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Betreuer: Dominik Schäfer</a:t>
            </a:r>
          </a:p>
          <a:p>
            <a:pPr eaLnBrk="0" hangingPunct="0"/>
            <a:endParaRPr lang="en-GB" sz="1600" dirty="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03050" y="1347614"/>
            <a:ext cx="846989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 anchorCtr="0">
            <a:noAutofit/>
          </a:bodyPr>
          <a:lstStyle/>
          <a:p>
            <a:pPr eaLnBrk="0" hangingPunct="0"/>
            <a:r>
              <a:rPr lang="de-DE" sz="2400" b="1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Molekulare Simulation der Struktur hochkonzentrierter wässriger Elektrolytlösungen</a:t>
            </a:r>
            <a:endParaRPr lang="de-DE" sz="100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  <p:sp>
        <p:nvSpPr>
          <p:cNvPr id="3" name="Rechteck 2"/>
          <p:cNvSpPr/>
          <p:nvPr/>
        </p:nvSpPr>
        <p:spPr>
          <a:xfrm>
            <a:off x="8820472" y="4803775"/>
            <a:ext cx="283024" cy="3397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88114DA-EF10-4EBE-9833-1F764EDEC2A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162"/>
          <a:stretch/>
        </p:blipFill>
        <p:spPr>
          <a:xfrm>
            <a:off x="6516216" y="2520887"/>
            <a:ext cx="1585236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827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125521" y="1233939"/>
            <a:ext cx="9144000" cy="2119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 anchorCtr="0">
            <a:noAutofit/>
          </a:bodyPr>
          <a:lstStyle/>
          <a:p>
            <a:pPr marL="180000" indent="-180000" eaLnBrk="0" hangingPunct="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Wässrige Elektrolytlösungen finden breite Anwendung in Industrie und Wissenschaft</a:t>
            </a:r>
          </a:p>
          <a:p>
            <a:pPr marL="637200" lvl="1" indent="-180000" eaLnBrk="0" hangingPunct="0">
              <a:buFont typeface="Wingdings" panose="05000000000000000000" pitchFamily="2" charset="2"/>
              <a:buChar char="Ø"/>
            </a:pPr>
            <a:r>
              <a:rPr lang="de-DE" sz="16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Geothermie, Biologie, Agrarwissenschaften, Prozesstechnik, Medizin, ...</a:t>
            </a:r>
          </a:p>
          <a:p>
            <a:pPr marL="742950" lvl="1" indent="-285750" eaLnBrk="0" hangingPunct="0">
              <a:buFont typeface="Arial" panose="020B0604020202020204" pitchFamily="34" charset="0"/>
              <a:buChar char="•"/>
            </a:pPr>
            <a:endParaRPr lang="de-DE" sz="1600" dirty="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  <a:p>
            <a:pPr marL="180000" indent="-180000" eaLnBrk="0" hangingPunct="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Molekulare Simulation bietet sich zur Modellierung wässriger Elektrolytlösungen an:</a:t>
            </a:r>
          </a:p>
          <a:p>
            <a:pPr marL="180000" indent="-180000" eaLnBrk="0" hangingPunct="0">
              <a:buFont typeface="Arial" panose="020B0604020202020204" pitchFamily="34" charset="0"/>
              <a:buChar char="•"/>
            </a:pPr>
            <a:endParaRPr lang="de-DE" sz="1600" dirty="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  <a:p>
            <a:pPr marL="180000" indent="-180000" eaLnBrk="0" hangingPunct="0">
              <a:buFont typeface="Arial" panose="020B0604020202020204" pitchFamily="34" charset="0"/>
              <a:buChar char="•"/>
            </a:pPr>
            <a:endParaRPr lang="de-DE" sz="1600" dirty="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  <a:p>
            <a:pPr marL="180000" indent="-180000" eaLnBrk="0" hangingPunct="0">
              <a:buFont typeface="Arial" panose="020B0604020202020204" pitchFamily="34" charset="0"/>
              <a:buChar char="•"/>
            </a:pPr>
            <a:endParaRPr lang="de-DE" sz="1600" dirty="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  <a:p>
            <a:pPr marL="180000" indent="-180000" eaLnBrk="0" hangingPunct="0">
              <a:buFont typeface="Arial" panose="020B0604020202020204" pitchFamily="34" charset="0"/>
              <a:buChar char="•"/>
            </a:pPr>
            <a:endParaRPr lang="de-DE" sz="1600" dirty="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  <a:p>
            <a:pPr marL="180000" indent="-180000" eaLnBrk="0" hangingPunct="0">
              <a:buFont typeface="Arial" panose="020B0604020202020204" pitchFamily="34" charset="0"/>
              <a:buChar char="•"/>
            </a:pPr>
            <a:endParaRPr lang="de-DE" sz="1600" dirty="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  <a:p>
            <a:pPr marL="180000" indent="-180000" eaLnBrk="0" hangingPunct="0">
              <a:buFont typeface="Arial" panose="020B0604020202020204" pitchFamily="34" charset="0"/>
              <a:buChar char="•"/>
            </a:pPr>
            <a:endParaRPr lang="de-DE" sz="1600" dirty="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  <a:p>
            <a:pPr marL="180000" indent="-180000" eaLnBrk="0" hangingPunct="0">
              <a:buFont typeface="Arial" panose="020B0604020202020204" pitchFamily="34" charset="0"/>
              <a:buChar char="•"/>
            </a:pPr>
            <a:endParaRPr lang="de-DE" sz="1600" dirty="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  <a:p>
            <a:pPr marL="180000" indent="-180000" eaLnBrk="0" hangingPunct="0">
              <a:buFont typeface="Arial" panose="020B0604020202020204" pitchFamily="34" charset="0"/>
              <a:buChar char="•"/>
            </a:pPr>
            <a:endParaRPr lang="de-DE" sz="1600" dirty="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  <a:p>
            <a:pPr marL="180000" indent="-180000" eaLnBrk="0" hangingPunct="0">
              <a:buFont typeface="Arial" panose="020B0604020202020204" pitchFamily="34" charset="0"/>
              <a:buChar char="•"/>
            </a:pPr>
            <a:endParaRPr lang="de-DE" sz="1600" dirty="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  <a:p>
            <a:pPr marL="180000" indent="-180000" eaLnBrk="0" hangingPunct="0">
              <a:buFont typeface="Arial" panose="020B0604020202020204" pitchFamily="34" charset="0"/>
              <a:buChar char="•"/>
            </a:pPr>
            <a:endParaRPr lang="de-DE" sz="1600" dirty="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  <a:p>
            <a:pPr marL="180000" indent="-180000" eaLnBrk="0" hangingPunct="0">
              <a:buFont typeface="Wingdings" panose="05000000000000000000" pitchFamily="2" charset="2"/>
              <a:buChar char="Ø"/>
            </a:pPr>
            <a:r>
              <a:rPr lang="de-DE" sz="1600" dirty="0">
                <a:solidFill>
                  <a:srgbClr val="FF0000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Problem: Fest-Flüssig Gleichgewicht (SLE) bzw. Löslichkeitsgrenze!</a:t>
            </a:r>
          </a:p>
          <a:p>
            <a:pPr marL="285750" indent="-285750" eaLnBrk="0" hangingPunct="0">
              <a:buFont typeface="Arial" panose="020B0604020202020204" pitchFamily="34" charset="0"/>
              <a:buChar char="•"/>
            </a:pPr>
            <a:endParaRPr lang="de-DE" sz="1600" dirty="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  <a:p>
            <a:pPr eaLnBrk="0" hangingPunct="0"/>
            <a:endParaRPr lang="de-DE" sz="1600" dirty="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25521" y="771550"/>
            <a:ext cx="846989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 anchorCtr="0">
            <a:noAutofit/>
          </a:bodyPr>
          <a:lstStyle/>
          <a:p>
            <a:pPr eaLnBrk="0" hangingPunct="0"/>
            <a:r>
              <a:rPr lang="de-DE" sz="2400" b="1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Motivation </a:t>
            </a:r>
            <a:endParaRPr lang="de-DE" sz="100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BDA8279C-5BBB-4615-9956-9665F6E023DB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4251868" y="2426153"/>
            <a:ext cx="1578374" cy="1267108"/>
          </a:xfrm>
          <a:prstGeom prst="straightConnector1">
            <a:avLst/>
          </a:prstGeom>
          <a:ln w="19050">
            <a:solidFill>
              <a:srgbClr val="003C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AD5B3535-7C5B-4C30-BBDD-4D86FDEC7C1E}"/>
              </a:ext>
            </a:extLst>
          </p:cNvPr>
          <p:cNvCxnSpPr/>
          <p:nvPr/>
        </p:nvCxnSpPr>
        <p:spPr>
          <a:xfrm>
            <a:off x="2087813" y="3689510"/>
            <a:ext cx="360040" cy="0"/>
          </a:xfrm>
          <a:prstGeom prst="straightConnector1">
            <a:avLst/>
          </a:prstGeom>
          <a:ln w="19050">
            <a:solidFill>
              <a:srgbClr val="003C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DDA7A971-0B09-4550-B242-1C4C4BD7C755}"/>
              </a:ext>
            </a:extLst>
          </p:cNvPr>
          <p:cNvSpPr txBox="1"/>
          <p:nvPr/>
        </p:nvSpPr>
        <p:spPr>
          <a:xfrm>
            <a:off x="5830242" y="2256876"/>
            <a:ext cx="8406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rgbClr val="003C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Dichte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DDA7A971-0B09-4550-B242-1C4C4BD7C755}"/>
              </a:ext>
            </a:extLst>
          </p:cNvPr>
          <p:cNvSpPr txBox="1"/>
          <p:nvPr/>
        </p:nvSpPr>
        <p:spPr>
          <a:xfrm>
            <a:off x="5830242" y="2563592"/>
            <a:ext cx="20591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rgbClr val="003C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(Lösungs-)Enthalpie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DDA7A971-0B09-4550-B242-1C4C4BD7C755}"/>
              </a:ext>
            </a:extLst>
          </p:cNvPr>
          <p:cNvSpPr txBox="1"/>
          <p:nvPr/>
        </p:nvSpPr>
        <p:spPr>
          <a:xfrm>
            <a:off x="5830242" y="3207802"/>
            <a:ext cx="22322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rgbClr val="003C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Diffusionskoeffizienten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DDA7A971-0B09-4550-B242-1C4C4BD7C755}"/>
              </a:ext>
            </a:extLst>
          </p:cNvPr>
          <p:cNvSpPr txBox="1"/>
          <p:nvPr/>
        </p:nvSpPr>
        <p:spPr>
          <a:xfrm>
            <a:off x="5830242" y="3852012"/>
            <a:ext cx="31480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rgbClr val="003C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Radiale Paarverteilungsfunktion</a:t>
            </a:r>
          </a:p>
        </p:txBody>
      </p: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BDA8279C-5BBB-4615-9956-9665F6E023DB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4251868" y="2732869"/>
            <a:ext cx="1578374" cy="960392"/>
          </a:xfrm>
          <a:prstGeom prst="straightConnector1">
            <a:avLst/>
          </a:prstGeom>
          <a:ln w="19050">
            <a:solidFill>
              <a:srgbClr val="003C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BDA8279C-5BBB-4615-9956-9665F6E023DB}"/>
              </a:ext>
            </a:extLst>
          </p:cNvPr>
          <p:cNvCxnSpPr>
            <a:cxnSpLocks/>
            <a:endCxn id="58" idx="1"/>
          </p:cNvCxnSpPr>
          <p:nvPr/>
        </p:nvCxnSpPr>
        <p:spPr>
          <a:xfrm>
            <a:off x="4251868" y="3693261"/>
            <a:ext cx="1578374" cy="634744"/>
          </a:xfrm>
          <a:prstGeom prst="straightConnector1">
            <a:avLst/>
          </a:prstGeom>
          <a:ln w="19050">
            <a:solidFill>
              <a:srgbClr val="003C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BDA8279C-5BBB-4615-9956-9665F6E023DB}"/>
              </a:ext>
            </a:extLst>
          </p:cNvPr>
          <p:cNvCxnSpPr>
            <a:cxnSpLocks/>
            <a:endCxn id="55" idx="1"/>
          </p:cNvCxnSpPr>
          <p:nvPr/>
        </p:nvCxnSpPr>
        <p:spPr>
          <a:xfrm flipV="1">
            <a:off x="4251868" y="3039585"/>
            <a:ext cx="1578374" cy="653676"/>
          </a:xfrm>
          <a:prstGeom prst="straightConnector1">
            <a:avLst/>
          </a:prstGeom>
          <a:ln w="19050">
            <a:solidFill>
              <a:srgbClr val="003C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hteck 27"/>
          <p:cNvSpPr/>
          <p:nvPr/>
        </p:nvSpPr>
        <p:spPr>
          <a:xfrm>
            <a:off x="817708" y="2479885"/>
            <a:ext cx="10567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hangingPunct="0"/>
            <a:r>
              <a:rPr lang="de-DE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Modelle </a:t>
            </a:r>
          </a:p>
        </p:txBody>
      </p:sp>
      <p:sp>
        <p:nvSpPr>
          <p:cNvPr id="29" name="Rechteck 28"/>
          <p:cNvSpPr/>
          <p:nvPr/>
        </p:nvSpPr>
        <p:spPr>
          <a:xfrm>
            <a:off x="2720926" y="2477000"/>
            <a:ext cx="12618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hangingPunct="0"/>
            <a:r>
              <a:rPr lang="de-DE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Simulation</a:t>
            </a:r>
          </a:p>
        </p:txBody>
      </p:sp>
      <p:sp>
        <p:nvSpPr>
          <p:cNvPr id="55" name="Rechteck 54"/>
          <p:cNvSpPr/>
          <p:nvPr/>
        </p:nvSpPr>
        <p:spPr>
          <a:xfrm>
            <a:off x="5830242" y="2870308"/>
            <a:ext cx="263138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dirty="0">
                <a:solidFill>
                  <a:srgbClr val="003C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Lösungsmittelaktivität</a:t>
            </a:r>
            <a:endParaRPr lang="en-US" sz="1600" dirty="0"/>
          </a:p>
        </p:txBody>
      </p:sp>
      <p:sp>
        <p:nvSpPr>
          <p:cNvPr id="57" name="Rechteck 56"/>
          <p:cNvSpPr/>
          <p:nvPr/>
        </p:nvSpPr>
        <p:spPr>
          <a:xfrm>
            <a:off x="5830242" y="3514518"/>
            <a:ext cx="140869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dirty="0">
                <a:solidFill>
                  <a:srgbClr val="003C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Permittivität</a:t>
            </a:r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DDA7A971-0B09-4550-B242-1C4C4BD7C755}"/>
              </a:ext>
            </a:extLst>
          </p:cNvPr>
          <p:cNvSpPr txBox="1"/>
          <p:nvPr/>
        </p:nvSpPr>
        <p:spPr>
          <a:xfrm>
            <a:off x="5830242" y="4158728"/>
            <a:ext cx="13993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rgbClr val="003C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Konfiguration</a:t>
            </a:r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DDA7A971-0B09-4550-B242-1C4C4BD7C755}"/>
              </a:ext>
            </a:extLst>
          </p:cNvPr>
          <p:cNvSpPr txBox="1"/>
          <p:nvPr/>
        </p:nvSpPr>
        <p:spPr>
          <a:xfrm>
            <a:off x="5830242" y="4465444"/>
            <a:ext cx="5040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rgbClr val="003C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....</a:t>
            </a:r>
          </a:p>
        </p:txBody>
      </p:sp>
      <p:cxnSp>
        <p:nvCxnSpPr>
          <p:cNvPr id="66" name="Gerade Verbindung mit Pfeil 65">
            <a:extLst>
              <a:ext uri="{FF2B5EF4-FFF2-40B4-BE49-F238E27FC236}">
                <a16:creationId xmlns:a16="http://schemas.microsoft.com/office/drawing/2014/main" id="{BDA8279C-5BBB-4615-9956-9665F6E023DB}"/>
              </a:ext>
            </a:extLst>
          </p:cNvPr>
          <p:cNvCxnSpPr>
            <a:cxnSpLocks/>
            <a:endCxn id="15" idx="1"/>
          </p:cNvCxnSpPr>
          <p:nvPr/>
        </p:nvCxnSpPr>
        <p:spPr>
          <a:xfrm flipV="1">
            <a:off x="4251868" y="3377079"/>
            <a:ext cx="1578374" cy="316182"/>
          </a:xfrm>
          <a:prstGeom prst="straightConnector1">
            <a:avLst/>
          </a:prstGeom>
          <a:ln w="19050">
            <a:solidFill>
              <a:srgbClr val="003C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Gerade Verbindung mit Pfeil 68">
            <a:extLst>
              <a:ext uri="{FF2B5EF4-FFF2-40B4-BE49-F238E27FC236}">
                <a16:creationId xmlns:a16="http://schemas.microsoft.com/office/drawing/2014/main" id="{BDA8279C-5BBB-4615-9956-9665F6E023DB}"/>
              </a:ext>
            </a:extLst>
          </p:cNvPr>
          <p:cNvCxnSpPr>
            <a:cxnSpLocks/>
            <a:endCxn id="57" idx="1"/>
          </p:cNvCxnSpPr>
          <p:nvPr/>
        </p:nvCxnSpPr>
        <p:spPr>
          <a:xfrm flipV="1">
            <a:off x="4251868" y="3683795"/>
            <a:ext cx="1578374" cy="9466"/>
          </a:xfrm>
          <a:prstGeom prst="straightConnector1">
            <a:avLst/>
          </a:prstGeom>
          <a:ln w="19050">
            <a:solidFill>
              <a:srgbClr val="003C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Gerade Verbindung mit Pfeil 71">
            <a:extLst>
              <a:ext uri="{FF2B5EF4-FFF2-40B4-BE49-F238E27FC236}">
                <a16:creationId xmlns:a16="http://schemas.microsoft.com/office/drawing/2014/main" id="{BDA8279C-5BBB-4615-9956-9665F6E023DB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4251868" y="3693261"/>
            <a:ext cx="1578374" cy="328028"/>
          </a:xfrm>
          <a:prstGeom prst="straightConnector1">
            <a:avLst/>
          </a:prstGeom>
          <a:ln w="19050">
            <a:solidFill>
              <a:srgbClr val="003C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Gerade Verbindung mit Pfeil 94">
            <a:extLst>
              <a:ext uri="{FF2B5EF4-FFF2-40B4-BE49-F238E27FC236}">
                <a16:creationId xmlns:a16="http://schemas.microsoft.com/office/drawing/2014/main" id="{BDA8279C-5BBB-4615-9956-9665F6E023DB}"/>
              </a:ext>
            </a:extLst>
          </p:cNvPr>
          <p:cNvCxnSpPr>
            <a:cxnSpLocks/>
            <a:endCxn id="60" idx="1"/>
          </p:cNvCxnSpPr>
          <p:nvPr/>
        </p:nvCxnSpPr>
        <p:spPr>
          <a:xfrm>
            <a:off x="4251868" y="3693261"/>
            <a:ext cx="1578374" cy="941460"/>
          </a:xfrm>
          <a:prstGeom prst="straightConnector1">
            <a:avLst/>
          </a:prstGeom>
          <a:ln w="19050">
            <a:solidFill>
              <a:srgbClr val="003C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Grafik 24">
            <a:extLst>
              <a:ext uri="{FF2B5EF4-FFF2-40B4-BE49-F238E27FC236}">
                <a16:creationId xmlns:a16="http://schemas.microsoft.com/office/drawing/2014/main" id="{E1CE57BB-9AC8-42A1-94ED-FB5A3F683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9526875">
            <a:off x="361531" y="2702842"/>
            <a:ext cx="1800000" cy="1800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DC80CC35-678E-40D9-84DF-30EAAA7F83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1868" y="2783795"/>
            <a:ext cx="180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376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5" grpId="0"/>
      <p:bldP spid="16" grpId="0"/>
      <p:bldP spid="28" grpId="0"/>
      <p:bldP spid="29" grpId="0"/>
      <p:bldP spid="55" grpId="0"/>
      <p:bldP spid="57" grpId="0"/>
      <p:bldP spid="58" grpId="0"/>
      <p:bldP spid="6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25521" y="771550"/>
            <a:ext cx="846989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 anchorCtr="0">
            <a:noAutofit/>
          </a:bodyPr>
          <a:lstStyle/>
          <a:p>
            <a:pPr eaLnBrk="0" hangingPunct="0"/>
            <a:r>
              <a:rPr lang="de-DE" sz="2400" b="1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Problem: Löslichkeitsgrenze</a:t>
            </a:r>
            <a:endParaRPr lang="de-DE" sz="1000" dirty="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  <p:sp>
        <p:nvSpPr>
          <p:cNvPr id="25" name="Rectangle 6"/>
          <p:cNvSpPr>
            <a:spLocks noChangeArrowheads="1"/>
          </p:cNvSpPr>
          <p:nvPr/>
        </p:nvSpPr>
        <p:spPr bwMode="auto">
          <a:xfrm>
            <a:off x="125521" y="1233215"/>
            <a:ext cx="7974871" cy="2934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 anchorCtr="0">
            <a:noAutofit/>
          </a:bodyPr>
          <a:lstStyle/>
          <a:p>
            <a:pPr marL="180000" indent="-180000" eaLnBrk="0" hangingPunct="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Löslichkeitsgrenze in der MD bestimmbar mit zwei Methoden</a:t>
            </a:r>
          </a:p>
          <a:p>
            <a:pPr marL="637200" lvl="1" indent="-180000" eaLnBrk="0" hangingPunct="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Direkte Methode</a:t>
            </a:r>
          </a:p>
          <a:p>
            <a:pPr marL="637200" lvl="1" indent="-180000" eaLnBrk="0" hangingPunct="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Chemische Potential Methode</a:t>
            </a:r>
          </a:p>
          <a:p>
            <a:pPr marL="742950" lvl="1" indent="-285750" eaLnBrk="0" hangingPunct="0">
              <a:buFont typeface="Arial" panose="020B0604020202020204" pitchFamily="34" charset="0"/>
              <a:buChar char="•"/>
            </a:pPr>
            <a:endParaRPr lang="de-DE" sz="1600" dirty="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  <a:p>
            <a:pPr marL="285750" indent="-285750" eaLnBrk="0" hangingPunct="0">
              <a:buFont typeface="Arial" panose="020B0604020202020204" pitchFamily="34" charset="0"/>
              <a:buChar char="•"/>
            </a:pPr>
            <a:endParaRPr lang="de-DE" sz="1600" dirty="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  <a:p>
            <a:pPr eaLnBrk="0" hangingPunct="0"/>
            <a:endParaRPr lang="de-DE" sz="1600" dirty="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9387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fik 18">
            <a:extLst>
              <a:ext uri="{FF2B5EF4-FFF2-40B4-BE49-F238E27FC236}">
                <a16:creationId xmlns:a16="http://schemas.microsoft.com/office/drawing/2014/main" id="{3B456AAC-A130-435A-8D38-6FDCF306EFB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374228" y="1543500"/>
            <a:ext cx="4769772" cy="3600000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6005D8FF-932D-487B-A6EC-D4D16E50370A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374228" y="1543500"/>
            <a:ext cx="4769772" cy="3600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08969579-6B51-4C5B-9069-9E6E9B2349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4632" y="1543652"/>
            <a:ext cx="4769368" cy="3599695"/>
          </a:xfrm>
          <a:prstGeom prst="rect">
            <a:avLst/>
          </a:prstGeom>
        </p:spPr>
      </p:pic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25521" y="771550"/>
            <a:ext cx="846989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 anchorCtr="0">
            <a:noAutofit/>
          </a:bodyPr>
          <a:lstStyle/>
          <a:p>
            <a:pPr eaLnBrk="0" hangingPunct="0"/>
            <a:r>
              <a:rPr lang="de-DE" sz="2400" b="1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Bestimmung der Löslichkeitsgrenze in der MD</a:t>
            </a:r>
            <a:endParaRPr lang="de-DE" sz="1000" dirty="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62C4E78-F060-4B3F-99D1-2351DE0D6C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521" y="1571769"/>
            <a:ext cx="3600000" cy="1146309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5EC7AE0A-6970-4EA6-AD66-7281B89D0B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521" y="3170947"/>
            <a:ext cx="3600000" cy="1146309"/>
          </a:xfrm>
          <a:prstGeom prst="rect">
            <a:avLst/>
          </a:prstGeom>
        </p:spPr>
      </p:pic>
      <p:sp>
        <p:nvSpPr>
          <p:cNvPr id="25" name="Rechteck 24">
            <a:extLst>
              <a:ext uri="{FF2B5EF4-FFF2-40B4-BE49-F238E27FC236}">
                <a16:creationId xmlns:a16="http://schemas.microsoft.com/office/drawing/2014/main" id="{C49EF671-40E9-4816-9B50-987BA30CD08E}"/>
              </a:ext>
            </a:extLst>
          </p:cNvPr>
          <p:cNvSpPr/>
          <p:nvPr/>
        </p:nvSpPr>
        <p:spPr>
          <a:xfrm>
            <a:off x="125521" y="1233215"/>
            <a:ext cx="833491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hangingPunct="0"/>
            <a:r>
              <a:rPr lang="de-DE" sz="16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Direkte Methode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741EBEBB-3C3E-411C-BCA9-ADD88AE52C2D}"/>
              </a:ext>
            </a:extLst>
          </p:cNvPr>
          <p:cNvSpPr/>
          <p:nvPr/>
        </p:nvSpPr>
        <p:spPr>
          <a:xfrm>
            <a:off x="125521" y="2832393"/>
            <a:ext cx="833491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hangingPunct="0"/>
            <a:r>
              <a:rPr lang="de-DE" sz="16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Chemische Potential Methode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9E71D7C6-9782-43DF-825A-90A4C4B54CC1}"/>
              </a:ext>
            </a:extLst>
          </p:cNvPr>
          <p:cNvSpPr/>
          <p:nvPr/>
        </p:nvSpPr>
        <p:spPr>
          <a:xfrm>
            <a:off x="125520" y="3171043"/>
            <a:ext cx="990096" cy="115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1F7C805F-6F17-4B4D-AF8C-A0D290DCC0C6}"/>
              </a:ext>
            </a:extLst>
          </p:cNvPr>
          <p:cNvCxnSpPr>
            <a:cxnSpLocks/>
          </p:cNvCxnSpPr>
          <p:nvPr/>
        </p:nvCxnSpPr>
        <p:spPr>
          <a:xfrm>
            <a:off x="3852000" y="3507854"/>
            <a:ext cx="720000" cy="0"/>
          </a:xfrm>
          <a:prstGeom prst="straightConnector1">
            <a:avLst/>
          </a:prstGeom>
          <a:ln w="19050">
            <a:solidFill>
              <a:srgbClr val="003C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hteck 41">
            <a:extLst>
              <a:ext uri="{FF2B5EF4-FFF2-40B4-BE49-F238E27FC236}">
                <a16:creationId xmlns:a16="http://schemas.microsoft.com/office/drawing/2014/main" id="{63582B39-A066-4037-9AEA-9225C50100F0}"/>
              </a:ext>
            </a:extLst>
          </p:cNvPr>
          <p:cNvSpPr/>
          <p:nvPr/>
        </p:nvSpPr>
        <p:spPr>
          <a:xfrm>
            <a:off x="1128141" y="3170908"/>
            <a:ext cx="2597379" cy="1152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35F406DD-1EEB-476E-9629-80820376C192}"/>
              </a:ext>
            </a:extLst>
          </p:cNvPr>
          <p:cNvSpPr txBox="1"/>
          <p:nvPr/>
        </p:nvSpPr>
        <p:spPr>
          <a:xfrm>
            <a:off x="125520" y="4912668"/>
            <a:ext cx="876695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/>
            <a:r>
              <a:rPr lang="en-US" sz="9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[1] </a:t>
            </a:r>
            <a:r>
              <a:rPr lang="en-US" sz="900" dirty="0" err="1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Joung</a:t>
            </a:r>
            <a:r>
              <a:rPr lang="en-US" sz="9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, In Suk; Cheatham, Thomas E., J. of Physical Chemistry, (2009), 113 (40), 13279 13290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43AA48C9-24AA-40C5-811C-3DEA58952564}"/>
              </a:ext>
            </a:extLst>
          </p:cNvPr>
          <p:cNvSpPr/>
          <p:nvPr/>
        </p:nvSpPr>
        <p:spPr>
          <a:xfrm>
            <a:off x="3612993" y="1566640"/>
            <a:ext cx="360040" cy="2564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hangingPunct="0"/>
            <a:r>
              <a:rPr lang="de-DE" sz="1600" baseline="300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[1]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775234DC-E096-4C12-B745-14302E0C30A1}"/>
              </a:ext>
            </a:extLst>
          </p:cNvPr>
          <p:cNvSpPr/>
          <p:nvPr/>
        </p:nvSpPr>
        <p:spPr>
          <a:xfrm>
            <a:off x="125520" y="3168102"/>
            <a:ext cx="990095" cy="115200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BA7FC2BF-B8F3-4377-B898-C3FDCE59D24A}"/>
              </a:ext>
            </a:extLst>
          </p:cNvPr>
          <p:cNvSpPr/>
          <p:nvPr/>
        </p:nvSpPr>
        <p:spPr>
          <a:xfrm>
            <a:off x="1128143" y="3173792"/>
            <a:ext cx="2597377" cy="115200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tangle 6">
            <a:extLst>
              <a:ext uri="{FF2B5EF4-FFF2-40B4-BE49-F238E27FC236}">
                <a16:creationId xmlns:a16="http://schemas.microsoft.com/office/drawing/2014/main" id="{271BFECF-D6FB-4AF5-9AD1-765C538A3388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6508281" y="2264318"/>
            <a:ext cx="564490" cy="24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 anchorCtr="0">
            <a:noAutofit/>
          </a:bodyPr>
          <a:lstStyle/>
          <a:p>
            <a:pPr eaLnBrk="0" hangingPunct="0"/>
            <a:r>
              <a:rPr lang="de-DE" sz="950" dirty="0" err="1">
                <a:latin typeface="Arial" pitchFamily="34" charset="0"/>
                <a:ea typeface="Segoe UI Symbol" pitchFamily="34" charset="0"/>
                <a:cs typeface="Arial" pitchFamily="34" charset="0"/>
              </a:rPr>
              <a:t>Sol.lim</a:t>
            </a:r>
            <a:endParaRPr lang="en-GB" sz="950" baseline="30000" dirty="0"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3984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42" grpId="0" animBg="1"/>
      <p:bldP spid="42" grpId="1" animBg="1"/>
      <p:bldP spid="17" grpId="0" animBg="1"/>
      <p:bldP spid="17" grpId="1" animBg="1"/>
      <p:bldP spid="18" grpId="0" animBg="1"/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125520" y="1233215"/>
            <a:ext cx="7974871" cy="3244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 anchorCtr="0">
            <a:noAutofit/>
          </a:bodyPr>
          <a:lstStyle/>
          <a:p>
            <a:pPr marL="180000" indent="-180000" eaLnBrk="0" hangingPunct="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Löslichkeitsgrenze in der MD bestimmbar mit zwei Methoden:</a:t>
            </a:r>
          </a:p>
          <a:p>
            <a:pPr marL="637200" lvl="1" indent="-180000" eaLnBrk="0" hangingPunct="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Direkte Methode</a:t>
            </a:r>
          </a:p>
          <a:p>
            <a:pPr marL="637200" lvl="1" indent="-180000" eaLnBrk="0" hangingPunct="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Chemische Potential Methode</a:t>
            </a:r>
          </a:p>
          <a:p>
            <a:pPr marL="180000" indent="-180000" eaLnBrk="0" hangingPunct="0">
              <a:buFont typeface="Arial" panose="020B0604020202020204" pitchFamily="34" charset="0"/>
              <a:buChar char="•"/>
            </a:pPr>
            <a:endParaRPr lang="de-DE" sz="1600" dirty="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  <a:p>
            <a:pPr marL="180000" indent="-180000" eaLnBrk="0" hangingPunct="0"/>
            <a:r>
              <a:rPr lang="de-DE" sz="16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... aber:</a:t>
            </a:r>
          </a:p>
          <a:p>
            <a:pPr marL="637200" lvl="2" indent="-180000" eaLnBrk="0" hangingPunct="0">
              <a:buFont typeface="Courier New" panose="02070309020205020404" pitchFamily="49" charset="0"/>
              <a:buChar char="o"/>
            </a:pPr>
            <a:r>
              <a:rPr lang="de-DE" sz="16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hoher Rechenaufwand</a:t>
            </a:r>
          </a:p>
          <a:p>
            <a:pPr marL="1094400" lvl="3" indent="-180000" eaLnBrk="0" hangingPunct="0">
              <a:buFont typeface="Courier New" panose="02070309020205020404" pitchFamily="49" charset="0"/>
              <a:buChar char="o"/>
            </a:pPr>
            <a:r>
              <a:rPr lang="de-DE" sz="16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typische Simulationszeit: 1-10 </a:t>
            </a:r>
            <a:r>
              <a:rPr lang="de-DE" sz="1600" dirty="0" err="1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ns</a:t>
            </a:r>
            <a:endParaRPr lang="de-DE" sz="1600" dirty="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  <a:p>
            <a:pPr marL="1094400" lvl="3" indent="-180000" eaLnBrk="0" hangingPunct="0">
              <a:buFont typeface="Courier New" panose="02070309020205020404" pitchFamily="49" charset="0"/>
              <a:buChar char="o"/>
            </a:pPr>
            <a:r>
              <a:rPr lang="de-DE" sz="16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Fest-Flüssig Gleichgewicht: &gt; 1 </a:t>
            </a:r>
            <a:r>
              <a:rPr lang="el-GR" sz="16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μ</a:t>
            </a:r>
            <a:r>
              <a:rPr lang="de-DE" sz="16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s</a:t>
            </a:r>
          </a:p>
          <a:p>
            <a:pPr marL="637200" lvl="2" indent="-180000" eaLnBrk="0" hangingPunct="0">
              <a:buFont typeface="Courier New" panose="02070309020205020404" pitchFamily="49" charset="0"/>
              <a:buChar char="o"/>
            </a:pPr>
            <a:r>
              <a:rPr lang="de-DE" sz="16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Löslichkeitsgrenze </a:t>
            </a:r>
          </a:p>
          <a:p>
            <a:pPr marL="1094400" lvl="3" indent="-180000" eaLnBrk="0" hangingPunct="0">
              <a:buFont typeface="Courier New" panose="02070309020205020404" pitchFamily="49" charset="0"/>
              <a:buChar char="o"/>
            </a:pPr>
            <a:r>
              <a:rPr lang="de-DE" sz="16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Abweichung um +- 1 </a:t>
            </a:r>
            <a:r>
              <a:rPr lang="de-DE" sz="1600" dirty="0" err="1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mol</a:t>
            </a:r>
            <a:r>
              <a:rPr lang="de-DE" sz="16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 kg</a:t>
            </a:r>
            <a:r>
              <a:rPr lang="de-DE" sz="1600" baseline="300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-1</a:t>
            </a:r>
            <a:endParaRPr lang="de-DE" sz="1600" dirty="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  <a:p>
            <a:pPr marL="1094400" lvl="3" indent="-180000" eaLnBrk="0" hangingPunct="0">
              <a:buFont typeface="Courier New" panose="02070309020205020404" pitchFamily="49" charset="0"/>
              <a:buChar char="o"/>
            </a:pPr>
            <a:r>
              <a:rPr lang="de-DE" sz="16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nur für vereinzelte Modellkombinationen bekannt</a:t>
            </a:r>
          </a:p>
          <a:p>
            <a:pPr marL="637200" lvl="2" indent="-180000" eaLnBrk="0" hangingPunct="0">
              <a:buFont typeface="Courier New" panose="02070309020205020404" pitchFamily="49" charset="0"/>
              <a:buChar char="o"/>
            </a:pPr>
            <a:r>
              <a:rPr lang="de-DE" sz="16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Beide Methoden setzten </a:t>
            </a:r>
            <a:r>
              <a:rPr lang="de-DE" sz="1600" i="1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a priori </a:t>
            </a:r>
            <a:r>
              <a:rPr lang="de-DE" sz="16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Wissen über Feststoff voraus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25521" y="771550"/>
            <a:ext cx="846989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 anchorCtr="0">
            <a:noAutofit/>
          </a:bodyPr>
          <a:lstStyle/>
          <a:p>
            <a:pPr eaLnBrk="0" hangingPunct="0"/>
            <a:r>
              <a:rPr lang="de-DE" sz="2400" b="1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Problem: Löslichkeitsgrenze</a:t>
            </a:r>
            <a:endParaRPr lang="de-DE" sz="1000" dirty="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  <p:sp>
        <p:nvSpPr>
          <p:cNvPr id="2" name="Rechteck 1"/>
          <p:cNvSpPr/>
          <p:nvPr/>
        </p:nvSpPr>
        <p:spPr>
          <a:xfrm>
            <a:off x="125520" y="4600643"/>
            <a:ext cx="833491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000" indent="-180000" eaLnBrk="0" hangingPunct="0">
              <a:buFont typeface="Wingdings" panose="05000000000000000000" pitchFamily="2" charset="2"/>
              <a:buChar char="Ø"/>
            </a:pPr>
            <a:r>
              <a:rPr lang="de-DE" sz="16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In dieser Arbeit: Untersuchung der Struktur von unter- bis übersättigten Lösungen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137905A7-F7FF-489C-8388-24E8E54D2739}"/>
              </a:ext>
            </a:extLst>
          </p:cNvPr>
          <p:cNvSpPr/>
          <p:nvPr/>
        </p:nvSpPr>
        <p:spPr>
          <a:xfrm>
            <a:off x="131639" y="1305222"/>
            <a:ext cx="8334911" cy="978496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8151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25521" y="1203598"/>
            <a:ext cx="846989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 anchorCtr="0">
            <a:noAutofit/>
          </a:bodyPr>
          <a:lstStyle/>
          <a:p>
            <a:pPr eaLnBrk="0" hangingPunct="0"/>
            <a:endParaRPr lang="de-DE" sz="800" dirty="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25521" y="771550"/>
            <a:ext cx="846989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 anchorCtr="0">
            <a:noAutofit/>
          </a:bodyPr>
          <a:lstStyle/>
          <a:p>
            <a:pPr eaLnBrk="0" hangingPunct="0"/>
            <a:r>
              <a:rPr lang="de-DE" sz="2400" b="1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Vorgehen</a:t>
            </a:r>
            <a:endParaRPr lang="de-DE" sz="1000" dirty="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F8AE894-E15F-4DB3-AC7B-A87EF419A743}"/>
              </a:ext>
            </a:extLst>
          </p:cNvPr>
          <p:cNvGraphicFramePr>
            <a:graphicFrameLocks noGrp="1"/>
          </p:cNvGraphicFramePr>
          <p:nvPr/>
        </p:nvGraphicFramePr>
        <p:xfrm>
          <a:off x="2609850" y="4470400"/>
          <a:ext cx="208280" cy="365760"/>
        </p:xfrm>
        <a:graphic>
          <a:graphicData uri="http://schemas.openxmlformats.org/drawingml/2006/table">
            <a:tbl>
              <a:tblPr/>
              <a:tblGrid>
                <a:gridCol w="208280">
                  <a:extLst>
                    <a:ext uri="{9D8B030D-6E8A-4147-A177-3AD203B41FA5}">
                      <a16:colId xmlns:a16="http://schemas.microsoft.com/office/drawing/2014/main" val="14062536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6446138"/>
                  </a:ext>
                </a:extLst>
              </a:tr>
            </a:tbl>
          </a:graphicData>
        </a:graphic>
      </p:graphicFrame>
      <p:sp>
        <p:nvSpPr>
          <p:cNvPr id="69" name="Rectangle 6">
            <a:extLst>
              <a:ext uri="{FF2B5EF4-FFF2-40B4-BE49-F238E27FC236}">
                <a16:creationId xmlns:a16="http://schemas.microsoft.com/office/drawing/2014/main" id="{A7CCBF60-61F0-4AA6-A643-7D55A8790F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892" y="3452162"/>
            <a:ext cx="4447108" cy="598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 anchorCtr="0">
            <a:noAutofit/>
          </a:bodyPr>
          <a:lstStyle/>
          <a:p>
            <a:pPr marL="180000" indent="-180000" eaLnBrk="0" hangingPunct="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Wasser-Modell: SPC/E</a:t>
            </a:r>
            <a:r>
              <a:rPr lang="de-DE" sz="1600" baseline="300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[5]</a:t>
            </a:r>
            <a:endParaRPr lang="de-DE" sz="1600" dirty="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  <a:p>
            <a:pPr marL="180000" indent="-180000" eaLnBrk="0" hangingPunct="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Experimentelle Löslichkeit: 6.15 </a:t>
            </a:r>
            <a:r>
              <a:rPr lang="de-DE" sz="1600" dirty="0" err="1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mol</a:t>
            </a:r>
            <a:r>
              <a:rPr lang="de-DE" sz="16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 kg</a:t>
            </a:r>
            <a:r>
              <a:rPr lang="de-DE" sz="1600" baseline="300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-1</a:t>
            </a:r>
            <a:endParaRPr lang="de-DE" sz="1600" dirty="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elle 4">
                <a:extLst>
                  <a:ext uri="{FF2B5EF4-FFF2-40B4-BE49-F238E27FC236}">
                    <a16:creationId xmlns:a16="http://schemas.microsoft.com/office/drawing/2014/main" id="{D2F3717F-629D-428A-9CFA-21D1B934DCE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57429691"/>
                  </p:ext>
                </p:extLst>
              </p:nvPr>
            </p:nvGraphicFramePr>
            <p:xfrm>
              <a:off x="125521" y="1240021"/>
              <a:ext cx="6385542" cy="2062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34111">
                      <a:extLst>
                        <a:ext uri="{9D8B030D-6E8A-4147-A177-3AD203B41FA5}">
                          <a16:colId xmlns:a16="http://schemas.microsoft.com/office/drawing/2014/main" val="2836475008"/>
                        </a:ext>
                      </a:extLst>
                    </a:gridCol>
                    <a:gridCol w="1306065">
                      <a:extLst>
                        <a:ext uri="{9D8B030D-6E8A-4147-A177-3AD203B41FA5}">
                          <a16:colId xmlns:a16="http://schemas.microsoft.com/office/drawing/2014/main" val="1153313213"/>
                        </a:ext>
                      </a:extLst>
                    </a:gridCol>
                    <a:gridCol w="657561">
                      <a:extLst>
                        <a:ext uri="{9D8B030D-6E8A-4147-A177-3AD203B41FA5}">
                          <a16:colId xmlns:a16="http://schemas.microsoft.com/office/drawing/2014/main" val="3201260372"/>
                        </a:ext>
                      </a:extLst>
                    </a:gridCol>
                    <a:gridCol w="657561">
                      <a:extLst>
                        <a:ext uri="{9D8B030D-6E8A-4147-A177-3AD203B41FA5}">
                          <a16:colId xmlns:a16="http://schemas.microsoft.com/office/drawing/2014/main" val="27633572"/>
                        </a:ext>
                      </a:extLst>
                    </a:gridCol>
                    <a:gridCol w="657561">
                      <a:extLst>
                        <a:ext uri="{9D8B030D-6E8A-4147-A177-3AD203B41FA5}">
                          <a16:colId xmlns:a16="http://schemas.microsoft.com/office/drawing/2014/main" val="3682199536"/>
                        </a:ext>
                      </a:extLst>
                    </a:gridCol>
                    <a:gridCol w="657561">
                      <a:extLst>
                        <a:ext uri="{9D8B030D-6E8A-4147-A177-3AD203B41FA5}">
                          <a16:colId xmlns:a16="http://schemas.microsoft.com/office/drawing/2014/main" val="107389708"/>
                        </a:ext>
                      </a:extLst>
                    </a:gridCol>
                    <a:gridCol w="657561">
                      <a:extLst>
                        <a:ext uri="{9D8B030D-6E8A-4147-A177-3AD203B41FA5}">
                          <a16:colId xmlns:a16="http://schemas.microsoft.com/office/drawing/2014/main" val="1774990831"/>
                        </a:ext>
                      </a:extLst>
                    </a:gridCol>
                    <a:gridCol w="657561">
                      <a:extLst>
                        <a:ext uri="{9D8B030D-6E8A-4147-A177-3AD203B41FA5}">
                          <a16:colId xmlns:a16="http://schemas.microsoft.com/office/drawing/2014/main" val="2090131725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pPr algn="r"/>
                          <a:r>
                            <a:rPr lang="de-DE" sz="16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NaCl-Modell</a:t>
                          </a:r>
                        </a:p>
                        <a:p>
                          <a:r>
                            <a:rPr lang="de-DE" sz="16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Parameter</a:t>
                          </a:r>
                        </a:p>
                      </a:txBody>
                      <a:tcPr>
                        <a:lnTlToB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solidFill>
                          <a:srgbClr val="003C5A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de-DE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SD</a:t>
                          </a:r>
                          <a:r>
                            <a:rPr lang="de-DE" sz="1600" baseline="30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[1]</a:t>
                          </a:r>
                          <a:endParaRPr lang="de-DE" sz="16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r>
                            <a:rPr lang="de-DE" sz="16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 Na       Cl</a:t>
                          </a:r>
                        </a:p>
                      </a:txBody>
                      <a:tcPr>
                        <a:solidFill>
                          <a:srgbClr val="003C5A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JC</a:t>
                          </a:r>
                          <a:r>
                            <a:rPr lang="de-DE" sz="1600" baseline="30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[2]</a:t>
                          </a:r>
                          <a:endParaRPr lang="de-DE" sz="16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r>
                            <a:rPr lang="de-DE" sz="16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 Na       Cl</a:t>
                          </a:r>
                        </a:p>
                      </a:txBody>
                      <a:tcPr>
                        <a:solidFill>
                          <a:srgbClr val="003C5A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RDVH</a:t>
                          </a:r>
                          <a:r>
                            <a:rPr lang="de-DE" sz="1600" baseline="30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[3]</a:t>
                          </a:r>
                          <a:endParaRPr lang="de-DE" sz="16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r>
                            <a:rPr lang="de-DE" sz="16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 Na       Cl</a:t>
                          </a:r>
                        </a:p>
                      </a:txBody>
                      <a:tcPr>
                        <a:solidFill>
                          <a:srgbClr val="003C5A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31269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Größen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l-GR" sz="12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  <m:r>
                                  <a:rPr lang="de-DE" sz="1200" b="0" i="0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/ Å</m:t>
                                </m:r>
                              </m:oMath>
                            </m:oMathPara>
                          </a14:m>
                          <a:endParaRPr lang="de-DE" sz="1200" i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de-DE" sz="1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2.35</a:t>
                          </a:r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de-DE" sz="1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4.40</a:t>
                          </a:r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de-DE" sz="1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2.16</a:t>
                          </a:r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de-DE" sz="1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4.83</a:t>
                          </a:r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de-DE" sz="1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1.89</a:t>
                          </a:r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de-DE" sz="1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4.41</a:t>
                          </a:r>
                        </a:p>
                      </a:txBody>
                      <a:tcPr anchor="b"/>
                    </a:tc>
                    <a:extLst>
                      <a:ext uri="{0D108BD9-81ED-4DB2-BD59-A6C34878D82A}">
                        <a16:rowId xmlns:a16="http://schemas.microsoft.com/office/drawing/2014/main" val="33375516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Energie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type m:val="lin"/>
                                    <m:ctrlPr>
                                      <a:rPr lang="el-GR" sz="120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l-GR" sz="120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𝜀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l-GR" sz="120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DE" sz="1200" b="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de-DE" sz="1200" b="0" i="0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B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de-DE" sz="1200" b="0" i="0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/ </m:t>
                                </m:r>
                                <m:r>
                                  <m:rPr>
                                    <m:sty m:val="p"/>
                                  </m:rPr>
                                  <a:rPr lang="de-DE" sz="1200" b="0" i="0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K</m:t>
                                </m:r>
                              </m:oMath>
                            </m:oMathPara>
                          </a14:m>
                          <a:endParaRPr lang="de-DE" sz="1200" i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de-DE" sz="1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65.42</a:t>
                          </a:r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de-DE" sz="1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50.32</a:t>
                          </a:r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de-DE" sz="1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177.5</a:t>
                          </a:r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de-DE" sz="1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6.43</a:t>
                          </a:r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de-DE" sz="1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200.0</a:t>
                          </a:r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de-DE" sz="1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200.0</a:t>
                          </a:r>
                        </a:p>
                      </a:txBody>
                      <a:tcPr anchor="b"/>
                    </a:tc>
                    <a:extLst>
                      <a:ext uri="{0D108BD9-81ED-4DB2-BD59-A6C34878D82A}">
                        <a16:rowId xmlns:a16="http://schemas.microsoft.com/office/drawing/2014/main" val="31662761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Ladung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type m:val="lin"/>
                                    <m:ctrlPr>
                                      <a:rPr lang="el-GR" sz="120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2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𝑞</m:t>
                                    </m:r>
                                  </m:num>
                                  <m:den>
                                    <m:r>
                                      <a:rPr lang="de-DE" sz="12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𝑒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2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de-DE" sz="1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+1</a:t>
                          </a:r>
                        </a:p>
                      </a:txBody>
                      <a:tcPr anchor="b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de-DE" sz="1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-1</a:t>
                          </a:r>
                        </a:p>
                      </a:txBody>
                      <a:tcPr anchor="b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de-DE" sz="1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+1</a:t>
                          </a:r>
                        </a:p>
                      </a:txBody>
                      <a:tcPr anchor="b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de-DE" sz="1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-1</a:t>
                          </a:r>
                        </a:p>
                      </a:txBody>
                      <a:tcPr anchor="b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de-DE" sz="1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+1</a:t>
                          </a:r>
                        </a:p>
                      </a:txBody>
                      <a:tcPr anchor="b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de-DE" sz="1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-1</a:t>
                          </a:r>
                        </a:p>
                      </a:txBody>
                      <a:tcPr anchor="b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493893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Löslichkeit</a:t>
                          </a:r>
                          <a:r>
                            <a:rPr lang="de-DE" sz="1200" baseline="30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[4]</a:t>
                          </a:r>
                          <a:endParaRPr lang="de-DE" sz="12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120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de-DE" sz="1200" b="0" i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NaCl</m:t>
                                    </m:r>
                                  </m:sub>
                                </m:sSub>
                                <m:r>
                                  <a:rPr lang="de-DE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 </m:t>
                                </m:r>
                                <m:r>
                                  <m:rPr>
                                    <m:lit/>
                                  </m:rPr>
                                  <a:rPr lang="de-DE" sz="1200" b="0" i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/</m:t>
                                </m:r>
                                <m:r>
                                  <a:rPr lang="de-DE" sz="1200" b="0" i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de-DE" sz="1200" b="0" i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mol</m:t>
                                </m:r>
                                <m:r>
                                  <a:rPr lang="de-DE" sz="1200" b="0" i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de-DE" sz="1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de-DE" sz="1200" b="0" i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kg</m:t>
                                    </m:r>
                                  </m:e>
                                  <m:sup>
                                    <m:r>
                                      <a:rPr lang="de-DE" sz="1200" b="0" i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−1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de-DE" sz="1200" i="0" dirty="0">
                            <a:latin typeface="Arial Rounded MT Bold" panose="020F07040305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DE" sz="1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0.63(1)</a:t>
                          </a:r>
                        </a:p>
                      </a:txBody>
                      <a:tcPr anchor="b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hMerge="1">
                      <a:txBody>
                        <a:bodyPr/>
                        <a:lstStyle/>
                        <a:p>
                          <a:pPr algn="r"/>
                          <a:endParaRPr lang="de-DE" sz="1200" dirty="0"/>
                        </a:p>
                      </a:txBody>
                      <a:tcPr anchor="b"/>
                    </a:tc>
                    <a:tc gridSpan="2">
                      <a:txBody>
                        <a:bodyPr/>
                        <a:lstStyle/>
                        <a:p>
                          <a:pPr algn="r"/>
                          <a:r>
                            <a:rPr lang="de-DE" sz="1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3.71(4)</a:t>
                          </a:r>
                        </a:p>
                      </a:txBody>
                      <a:tcPr anchor="b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hMerge="1">
                      <a:txBody>
                        <a:bodyPr/>
                        <a:lstStyle/>
                        <a:p>
                          <a:pPr algn="r"/>
                          <a:endParaRPr lang="de-DE" sz="1200" dirty="0"/>
                        </a:p>
                      </a:txBody>
                      <a:tcPr anchor="b"/>
                    </a:tc>
                    <a:tc gridSpan="2">
                      <a:txBody>
                        <a:bodyPr/>
                        <a:lstStyle/>
                        <a:p>
                          <a:pPr algn="r"/>
                          <a:r>
                            <a:rPr lang="de-DE" sz="1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5.69(7)</a:t>
                          </a:r>
                        </a:p>
                      </a:txBody>
                      <a:tcPr anchor="b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hMerge="1">
                      <a:txBody>
                        <a:bodyPr/>
                        <a:lstStyle/>
                        <a:p>
                          <a:pPr algn="r"/>
                          <a:endParaRPr lang="de-DE" sz="1200" dirty="0"/>
                        </a:p>
                      </a:txBody>
                      <a:tcPr anchor="b"/>
                    </a:tc>
                    <a:extLst>
                      <a:ext uri="{0D108BD9-81ED-4DB2-BD59-A6C34878D82A}">
                        <a16:rowId xmlns:a16="http://schemas.microsoft.com/office/drawing/2014/main" val="17982406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elle 4">
                <a:extLst>
                  <a:ext uri="{FF2B5EF4-FFF2-40B4-BE49-F238E27FC236}">
                    <a16:creationId xmlns:a16="http://schemas.microsoft.com/office/drawing/2014/main" id="{D2F3717F-629D-428A-9CFA-21D1B934DCE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57429691"/>
                  </p:ext>
                </p:extLst>
              </p:nvPr>
            </p:nvGraphicFramePr>
            <p:xfrm>
              <a:off x="125521" y="1240021"/>
              <a:ext cx="6385542" cy="2062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34111">
                      <a:extLst>
                        <a:ext uri="{9D8B030D-6E8A-4147-A177-3AD203B41FA5}">
                          <a16:colId xmlns:a16="http://schemas.microsoft.com/office/drawing/2014/main" val="2836475008"/>
                        </a:ext>
                      </a:extLst>
                    </a:gridCol>
                    <a:gridCol w="1306065">
                      <a:extLst>
                        <a:ext uri="{9D8B030D-6E8A-4147-A177-3AD203B41FA5}">
                          <a16:colId xmlns:a16="http://schemas.microsoft.com/office/drawing/2014/main" val="1153313213"/>
                        </a:ext>
                      </a:extLst>
                    </a:gridCol>
                    <a:gridCol w="657561">
                      <a:extLst>
                        <a:ext uri="{9D8B030D-6E8A-4147-A177-3AD203B41FA5}">
                          <a16:colId xmlns:a16="http://schemas.microsoft.com/office/drawing/2014/main" val="3201260372"/>
                        </a:ext>
                      </a:extLst>
                    </a:gridCol>
                    <a:gridCol w="657561">
                      <a:extLst>
                        <a:ext uri="{9D8B030D-6E8A-4147-A177-3AD203B41FA5}">
                          <a16:colId xmlns:a16="http://schemas.microsoft.com/office/drawing/2014/main" val="27633572"/>
                        </a:ext>
                      </a:extLst>
                    </a:gridCol>
                    <a:gridCol w="657561">
                      <a:extLst>
                        <a:ext uri="{9D8B030D-6E8A-4147-A177-3AD203B41FA5}">
                          <a16:colId xmlns:a16="http://schemas.microsoft.com/office/drawing/2014/main" val="3682199536"/>
                        </a:ext>
                      </a:extLst>
                    </a:gridCol>
                    <a:gridCol w="657561">
                      <a:extLst>
                        <a:ext uri="{9D8B030D-6E8A-4147-A177-3AD203B41FA5}">
                          <a16:colId xmlns:a16="http://schemas.microsoft.com/office/drawing/2014/main" val="107389708"/>
                        </a:ext>
                      </a:extLst>
                    </a:gridCol>
                    <a:gridCol w="657561">
                      <a:extLst>
                        <a:ext uri="{9D8B030D-6E8A-4147-A177-3AD203B41FA5}">
                          <a16:colId xmlns:a16="http://schemas.microsoft.com/office/drawing/2014/main" val="1774990831"/>
                        </a:ext>
                      </a:extLst>
                    </a:gridCol>
                    <a:gridCol w="657561">
                      <a:extLst>
                        <a:ext uri="{9D8B030D-6E8A-4147-A177-3AD203B41FA5}">
                          <a16:colId xmlns:a16="http://schemas.microsoft.com/office/drawing/2014/main" val="2090131725"/>
                        </a:ext>
                      </a:extLst>
                    </a:gridCol>
                  </a:tblGrid>
                  <a:tr h="579120">
                    <a:tc gridSpan="2">
                      <a:txBody>
                        <a:bodyPr/>
                        <a:lstStyle/>
                        <a:p>
                          <a:pPr algn="r"/>
                          <a:r>
                            <a:rPr lang="de-DE" sz="16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NaCl-Modell</a:t>
                          </a:r>
                        </a:p>
                        <a:p>
                          <a:r>
                            <a:rPr lang="de-DE" sz="16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Parameter</a:t>
                          </a:r>
                        </a:p>
                      </a:txBody>
                      <a:tcPr>
                        <a:lnTlToB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solidFill>
                          <a:srgbClr val="003C5A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de-DE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SD</a:t>
                          </a:r>
                          <a:r>
                            <a:rPr lang="de-DE" sz="1600" baseline="30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[1]</a:t>
                          </a:r>
                          <a:endParaRPr lang="de-DE" sz="16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r>
                            <a:rPr lang="de-DE" sz="16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 Na       Cl</a:t>
                          </a:r>
                        </a:p>
                      </a:txBody>
                      <a:tcPr>
                        <a:solidFill>
                          <a:srgbClr val="003C5A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JC</a:t>
                          </a:r>
                          <a:r>
                            <a:rPr lang="de-DE" sz="1600" baseline="30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[2]</a:t>
                          </a:r>
                          <a:endParaRPr lang="de-DE" sz="16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r>
                            <a:rPr lang="de-DE" sz="16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 Na       Cl</a:t>
                          </a:r>
                        </a:p>
                      </a:txBody>
                      <a:tcPr>
                        <a:solidFill>
                          <a:srgbClr val="003C5A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RDVH</a:t>
                          </a:r>
                          <a:r>
                            <a:rPr lang="de-DE" sz="1600" baseline="30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[3]</a:t>
                          </a:r>
                          <a:endParaRPr lang="de-DE" sz="16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r>
                            <a:rPr lang="de-DE" sz="16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 Na       Cl</a:t>
                          </a:r>
                        </a:p>
                      </a:txBody>
                      <a:tcPr>
                        <a:solidFill>
                          <a:srgbClr val="003C5A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31269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Größen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6977" t="-160656" r="-303256" b="-3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de-DE" sz="1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2.35</a:t>
                          </a:r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de-DE" sz="1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4.40</a:t>
                          </a:r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de-DE" sz="1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2.16</a:t>
                          </a:r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de-DE" sz="1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4.83</a:t>
                          </a:r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de-DE" sz="1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1.89</a:t>
                          </a:r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de-DE" sz="1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4.41</a:t>
                          </a:r>
                        </a:p>
                      </a:txBody>
                      <a:tcPr anchor="b"/>
                    </a:tc>
                    <a:extLst>
                      <a:ext uri="{0D108BD9-81ED-4DB2-BD59-A6C34878D82A}">
                        <a16:rowId xmlns:a16="http://schemas.microsoft.com/office/drawing/2014/main" val="33375516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Energie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6977" t="-260656" r="-303256" b="-2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de-DE" sz="1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65.42</a:t>
                          </a:r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de-DE" sz="1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50.32</a:t>
                          </a:r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de-DE" sz="1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177.5</a:t>
                          </a:r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de-DE" sz="1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6.43</a:t>
                          </a:r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de-DE" sz="1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200.0</a:t>
                          </a:r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de-DE" sz="1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200.0</a:t>
                          </a:r>
                        </a:p>
                      </a:txBody>
                      <a:tcPr anchor="b"/>
                    </a:tc>
                    <a:extLst>
                      <a:ext uri="{0D108BD9-81ED-4DB2-BD59-A6C34878D82A}">
                        <a16:rowId xmlns:a16="http://schemas.microsoft.com/office/drawing/2014/main" val="31662761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Ladung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6977" t="-360656" r="-303256" b="-1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de-DE" sz="1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+1</a:t>
                          </a:r>
                        </a:p>
                      </a:txBody>
                      <a:tcPr anchor="b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de-DE" sz="1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-1</a:t>
                          </a:r>
                        </a:p>
                      </a:txBody>
                      <a:tcPr anchor="b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de-DE" sz="1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+1</a:t>
                          </a:r>
                        </a:p>
                      </a:txBody>
                      <a:tcPr anchor="b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de-DE" sz="1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-1</a:t>
                          </a:r>
                        </a:p>
                      </a:txBody>
                      <a:tcPr anchor="b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de-DE" sz="1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+1</a:t>
                          </a:r>
                        </a:p>
                      </a:txBody>
                      <a:tcPr anchor="b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de-DE" sz="1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-1</a:t>
                          </a:r>
                        </a:p>
                      </a:txBody>
                      <a:tcPr anchor="b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493893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Löslichkeit</a:t>
                          </a:r>
                          <a:r>
                            <a:rPr lang="de-DE" sz="1200" baseline="30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[4]</a:t>
                          </a:r>
                          <a:endParaRPr lang="de-DE" sz="12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86977" t="-460656" r="-303256" b="-11475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DE" sz="1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0.63(1)</a:t>
                          </a:r>
                        </a:p>
                      </a:txBody>
                      <a:tcPr anchor="b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hMerge="1">
                      <a:txBody>
                        <a:bodyPr/>
                        <a:lstStyle/>
                        <a:p>
                          <a:pPr algn="r"/>
                          <a:endParaRPr lang="de-DE" sz="1200" dirty="0"/>
                        </a:p>
                      </a:txBody>
                      <a:tcPr anchor="b"/>
                    </a:tc>
                    <a:tc gridSpan="2">
                      <a:txBody>
                        <a:bodyPr/>
                        <a:lstStyle/>
                        <a:p>
                          <a:pPr algn="r"/>
                          <a:r>
                            <a:rPr lang="de-DE" sz="1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3.71(4)</a:t>
                          </a:r>
                        </a:p>
                      </a:txBody>
                      <a:tcPr anchor="b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hMerge="1">
                      <a:txBody>
                        <a:bodyPr/>
                        <a:lstStyle/>
                        <a:p>
                          <a:pPr algn="r"/>
                          <a:endParaRPr lang="de-DE" sz="1200" dirty="0"/>
                        </a:p>
                      </a:txBody>
                      <a:tcPr anchor="b"/>
                    </a:tc>
                    <a:tc gridSpan="2">
                      <a:txBody>
                        <a:bodyPr/>
                        <a:lstStyle/>
                        <a:p>
                          <a:pPr algn="r"/>
                          <a:r>
                            <a:rPr lang="de-DE" sz="1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5.69(7)</a:t>
                          </a:r>
                        </a:p>
                      </a:txBody>
                      <a:tcPr anchor="b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hMerge="1">
                      <a:txBody>
                        <a:bodyPr/>
                        <a:lstStyle/>
                        <a:p>
                          <a:pPr algn="r"/>
                          <a:endParaRPr lang="de-DE" sz="1200" dirty="0"/>
                        </a:p>
                      </a:txBody>
                      <a:tcPr anchor="b"/>
                    </a:tc>
                    <a:extLst>
                      <a:ext uri="{0D108BD9-81ED-4DB2-BD59-A6C34878D82A}">
                        <a16:rowId xmlns:a16="http://schemas.microsoft.com/office/drawing/2014/main" val="1798240683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C912BF57-64A3-405A-92BA-3177BF2DEA1B}"/>
              </a:ext>
            </a:extLst>
          </p:cNvPr>
          <p:cNvGrpSpPr/>
          <p:nvPr/>
        </p:nvGrpSpPr>
        <p:grpSpPr>
          <a:xfrm>
            <a:off x="139328" y="1234475"/>
            <a:ext cx="6374115" cy="578905"/>
            <a:chOff x="2772265" y="1227669"/>
            <a:chExt cx="6374115" cy="578905"/>
          </a:xfrm>
        </p:grpSpPr>
        <p:sp>
          <p:nvSpPr>
            <p:cNvPr id="3" name="Rechteck 2">
              <a:extLst>
                <a:ext uri="{FF2B5EF4-FFF2-40B4-BE49-F238E27FC236}">
                  <a16:creationId xmlns:a16="http://schemas.microsoft.com/office/drawing/2014/main" id="{A5E361E8-B6AB-4F80-A411-8B746A21BEC3}"/>
                </a:ext>
              </a:extLst>
            </p:cNvPr>
            <p:cNvSpPr/>
            <p:nvPr/>
          </p:nvSpPr>
          <p:spPr>
            <a:xfrm>
              <a:off x="5195887" y="1228725"/>
              <a:ext cx="3950493" cy="576263"/>
            </a:xfrm>
            <a:prstGeom prst="rect">
              <a:avLst/>
            </a:prstGeom>
            <a:noFill/>
            <a:ln>
              <a:solidFill>
                <a:srgbClr val="B92819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" name="Rechtwinkliges Dreieck 8">
              <a:extLst>
                <a:ext uri="{FF2B5EF4-FFF2-40B4-BE49-F238E27FC236}">
                  <a16:creationId xmlns:a16="http://schemas.microsoft.com/office/drawing/2014/main" id="{7AB42CD4-A759-4D50-BEA5-D093B51EA356}"/>
                </a:ext>
              </a:extLst>
            </p:cNvPr>
            <p:cNvSpPr/>
            <p:nvPr/>
          </p:nvSpPr>
          <p:spPr>
            <a:xfrm flipH="1" flipV="1">
              <a:off x="2772265" y="1227669"/>
              <a:ext cx="2422034" cy="578905"/>
            </a:xfrm>
            <a:prstGeom prst="rtTriangle">
              <a:avLst/>
            </a:prstGeom>
            <a:noFill/>
            <a:ln>
              <a:solidFill>
                <a:srgbClr val="B928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9D05BBC9-B90E-4182-B6E8-F5CD374097D6}"/>
              </a:ext>
            </a:extLst>
          </p:cNvPr>
          <p:cNvGrpSpPr/>
          <p:nvPr/>
        </p:nvGrpSpPr>
        <p:grpSpPr>
          <a:xfrm>
            <a:off x="119788" y="1232889"/>
            <a:ext cx="6393656" cy="1333761"/>
            <a:chOff x="2752725" y="1226083"/>
            <a:chExt cx="6393656" cy="1333761"/>
          </a:xfrm>
        </p:grpSpPr>
        <p:sp>
          <p:nvSpPr>
            <p:cNvPr id="48" name="Rechteck 47">
              <a:extLst>
                <a:ext uri="{FF2B5EF4-FFF2-40B4-BE49-F238E27FC236}">
                  <a16:creationId xmlns:a16="http://schemas.microsoft.com/office/drawing/2014/main" id="{B016B82F-729F-43BA-ADB9-FD752CB9F1C3}"/>
                </a:ext>
              </a:extLst>
            </p:cNvPr>
            <p:cNvSpPr/>
            <p:nvPr/>
          </p:nvSpPr>
          <p:spPr>
            <a:xfrm>
              <a:off x="2752725" y="1807370"/>
              <a:ext cx="6393656" cy="752474"/>
            </a:xfrm>
            <a:prstGeom prst="rect">
              <a:avLst/>
            </a:prstGeom>
            <a:noFill/>
            <a:ln>
              <a:solidFill>
                <a:srgbClr val="B92819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4" name="Rechtwinkliges Dreieck 53">
              <a:extLst>
                <a:ext uri="{FF2B5EF4-FFF2-40B4-BE49-F238E27FC236}">
                  <a16:creationId xmlns:a16="http://schemas.microsoft.com/office/drawing/2014/main" id="{BE8A5CBB-B48A-4E2F-9C63-2392B7422CC2}"/>
                </a:ext>
              </a:extLst>
            </p:cNvPr>
            <p:cNvSpPr/>
            <p:nvPr/>
          </p:nvSpPr>
          <p:spPr>
            <a:xfrm>
              <a:off x="2752725" y="1226083"/>
              <a:ext cx="2438400" cy="578905"/>
            </a:xfrm>
            <a:prstGeom prst="rtTriangle">
              <a:avLst/>
            </a:prstGeom>
            <a:noFill/>
            <a:ln>
              <a:solidFill>
                <a:srgbClr val="B928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56" name="Rechteck 55">
            <a:extLst>
              <a:ext uri="{FF2B5EF4-FFF2-40B4-BE49-F238E27FC236}">
                <a16:creationId xmlns:a16="http://schemas.microsoft.com/office/drawing/2014/main" id="{C6940762-02E2-4995-8C74-4AB6B92F2570}"/>
              </a:ext>
            </a:extLst>
          </p:cNvPr>
          <p:cNvSpPr/>
          <p:nvPr/>
        </p:nvSpPr>
        <p:spPr>
          <a:xfrm>
            <a:off x="117475" y="2927350"/>
            <a:ext cx="6397625" cy="381000"/>
          </a:xfrm>
          <a:prstGeom prst="rect">
            <a:avLst/>
          </a:prstGeom>
          <a:noFill/>
          <a:ln>
            <a:solidFill>
              <a:srgbClr val="B92819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7" name="Textfeld 56">
            <a:extLst>
              <a:ext uri="{FF2B5EF4-FFF2-40B4-BE49-F238E27FC236}">
                <a16:creationId xmlns:a16="http://schemas.microsoft.com/office/drawing/2014/main" id="{0F0B8D3C-9574-4E3B-9547-1131934F4870}"/>
              </a:ext>
            </a:extLst>
          </p:cNvPr>
          <p:cNvSpPr txBox="1"/>
          <p:nvPr/>
        </p:nvSpPr>
        <p:spPr>
          <a:xfrm>
            <a:off x="124892" y="4358670"/>
            <a:ext cx="8766959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/>
            <a:r>
              <a:rPr lang="en-US" sz="9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[1] Smith, David E.; Dang, </a:t>
            </a:r>
            <a:r>
              <a:rPr lang="en-US" sz="900" dirty="0" err="1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Liem</a:t>
            </a:r>
            <a:r>
              <a:rPr lang="en-US" sz="9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 X., Molecular Physics, (1994), 100 (5), 3757 3766.</a:t>
            </a:r>
          </a:p>
          <a:p>
            <a:pPr eaLnBrk="0" hangingPunct="0"/>
            <a:r>
              <a:rPr lang="en-US" sz="9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[2] </a:t>
            </a:r>
            <a:r>
              <a:rPr lang="en-US" sz="900" dirty="0" err="1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Joung</a:t>
            </a:r>
            <a:r>
              <a:rPr lang="en-US" sz="9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, In Suk; Cheatham, Thomas E., Journal of Physical Chemistry, (2008), 112 (30), 9020 9041.</a:t>
            </a:r>
          </a:p>
          <a:p>
            <a:pPr eaLnBrk="0" hangingPunct="0"/>
            <a:r>
              <a:rPr lang="en-US" sz="9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[3] Reiser, S. et al., J. of Chemical Physics , (2014), 140, 44504</a:t>
            </a:r>
          </a:p>
          <a:p>
            <a:pPr eaLnBrk="0" hangingPunct="0"/>
            <a:r>
              <a:rPr lang="en-US" sz="9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[4] </a:t>
            </a:r>
            <a:r>
              <a:rPr lang="en-US" sz="900" dirty="0" err="1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Mester</a:t>
            </a:r>
            <a:r>
              <a:rPr lang="en-US" sz="9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, Zoltan; </a:t>
            </a:r>
            <a:r>
              <a:rPr lang="en-US" sz="900" dirty="0" err="1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Panagiotopoulos</a:t>
            </a:r>
            <a:r>
              <a:rPr lang="en-US" sz="9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, </a:t>
            </a:r>
            <a:r>
              <a:rPr lang="en-US" sz="900" dirty="0" err="1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Athanassios</a:t>
            </a:r>
            <a:r>
              <a:rPr lang="en-US" sz="9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 Z., Journal of Chemical Physics, (2015), 143 (4), 44505</a:t>
            </a:r>
          </a:p>
          <a:p>
            <a:pPr eaLnBrk="0" hangingPunct="0"/>
            <a:r>
              <a:rPr lang="en-US" sz="9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[5] Berendsen, H. J. C., J. of Physical Chemistry , (1987), 91 (24), 6269 6271</a:t>
            </a:r>
          </a:p>
        </p:txBody>
      </p:sp>
      <p:sp>
        <p:nvSpPr>
          <p:cNvPr id="18" name="Rectangle 6">
            <a:extLst>
              <a:ext uri="{FF2B5EF4-FFF2-40B4-BE49-F238E27FC236}">
                <a16:creationId xmlns:a16="http://schemas.microsoft.com/office/drawing/2014/main" id="{72E7052E-5C1A-421F-A6E3-69DD9C1C09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672" y="1560861"/>
            <a:ext cx="1225751" cy="340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 anchorCtr="0">
            <a:noAutofit/>
          </a:bodyPr>
          <a:lstStyle/>
          <a:p>
            <a:pPr eaLnBrk="0" hangingPunct="0"/>
            <a:r>
              <a:rPr lang="de-DE" sz="16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  Na        Cl</a:t>
            </a:r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8AD2E8BA-C379-4E48-B711-27A2A512FB9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7556" t="5621" r="42440" b="53721"/>
          <a:stretch/>
        </p:blipFill>
        <p:spPr>
          <a:xfrm>
            <a:off x="7812360" y="1849737"/>
            <a:ext cx="720080" cy="731846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622A9B26-086F-418B-86F8-D5DF6C70778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3634" t="59634" r="36143" b="8140"/>
          <a:stretch/>
        </p:blipFill>
        <p:spPr>
          <a:xfrm rot="4845302">
            <a:off x="2663756" y="3414374"/>
            <a:ext cx="337619" cy="360000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003CAFEA-088B-445F-B53F-6C480E019A6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8661" t="41650" r="12300" b="39236"/>
          <a:stretch/>
        </p:blipFill>
        <p:spPr>
          <a:xfrm>
            <a:off x="7327058" y="2043626"/>
            <a:ext cx="342684" cy="344066"/>
          </a:xfrm>
          <a:prstGeom prst="rect">
            <a:avLst/>
          </a:prstGeom>
        </p:spPr>
      </p:pic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EF511A32-AD67-41C5-9127-610DE5D34DB1}"/>
              </a:ext>
            </a:extLst>
          </p:cNvPr>
          <p:cNvCxnSpPr>
            <a:cxnSpLocks/>
          </p:cNvCxnSpPr>
          <p:nvPr/>
        </p:nvCxnSpPr>
        <p:spPr>
          <a:xfrm>
            <a:off x="7835650" y="2215659"/>
            <a:ext cx="684885" cy="1"/>
          </a:xfrm>
          <a:prstGeom prst="straightConnector1">
            <a:avLst/>
          </a:prstGeom>
          <a:ln w="12700">
            <a:solidFill>
              <a:srgbClr val="003C5A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0CC5763C-111B-4B54-BEAD-8B82E6867D46}"/>
              </a:ext>
            </a:extLst>
          </p:cNvPr>
          <p:cNvCxnSpPr>
            <a:cxnSpLocks/>
          </p:cNvCxnSpPr>
          <p:nvPr/>
        </p:nvCxnSpPr>
        <p:spPr>
          <a:xfrm>
            <a:off x="7359908" y="2215657"/>
            <a:ext cx="288000" cy="1"/>
          </a:xfrm>
          <a:prstGeom prst="straightConnector1">
            <a:avLst/>
          </a:prstGeom>
          <a:ln w="12700">
            <a:solidFill>
              <a:srgbClr val="003C5A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6">
            <a:extLst>
              <a:ext uri="{FF2B5EF4-FFF2-40B4-BE49-F238E27FC236}">
                <a16:creationId xmlns:a16="http://schemas.microsoft.com/office/drawing/2014/main" id="{4EB94425-289F-4B89-BC51-D3EDF18527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0990" y="1972826"/>
            <a:ext cx="288708" cy="329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 anchorCtr="0">
            <a:noAutofit/>
          </a:bodyPr>
          <a:lstStyle/>
          <a:p>
            <a:pPr eaLnBrk="0" hangingPunct="0"/>
            <a:r>
              <a:rPr lang="el-GR" sz="14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σ</a:t>
            </a:r>
            <a:endParaRPr lang="de-DE" sz="1400" dirty="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  <p:sp>
        <p:nvSpPr>
          <p:cNvPr id="34" name="Rectangle 6">
            <a:extLst>
              <a:ext uri="{FF2B5EF4-FFF2-40B4-BE49-F238E27FC236}">
                <a16:creationId xmlns:a16="http://schemas.microsoft.com/office/drawing/2014/main" id="{F6DB7B91-262D-42D4-A1C0-129C0AE1F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0101" y="1972825"/>
            <a:ext cx="288708" cy="329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 anchorCtr="0">
            <a:noAutofit/>
          </a:bodyPr>
          <a:lstStyle/>
          <a:p>
            <a:pPr eaLnBrk="0" hangingPunct="0"/>
            <a:r>
              <a:rPr lang="el-GR" sz="14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σ</a:t>
            </a:r>
            <a:endParaRPr lang="de-DE" sz="1400" dirty="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4088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25521" y="1203598"/>
            <a:ext cx="846989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 anchorCtr="0">
            <a:noAutofit/>
          </a:bodyPr>
          <a:lstStyle/>
          <a:p>
            <a:pPr eaLnBrk="0" hangingPunct="0"/>
            <a:endParaRPr lang="de-DE" sz="800" dirty="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25521" y="771550"/>
            <a:ext cx="846989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 anchorCtr="0">
            <a:noAutofit/>
          </a:bodyPr>
          <a:lstStyle/>
          <a:p>
            <a:pPr eaLnBrk="0" hangingPunct="0"/>
            <a:r>
              <a:rPr lang="de-DE" sz="2400" b="1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Vorgehen</a:t>
            </a:r>
            <a:endParaRPr lang="de-DE" sz="1000" dirty="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F8AE894-E15F-4DB3-AC7B-A87EF419A743}"/>
              </a:ext>
            </a:extLst>
          </p:cNvPr>
          <p:cNvGraphicFramePr>
            <a:graphicFrameLocks noGrp="1"/>
          </p:cNvGraphicFramePr>
          <p:nvPr/>
        </p:nvGraphicFramePr>
        <p:xfrm>
          <a:off x="2609850" y="4470400"/>
          <a:ext cx="208280" cy="365760"/>
        </p:xfrm>
        <a:graphic>
          <a:graphicData uri="http://schemas.openxmlformats.org/drawingml/2006/table">
            <a:tbl>
              <a:tblPr/>
              <a:tblGrid>
                <a:gridCol w="208280">
                  <a:extLst>
                    <a:ext uri="{9D8B030D-6E8A-4147-A177-3AD203B41FA5}">
                      <a16:colId xmlns:a16="http://schemas.microsoft.com/office/drawing/2014/main" val="14062536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6446138"/>
                  </a:ext>
                </a:extLst>
              </a:tr>
            </a:tbl>
          </a:graphicData>
        </a:graphic>
      </p:graphicFrame>
      <p:sp>
        <p:nvSpPr>
          <p:cNvPr id="69" name="Rectangle 6">
            <a:extLst>
              <a:ext uri="{FF2B5EF4-FFF2-40B4-BE49-F238E27FC236}">
                <a16:creationId xmlns:a16="http://schemas.microsoft.com/office/drawing/2014/main" id="{A7CCBF60-61F0-4AA6-A643-7D55A8790F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521" y="1209932"/>
            <a:ext cx="770485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 anchorCtr="0">
            <a:noAutofit/>
          </a:bodyPr>
          <a:lstStyle/>
          <a:p>
            <a:pPr eaLnBrk="0" hangingPunct="0"/>
            <a:r>
              <a:rPr lang="de-DE" sz="1600" b="0" dirty="0">
                <a:solidFill>
                  <a:srgbClr val="003C5A"/>
                </a:solidFill>
                <a:ea typeface="Segoe UI Symbol" pitchFamily="34" charset="0"/>
                <a:cs typeface="Arial" pitchFamily="34" charset="0"/>
              </a:rPr>
              <a:t>Radiale Paarverteilungsfunktion (RDF)			</a:t>
            </a:r>
            <a:r>
              <a:rPr lang="de-DE" sz="1600" dirty="0">
                <a:solidFill>
                  <a:srgbClr val="003C5A"/>
                </a:solidFill>
                <a:ea typeface="Segoe UI Symbol" pitchFamily="34" charset="0"/>
                <a:cs typeface="Arial" pitchFamily="34" charset="0"/>
              </a:rPr>
              <a:t>Clusteranalyse</a:t>
            </a:r>
            <a:endParaRPr lang="de-DE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6" name="Gruppieren 6">
            <a:extLst>
              <a:ext uri="{FF2B5EF4-FFF2-40B4-BE49-F238E27FC236}">
                <a16:creationId xmlns:a16="http://schemas.microsoft.com/office/drawing/2014/main" id="{CF20CA35-A6AC-474B-9EBE-F9E78716CA85}"/>
              </a:ext>
            </a:extLst>
          </p:cNvPr>
          <p:cNvGrpSpPr/>
          <p:nvPr/>
        </p:nvGrpSpPr>
        <p:grpSpPr>
          <a:xfrm>
            <a:off x="5156292" y="1665555"/>
            <a:ext cx="2340000" cy="2340000"/>
            <a:chOff x="3397785" y="1780792"/>
            <a:chExt cx="2340000" cy="2340000"/>
          </a:xfrm>
        </p:grpSpPr>
        <p:sp>
          <p:nvSpPr>
            <p:cNvPr id="47" name="Rechteck 46">
              <a:extLst>
                <a:ext uri="{FF2B5EF4-FFF2-40B4-BE49-F238E27FC236}">
                  <a16:creationId xmlns:a16="http://schemas.microsoft.com/office/drawing/2014/main" id="{0C3AED9F-39BA-4487-87A3-1EC77C063178}"/>
                </a:ext>
              </a:extLst>
            </p:cNvPr>
            <p:cNvSpPr/>
            <p:nvPr/>
          </p:nvSpPr>
          <p:spPr>
            <a:xfrm>
              <a:off x="3397785" y="1780792"/>
              <a:ext cx="2340000" cy="2340000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8" name="Ellipse 47">
              <a:extLst>
                <a:ext uri="{FF2B5EF4-FFF2-40B4-BE49-F238E27FC236}">
                  <a16:creationId xmlns:a16="http://schemas.microsoft.com/office/drawing/2014/main" id="{9F1D1027-95AA-4CC8-B0ED-ED7E276C580C}"/>
                </a:ext>
              </a:extLst>
            </p:cNvPr>
            <p:cNvSpPr/>
            <p:nvPr/>
          </p:nvSpPr>
          <p:spPr>
            <a:xfrm flipH="1">
              <a:off x="3798292" y="3497016"/>
              <a:ext cx="144000" cy="144000"/>
            </a:xfrm>
            <a:prstGeom prst="ellipse">
              <a:avLst/>
            </a:prstGeom>
            <a:solidFill>
              <a:srgbClr val="433B83"/>
            </a:solidFill>
            <a:ln>
              <a:solidFill>
                <a:srgbClr val="433B83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49" name="Ellipse 48">
              <a:extLst>
                <a:ext uri="{FF2B5EF4-FFF2-40B4-BE49-F238E27FC236}">
                  <a16:creationId xmlns:a16="http://schemas.microsoft.com/office/drawing/2014/main" id="{FB34E0DE-3597-4474-BB4F-3FB6AADD0286}"/>
                </a:ext>
              </a:extLst>
            </p:cNvPr>
            <p:cNvSpPr/>
            <p:nvPr/>
          </p:nvSpPr>
          <p:spPr>
            <a:xfrm flipH="1">
              <a:off x="3558429" y="3649971"/>
              <a:ext cx="144000" cy="144000"/>
            </a:xfrm>
            <a:prstGeom prst="ellipse">
              <a:avLst/>
            </a:prstGeom>
            <a:solidFill>
              <a:srgbClr val="433B83"/>
            </a:solidFill>
            <a:ln>
              <a:solidFill>
                <a:srgbClr val="433B83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50" name="Ellipse 49">
              <a:extLst>
                <a:ext uri="{FF2B5EF4-FFF2-40B4-BE49-F238E27FC236}">
                  <a16:creationId xmlns:a16="http://schemas.microsoft.com/office/drawing/2014/main" id="{F4769D8D-20E0-412D-BF49-4380A668E78B}"/>
                </a:ext>
              </a:extLst>
            </p:cNvPr>
            <p:cNvSpPr/>
            <p:nvPr/>
          </p:nvSpPr>
          <p:spPr>
            <a:xfrm flipH="1">
              <a:off x="3894360" y="3768746"/>
              <a:ext cx="144000" cy="144000"/>
            </a:xfrm>
            <a:prstGeom prst="ellipse">
              <a:avLst/>
            </a:prstGeom>
            <a:solidFill>
              <a:srgbClr val="433B83"/>
            </a:solidFill>
            <a:ln>
              <a:solidFill>
                <a:srgbClr val="433B83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51" name="Ellipse 50">
              <a:extLst>
                <a:ext uri="{FF2B5EF4-FFF2-40B4-BE49-F238E27FC236}">
                  <a16:creationId xmlns:a16="http://schemas.microsoft.com/office/drawing/2014/main" id="{7B785DCE-B03E-477C-9A65-658D7E3E222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851406" y="3003814"/>
              <a:ext cx="144000" cy="144000"/>
            </a:xfrm>
            <a:prstGeom prst="ellipse">
              <a:avLst/>
            </a:prstGeom>
            <a:solidFill>
              <a:srgbClr val="433B83"/>
            </a:solidFill>
            <a:ln>
              <a:solidFill>
                <a:srgbClr val="433B83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52" name="Ellipse 51">
              <a:extLst>
                <a:ext uri="{FF2B5EF4-FFF2-40B4-BE49-F238E27FC236}">
                  <a16:creationId xmlns:a16="http://schemas.microsoft.com/office/drawing/2014/main" id="{FEA716F6-22CF-4825-A643-7564B4D13678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123033" y="3400576"/>
              <a:ext cx="144000" cy="144000"/>
            </a:xfrm>
            <a:prstGeom prst="ellipse">
              <a:avLst/>
            </a:prstGeom>
            <a:solidFill>
              <a:srgbClr val="FDE724"/>
            </a:solidFill>
            <a:ln>
              <a:solidFill>
                <a:srgbClr val="FDE724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53" name="Ellipse 52">
              <a:extLst>
                <a:ext uri="{FF2B5EF4-FFF2-40B4-BE49-F238E27FC236}">
                  <a16:creationId xmlns:a16="http://schemas.microsoft.com/office/drawing/2014/main" id="{08D81DE4-400B-4AA6-B4EB-8E2712A424B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205112" y="3127776"/>
              <a:ext cx="144000" cy="144000"/>
            </a:xfrm>
            <a:prstGeom prst="ellipse">
              <a:avLst/>
            </a:prstGeom>
            <a:solidFill>
              <a:srgbClr val="433B83"/>
            </a:solidFill>
            <a:ln>
              <a:solidFill>
                <a:srgbClr val="433B83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54" name="Ellipse 53">
              <a:extLst>
                <a:ext uri="{FF2B5EF4-FFF2-40B4-BE49-F238E27FC236}">
                  <a16:creationId xmlns:a16="http://schemas.microsoft.com/office/drawing/2014/main" id="{643AD8A0-D799-4465-AB24-D7C46110C29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876640" y="2643774"/>
              <a:ext cx="144000" cy="144000"/>
            </a:xfrm>
            <a:prstGeom prst="ellipse">
              <a:avLst/>
            </a:prstGeom>
            <a:solidFill>
              <a:srgbClr val="277C8E"/>
            </a:solidFill>
            <a:ln>
              <a:solidFill>
                <a:srgbClr val="277C8E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55" name="Ellipse 54">
              <a:extLst>
                <a:ext uri="{FF2B5EF4-FFF2-40B4-BE49-F238E27FC236}">
                  <a16:creationId xmlns:a16="http://schemas.microsoft.com/office/drawing/2014/main" id="{9E97099A-2D7D-4602-9CF0-5A274D0BD5BB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179389" y="2464091"/>
              <a:ext cx="144000" cy="144000"/>
            </a:xfrm>
            <a:prstGeom prst="ellipse">
              <a:avLst/>
            </a:prstGeom>
            <a:solidFill>
              <a:srgbClr val="277C8E"/>
            </a:solidFill>
            <a:ln>
              <a:solidFill>
                <a:srgbClr val="277C8E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56" name="Ellipse 55">
              <a:extLst>
                <a:ext uri="{FF2B5EF4-FFF2-40B4-BE49-F238E27FC236}">
                  <a16:creationId xmlns:a16="http://schemas.microsoft.com/office/drawing/2014/main" id="{E3C431F9-E00D-4D43-BF4D-D9B05D6FF77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643494" y="2274230"/>
              <a:ext cx="144000" cy="144000"/>
            </a:xfrm>
            <a:prstGeom prst="ellipse">
              <a:avLst/>
            </a:prstGeom>
            <a:solidFill>
              <a:srgbClr val="277C8E"/>
            </a:solidFill>
            <a:ln>
              <a:solidFill>
                <a:srgbClr val="277C8E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57" name="Ellipse 56">
              <a:extLst>
                <a:ext uri="{FF2B5EF4-FFF2-40B4-BE49-F238E27FC236}">
                  <a16:creationId xmlns:a16="http://schemas.microsoft.com/office/drawing/2014/main" id="{1CE48F00-CD15-4E3C-98E2-BE4D63A1697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948640" y="2086296"/>
              <a:ext cx="144000" cy="144000"/>
            </a:xfrm>
            <a:prstGeom prst="ellipse">
              <a:avLst/>
            </a:prstGeom>
            <a:solidFill>
              <a:srgbClr val="277C8E"/>
            </a:solidFill>
            <a:ln>
              <a:solidFill>
                <a:srgbClr val="277C8E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58" name="Ellipse 57">
              <a:extLst>
                <a:ext uri="{FF2B5EF4-FFF2-40B4-BE49-F238E27FC236}">
                  <a16:creationId xmlns:a16="http://schemas.microsoft.com/office/drawing/2014/main" id="{C53B61BF-7525-472E-8F31-3633AB6AA6FE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911981" y="2361161"/>
              <a:ext cx="144000" cy="144000"/>
            </a:xfrm>
            <a:prstGeom prst="ellipse">
              <a:avLst/>
            </a:prstGeom>
            <a:solidFill>
              <a:srgbClr val="277C8E"/>
            </a:solidFill>
            <a:ln>
              <a:solidFill>
                <a:srgbClr val="277C8E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59" name="Ellipse 58">
              <a:extLst>
                <a:ext uri="{FF2B5EF4-FFF2-40B4-BE49-F238E27FC236}">
                  <a16:creationId xmlns:a16="http://schemas.microsoft.com/office/drawing/2014/main" id="{3965D354-2D92-45C8-BFDC-E695C798FD32}"/>
                </a:ext>
              </a:extLst>
            </p:cNvPr>
            <p:cNvSpPr/>
            <p:nvPr/>
          </p:nvSpPr>
          <p:spPr>
            <a:xfrm flipH="1">
              <a:off x="3944155" y="3258691"/>
              <a:ext cx="144000" cy="144000"/>
            </a:xfrm>
            <a:prstGeom prst="ellipse">
              <a:avLst/>
            </a:prstGeom>
            <a:solidFill>
              <a:srgbClr val="433B83"/>
            </a:solidFill>
            <a:ln>
              <a:solidFill>
                <a:srgbClr val="433B83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44" name="Gruppieren 43">
            <a:extLst>
              <a:ext uri="{FF2B5EF4-FFF2-40B4-BE49-F238E27FC236}">
                <a16:creationId xmlns:a16="http://schemas.microsoft.com/office/drawing/2014/main" id="{E88BCB3F-18DD-466C-9CEB-08266E7CA630}"/>
              </a:ext>
            </a:extLst>
          </p:cNvPr>
          <p:cNvGrpSpPr/>
          <p:nvPr/>
        </p:nvGrpSpPr>
        <p:grpSpPr>
          <a:xfrm>
            <a:off x="762430" y="1658747"/>
            <a:ext cx="1912027" cy="1804007"/>
            <a:chOff x="222659" y="2142155"/>
            <a:chExt cx="1912027" cy="1804007"/>
          </a:xfrm>
        </p:grpSpPr>
        <p:sp>
          <p:nvSpPr>
            <p:cNvPr id="45" name="Ellipse 44">
              <a:extLst>
                <a:ext uri="{FF2B5EF4-FFF2-40B4-BE49-F238E27FC236}">
                  <a16:creationId xmlns:a16="http://schemas.microsoft.com/office/drawing/2014/main" id="{F0FAA925-8228-4883-87DE-9C3D9528B708}"/>
                </a:ext>
              </a:extLst>
            </p:cNvPr>
            <p:cNvSpPr/>
            <p:nvPr/>
          </p:nvSpPr>
          <p:spPr>
            <a:xfrm>
              <a:off x="1037713" y="2953277"/>
              <a:ext cx="288032" cy="288032"/>
            </a:xfrm>
            <a:prstGeom prst="ellipse">
              <a:avLst/>
            </a:prstGeom>
            <a:solidFill>
              <a:srgbClr val="FF5500"/>
            </a:solidFill>
            <a:ln>
              <a:solidFill>
                <a:srgbClr val="FF55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0" name="Ellipse 59">
              <a:extLst>
                <a:ext uri="{FF2B5EF4-FFF2-40B4-BE49-F238E27FC236}">
                  <a16:creationId xmlns:a16="http://schemas.microsoft.com/office/drawing/2014/main" id="{EC6F751D-4FC5-4D8E-A3A4-8BA6A96A530B}"/>
                </a:ext>
              </a:extLst>
            </p:cNvPr>
            <p:cNvSpPr/>
            <p:nvPr/>
          </p:nvSpPr>
          <p:spPr>
            <a:xfrm>
              <a:off x="1537866" y="2482550"/>
              <a:ext cx="288032" cy="288032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1" name="Ellipse 60">
              <a:extLst>
                <a:ext uri="{FF2B5EF4-FFF2-40B4-BE49-F238E27FC236}">
                  <a16:creationId xmlns:a16="http://schemas.microsoft.com/office/drawing/2014/main" id="{BE1F8958-95DD-497D-AA06-49A30CD15C72}"/>
                </a:ext>
              </a:extLst>
            </p:cNvPr>
            <p:cNvSpPr/>
            <p:nvPr/>
          </p:nvSpPr>
          <p:spPr>
            <a:xfrm>
              <a:off x="1709094" y="3105070"/>
              <a:ext cx="288032" cy="288032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2" name="Ellipse 61">
              <a:extLst>
                <a:ext uri="{FF2B5EF4-FFF2-40B4-BE49-F238E27FC236}">
                  <a16:creationId xmlns:a16="http://schemas.microsoft.com/office/drawing/2014/main" id="{8F89BE40-F621-4EB3-8B2F-EC7FBE18C38B}"/>
                </a:ext>
              </a:extLst>
            </p:cNvPr>
            <p:cNvSpPr/>
            <p:nvPr/>
          </p:nvSpPr>
          <p:spPr>
            <a:xfrm>
              <a:off x="1205991" y="3633579"/>
              <a:ext cx="288032" cy="288032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3" name="Ellipse 62">
              <a:extLst>
                <a:ext uri="{FF2B5EF4-FFF2-40B4-BE49-F238E27FC236}">
                  <a16:creationId xmlns:a16="http://schemas.microsoft.com/office/drawing/2014/main" id="{DB5F07FA-FAAD-4FD2-8616-9A1D480FCCD6}"/>
                </a:ext>
              </a:extLst>
            </p:cNvPr>
            <p:cNvSpPr/>
            <p:nvPr/>
          </p:nvSpPr>
          <p:spPr>
            <a:xfrm>
              <a:off x="633083" y="2370005"/>
              <a:ext cx="288032" cy="288032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4" name="Ellipse 63">
              <a:extLst>
                <a:ext uri="{FF2B5EF4-FFF2-40B4-BE49-F238E27FC236}">
                  <a16:creationId xmlns:a16="http://schemas.microsoft.com/office/drawing/2014/main" id="{EB27B917-3760-44A6-B3DD-6A80357CFEB0}"/>
                </a:ext>
              </a:extLst>
            </p:cNvPr>
            <p:cNvSpPr/>
            <p:nvPr/>
          </p:nvSpPr>
          <p:spPr>
            <a:xfrm>
              <a:off x="560869" y="2770582"/>
              <a:ext cx="288032" cy="288032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5" name="Ellipse 64">
              <a:extLst>
                <a:ext uri="{FF2B5EF4-FFF2-40B4-BE49-F238E27FC236}">
                  <a16:creationId xmlns:a16="http://schemas.microsoft.com/office/drawing/2014/main" id="{A5287095-74A7-4DE6-8A46-BE173D473135}"/>
                </a:ext>
              </a:extLst>
            </p:cNvPr>
            <p:cNvSpPr/>
            <p:nvPr/>
          </p:nvSpPr>
          <p:spPr>
            <a:xfrm>
              <a:off x="1061975" y="2504342"/>
              <a:ext cx="288032" cy="288032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6" name="Ellipse 65">
              <a:extLst>
                <a:ext uri="{FF2B5EF4-FFF2-40B4-BE49-F238E27FC236}">
                  <a16:creationId xmlns:a16="http://schemas.microsoft.com/office/drawing/2014/main" id="{CEE869A9-94FC-45CC-A233-D1DED2055FB2}"/>
                </a:ext>
              </a:extLst>
            </p:cNvPr>
            <p:cNvSpPr/>
            <p:nvPr/>
          </p:nvSpPr>
          <p:spPr>
            <a:xfrm>
              <a:off x="1424809" y="2840696"/>
              <a:ext cx="288032" cy="288032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7" name="Ellipse 66">
              <a:extLst>
                <a:ext uri="{FF2B5EF4-FFF2-40B4-BE49-F238E27FC236}">
                  <a16:creationId xmlns:a16="http://schemas.microsoft.com/office/drawing/2014/main" id="{000A3CAD-A6F4-499C-9369-5D42F73E0A65}"/>
                </a:ext>
              </a:extLst>
            </p:cNvPr>
            <p:cNvSpPr/>
            <p:nvPr/>
          </p:nvSpPr>
          <p:spPr>
            <a:xfrm>
              <a:off x="1257423" y="3302739"/>
              <a:ext cx="288032" cy="288032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8" name="Ellipse 67">
              <a:extLst>
                <a:ext uri="{FF2B5EF4-FFF2-40B4-BE49-F238E27FC236}">
                  <a16:creationId xmlns:a16="http://schemas.microsoft.com/office/drawing/2014/main" id="{9BA4B13D-133A-4EE7-8A88-8446A2C756D6}"/>
                </a:ext>
              </a:extLst>
            </p:cNvPr>
            <p:cNvSpPr/>
            <p:nvPr/>
          </p:nvSpPr>
          <p:spPr>
            <a:xfrm>
              <a:off x="707123" y="3192208"/>
              <a:ext cx="288032" cy="288032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70" name="Ellipse 69">
              <a:extLst>
                <a:ext uri="{FF2B5EF4-FFF2-40B4-BE49-F238E27FC236}">
                  <a16:creationId xmlns:a16="http://schemas.microsoft.com/office/drawing/2014/main" id="{4F94BF67-D72B-42C9-A5E4-CC35C80E7201}"/>
                </a:ext>
              </a:extLst>
            </p:cNvPr>
            <p:cNvSpPr/>
            <p:nvPr/>
          </p:nvSpPr>
          <p:spPr>
            <a:xfrm>
              <a:off x="704885" y="3658130"/>
              <a:ext cx="288032" cy="288032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71" name="Ellipse 70">
              <a:extLst>
                <a:ext uri="{FF2B5EF4-FFF2-40B4-BE49-F238E27FC236}">
                  <a16:creationId xmlns:a16="http://schemas.microsoft.com/office/drawing/2014/main" id="{23C2BE07-D517-4BE5-A91A-C5BE4FF8C8C7}"/>
                </a:ext>
              </a:extLst>
            </p:cNvPr>
            <p:cNvSpPr/>
            <p:nvPr/>
          </p:nvSpPr>
          <p:spPr>
            <a:xfrm>
              <a:off x="222659" y="3093596"/>
              <a:ext cx="288032" cy="288032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72" name="Ellipse 71">
              <a:extLst>
                <a:ext uri="{FF2B5EF4-FFF2-40B4-BE49-F238E27FC236}">
                  <a16:creationId xmlns:a16="http://schemas.microsoft.com/office/drawing/2014/main" id="{2BCD1AA4-68F6-490D-B2AA-C2E32FEED2EB}"/>
                </a:ext>
              </a:extLst>
            </p:cNvPr>
            <p:cNvSpPr/>
            <p:nvPr/>
          </p:nvSpPr>
          <p:spPr>
            <a:xfrm>
              <a:off x="310316" y="3534495"/>
              <a:ext cx="288032" cy="288032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73" name="Ellipse 72">
              <a:extLst>
                <a:ext uri="{FF2B5EF4-FFF2-40B4-BE49-F238E27FC236}">
                  <a16:creationId xmlns:a16="http://schemas.microsoft.com/office/drawing/2014/main" id="{2782B871-CAA8-47F8-AFC4-DDC59F3217D1}"/>
                </a:ext>
              </a:extLst>
            </p:cNvPr>
            <p:cNvSpPr/>
            <p:nvPr/>
          </p:nvSpPr>
          <p:spPr>
            <a:xfrm>
              <a:off x="233617" y="2551729"/>
              <a:ext cx="288032" cy="288032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74" name="Ellipse 73">
              <a:extLst>
                <a:ext uri="{FF2B5EF4-FFF2-40B4-BE49-F238E27FC236}">
                  <a16:creationId xmlns:a16="http://schemas.microsoft.com/office/drawing/2014/main" id="{450C84F0-9235-4840-969D-6133F34DE17E}"/>
                </a:ext>
              </a:extLst>
            </p:cNvPr>
            <p:cNvSpPr/>
            <p:nvPr/>
          </p:nvSpPr>
          <p:spPr>
            <a:xfrm>
              <a:off x="1111854" y="2142155"/>
              <a:ext cx="288032" cy="288032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75" name="Ellipse 74">
              <a:extLst>
                <a:ext uri="{FF2B5EF4-FFF2-40B4-BE49-F238E27FC236}">
                  <a16:creationId xmlns:a16="http://schemas.microsoft.com/office/drawing/2014/main" id="{93B3C6CD-3594-469B-8237-1E99544FB995}"/>
                </a:ext>
              </a:extLst>
            </p:cNvPr>
            <p:cNvSpPr/>
            <p:nvPr/>
          </p:nvSpPr>
          <p:spPr>
            <a:xfrm>
              <a:off x="1846654" y="2712966"/>
              <a:ext cx="288032" cy="288032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76" name="Ellipse 75">
              <a:extLst>
                <a:ext uri="{FF2B5EF4-FFF2-40B4-BE49-F238E27FC236}">
                  <a16:creationId xmlns:a16="http://schemas.microsoft.com/office/drawing/2014/main" id="{089F2B8A-C4FA-4433-8015-AE211601C07E}"/>
                </a:ext>
              </a:extLst>
            </p:cNvPr>
            <p:cNvSpPr/>
            <p:nvPr/>
          </p:nvSpPr>
          <p:spPr>
            <a:xfrm>
              <a:off x="1840759" y="3480240"/>
              <a:ext cx="288032" cy="288032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cxnSp>
          <p:nvCxnSpPr>
            <p:cNvPr id="77" name="Gerade Verbindung mit Pfeil 76">
              <a:extLst>
                <a:ext uri="{FF2B5EF4-FFF2-40B4-BE49-F238E27FC236}">
                  <a16:creationId xmlns:a16="http://schemas.microsoft.com/office/drawing/2014/main" id="{4A364D05-1C96-4DE2-9F02-07F214E4226E}"/>
                </a:ext>
              </a:extLst>
            </p:cNvPr>
            <p:cNvCxnSpPr>
              <a:cxnSpLocks/>
              <a:endCxn id="79" idx="5"/>
            </p:cNvCxnSpPr>
            <p:nvPr/>
          </p:nvCxnSpPr>
          <p:spPr>
            <a:xfrm>
              <a:off x="1183967" y="3105070"/>
              <a:ext cx="420294" cy="414755"/>
            </a:xfrm>
            <a:prstGeom prst="straightConnector1">
              <a:avLst/>
            </a:prstGeom>
            <a:ln w="19050">
              <a:solidFill>
                <a:srgbClr val="003C5A"/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Gerade Verbindung mit Pfeil 77">
              <a:extLst>
                <a:ext uri="{FF2B5EF4-FFF2-40B4-BE49-F238E27FC236}">
                  <a16:creationId xmlns:a16="http://schemas.microsoft.com/office/drawing/2014/main" id="{01807FEF-C60B-40AE-9A08-B2CF1B56B881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1756661" y="3670125"/>
              <a:ext cx="152400" cy="152401"/>
            </a:xfrm>
            <a:prstGeom prst="straightConnector1">
              <a:avLst/>
            </a:prstGeom>
            <a:ln w="19050">
              <a:solidFill>
                <a:srgbClr val="003C5A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9" name="Ellipse 78">
              <a:extLst>
                <a:ext uri="{FF2B5EF4-FFF2-40B4-BE49-F238E27FC236}">
                  <a16:creationId xmlns:a16="http://schemas.microsoft.com/office/drawing/2014/main" id="{1DE080F6-7D3D-41C1-A4B1-F4E8036F2AE1}"/>
                </a:ext>
              </a:extLst>
            </p:cNvPr>
            <p:cNvSpPr/>
            <p:nvPr/>
          </p:nvSpPr>
          <p:spPr>
            <a:xfrm>
              <a:off x="584178" y="2499742"/>
              <a:ext cx="1195102" cy="1195102"/>
            </a:xfrm>
            <a:prstGeom prst="ellipse">
              <a:avLst/>
            </a:prstGeom>
            <a:noFill/>
            <a:ln>
              <a:solidFill>
                <a:srgbClr val="003C5A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0" name="Ellipse 79">
              <a:extLst>
                <a:ext uri="{FF2B5EF4-FFF2-40B4-BE49-F238E27FC236}">
                  <a16:creationId xmlns:a16="http://schemas.microsoft.com/office/drawing/2014/main" id="{95F74B9F-4906-4D44-8468-7BB8441734C1}"/>
                </a:ext>
              </a:extLst>
            </p:cNvPr>
            <p:cNvSpPr/>
            <p:nvPr/>
          </p:nvSpPr>
          <p:spPr>
            <a:xfrm>
              <a:off x="377633" y="2294296"/>
              <a:ext cx="1596184" cy="1596184"/>
            </a:xfrm>
            <a:prstGeom prst="ellipse">
              <a:avLst/>
            </a:prstGeom>
            <a:noFill/>
            <a:ln>
              <a:solidFill>
                <a:srgbClr val="003C5A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1" name="Textfeld 80">
              <a:extLst>
                <a:ext uri="{FF2B5EF4-FFF2-40B4-BE49-F238E27FC236}">
                  <a16:creationId xmlns:a16="http://schemas.microsoft.com/office/drawing/2014/main" id="{BFC6F6A1-1448-414A-8743-11025F385D1F}"/>
                </a:ext>
              </a:extLst>
            </p:cNvPr>
            <p:cNvSpPr txBox="1"/>
            <p:nvPr/>
          </p:nvSpPr>
          <p:spPr>
            <a:xfrm>
              <a:off x="1279366" y="2990043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r</a:t>
              </a:r>
              <a:endParaRPr lang="de-DE" i="1" dirty="0"/>
            </a:p>
          </p:txBody>
        </p:sp>
        <p:sp>
          <p:nvSpPr>
            <p:cNvPr id="82" name="Textfeld 81">
              <a:extLst>
                <a:ext uri="{FF2B5EF4-FFF2-40B4-BE49-F238E27FC236}">
                  <a16:creationId xmlns:a16="http://schemas.microsoft.com/office/drawing/2014/main" id="{358D9144-D783-48CD-8BB9-74BE06F68505}"/>
                </a:ext>
              </a:extLst>
            </p:cNvPr>
            <p:cNvSpPr txBox="1"/>
            <p:nvPr/>
          </p:nvSpPr>
          <p:spPr>
            <a:xfrm>
              <a:off x="1492386" y="3376816"/>
              <a:ext cx="44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d</a:t>
              </a:r>
              <a:r>
                <a:rPr lang="en-US" i="1" dirty="0" err="1"/>
                <a:t>r</a:t>
              </a:r>
              <a:endParaRPr lang="de-DE" i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Textfeld 82">
                  <a:extLst>
                    <a:ext uri="{FF2B5EF4-FFF2-40B4-BE49-F238E27FC236}">
                      <a16:creationId xmlns:a16="http://schemas.microsoft.com/office/drawing/2014/main" id="{EFA39CDC-7B64-4819-95D3-C2295BB84993}"/>
                    </a:ext>
                  </a:extLst>
                </p:cNvPr>
                <p:cNvSpPr txBox="1"/>
                <p:nvPr/>
              </p:nvSpPr>
              <p:spPr>
                <a:xfrm>
                  <a:off x="1711421" y="3058614"/>
                  <a:ext cx="28682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  <m:t>𝑗</m:t>
                        </m:r>
                      </m:oMath>
                    </m:oMathPara>
                  </a14:m>
                  <a:endParaRPr lang="de-DE" i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3" name="Textfeld 82">
                  <a:extLst>
                    <a:ext uri="{FF2B5EF4-FFF2-40B4-BE49-F238E27FC236}">
                      <a16:creationId xmlns:a16="http://schemas.microsoft.com/office/drawing/2014/main" id="{EFA39CDC-7B64-4819-95D3-C2295BB849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11421" y="3058614"/>
                  <a:ext cx="286829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4255" r="-2128" b="-13115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Textfeld 83">
                  <a:extLst>
                    <a:ext uri="{FF2B5EF4-FFF2-40B4-BE49-F238E27FC236}">
                      <a16:creationId xmlns:a16="http://schemas.microsoft.com/office/drawing/2014/main" id="{68ECB82D-85A6-49E3-B8A5-9C0F6F149AB6}"/>
                    </a:ext>
                  </a:extLst>
                </p:cNvPr>
                <p:cNvSpPr txBox="1"/>
                <p:nvPr/>
              </p:nvSpPr>
              <p:spPr>
                <a:xfrm>
                  <a:off x="1040941" y="2912003"/>
                  <a:ext cx="28682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  <m:t>𝑖</m:t>
                        </m:r>
                      </m:oMath>
                    </m:oMathPara>
                  </a14:m>
                  <a:endParaRPr lang="de-DE" i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4" name="Textfeld 83">
                  <a:extLst>
                    <a:ext uri="{FF2B5EF4-FFF2-40B4-BE49-F238E27FC236}">
                      <a16:creationId xmlns:a16="http://schemas.microsoft.com/office/drawing/2014/main" id="{68ECB82D-85A6-49E3-B8A5-9C0F6F149A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0941" y="2912003"/>
                  <a:ext cx="286829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966440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BB384218-9206-4ACA-9A0D-8F32FB0218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7296" y="1419622"/>
            <a:ext cx="5536703" cy="3599695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0569B6FF-19DA-4C98-BA91-A3C1125EB5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7296" y="1419622"/>
            <a:ext cx="5536703" cy="3599695"/>
          </a:xfrm>
          <a:prstGeom prst="rect">
            <a:avLst/>
          </a:prstGeom>
        </p:spPr>
      </p:pic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25521" y="771550"/>
            <a:ext cx="846989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 anchorCtr="0">
            <a:noAutofit/>
          </a:bodyPr>
          <a:lstStyle/>
          <a:p>
            <a:pPr eaLnBrk="0" hangingPunct="0"/>
            <a:r>
              <a:rPr lang="de-DE" sz="2400" b="1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Radiale Paarverteilungsfunktion (RDF)</a:t>
            </a:r>
            <a:endParaRPr lang="de-DE" sz="1000" dirty="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6"/>
              <p:cNvSpPr>
                <a:spLocks noChangeArrowheads="1"/>
              </p:cNvSpPr>
              <p:nvPr/>
            </p:nvSpPr>
            <p:spPr bwMode="auto">
              <a:xfrm>
                <a:off x="125521" y="1707654"/>
                <a:ext cx="3737805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t" anchorCtr="0">
                <a:noAutofit/>
              </a:bodyPr>
              <a:lstStyle/>
              <a:p>
                <a:pPr marL="180000" indent="-180000" eaLnBrk="0" hangingPunct="0">
                  <a:buFont typeface="Arial" panose="020B0604020202020204" pitchFamily="34" charset="0"/>
                  <a:buChar char="•"/>
                </a:pPr>
                <a:r>
                  <a:rPr lang="de-DE" sz="1600" b="0" dirty="0">
                    <a:solidFill>
                      <a:srgbClr val="003C5A"/>
                    </a:solidFill>
                    <a:ea typeface="Segoe UI Symbol" pitchFamily="34" charset="0"/>
                    <a:cs typeface="Arial" pitchFamily="34" charset="0"/>
                  </a:rPr>
                  <a:t>RDF: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600" b="0" i="1" smtClean="0">
                            <a:solidFill>
                              <a:srgbClr val="003C5A"/>
                            </a:solidFill>
                            <a:latin typeface="Cambria Math" panose="02040503050406030204" pitchFamily="18" charset="0"/>
                            <a:ea typeface="Segoe UI Symbol" pitchFamily="34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de-DE" sz="1600" b="0" i="1" smtClean="0">
                            <a:solidFill>
                              <a:srgbClr val="003C5A"/>
                            </a:solidFill>
                            <a:latin typeface="Cambria Math" panose="02040503050406030204" pitchFamily="18" charset="0"/>
                            <a:ea typeface="Segoe UI Symbol" pitchFamily="34" charset="0"/>
                            <a:cs typeface="Arial" pitchFamily="34" charset="0"/>
                          </a:rPr>
                          <m:t>𝑔</m:t>
                        </m:r>
                      </m:e>
                      <m:sub>
                        <m:r>
                          <a:rPr lang="de-DE" sz="1600" b="0" i="1" smtClean="0">
                            <a:solidFill>
                              <a:srgbClr val="003C5A"/>
                            </a:solidFill>
                            <a:latin typeface="Cambria Math" panose="02040503050406030204" pitchFamily="18" charset="0"/>
                            <a:ea typeface="Segoe UI Symbol" pitchFamily="34" charset="0"/>
                            <a:cs typeface="Arial" pitchFamily="34" charset="0"/>
                          </a:rPr>
                          <m:t>𝑖</m:t>
                        </m:r>
                        <m:r>
                          <a:rPr lang="de-DE" sz="1600" b="0" i="1" smtClean="0">
                            <a:solidFill>
                              <a:srgbClr val="003C5A"/>
                            </a:solidFill>
                            <a:latin typeface="Cambria Math" panose="02040503050406030204" pitchFamily="18" charset="0"/>
                            <a:ea typeface="Segoe UI Symbol" pitchFamily="34" charset="0"/>
                            <a:cs typeface="Arial" pitchFamily="34" charset="0"/>
                          </a:rPr>
                          <m:t>−</m:t>
                        </m:r>
                        <m:r>
                          <a:rPr lang="de-DE" sz="1600" b="0" i="1" smtClean="0">
                            <a:solidFill>
                              <a:srgbClr val="003C5A"/>
                            </a:solidFill>
                            <a:latin typeface="Cambria Math" panose="02040503050406030204" pitchFamily="18" charset="0"/>
                            <a:ea typeface="Segoe UI Symbol" pitchFamily="34" charset="0"/>
                            <a:cs typeface="Arial" pitchFamily="34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de-DE" sz="1600" i="1">
                            <a:solidFill>
                              <a:srgbClr val="003C5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de-DE" sz="1600" i="1">
                            <a:solidFill>
                              <a:srgbClr val="003C5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  <m:t>𝑟</m:t>
                        </m:r>
                      </m:e>
                    </m:d>
                    <m:r>
                      <a:rPr lang="de-DE" sz="1600" b="0" i="0" smtClean="0">
                        <a:solidFill>
                          <a:srgbClr val="003C5A"/>
                        </a:solidFill>
                        <a:latin typeface="Cambria Math" panose="02040503050406030204" pitchFamily="18" charset="0"/>
                        <a:ea typeface="Segoe UI Symbol" pitchFamily="34" charset="0"/>
                        <a:cs typeface="Arial" pitchFamily="34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de-DE" sz="1600" b="0" i="1" smtClean="0">
                            <a:solidFill>
                              <a:srgbClr val="003C5A"/>
                            </a:solidFill>
                            <a:latin typeface="Cambria Math" panose="02040503050406030204" pitchFamily="18" charset="0"/>
                            <a:ea typeface="Segoe UI Symbol" pitchFamily="34" charset="0"/>
                            <a:cs typeface="Arial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1600" b="0" i="1" smtClean="0">
                                <a:solidFill>
                                  <a:srgbClr val="003C5A"/>
                                </a:solidFill>
                                <a:latin typeface="Cambria Math" panose="02040503050406030204" pitchFamily="18" charset="0"/>
                                <a:ea typeface="Segoe UI Symbol" pitchFamily="34" charset="0"/>
                                <a:cs typeface="Arial" pitchFamily="34" charset="0"/>
                              </a:rPr>
                            </m:ctrlPr>
                          </m:sSubPr>
                          <m:e>
                            <m:r>
                              <a:rPr lang="de-DE" sz="1600" i="1">
                                <a:solidFill>
                                  <a:srgbClr val="003C5A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itchFamily="34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de-DE" sz="1600" b="0" i="1" smtClean="0">
                                <a:solidFill>
                                  <a:srgbClr val="003C5A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itchFamily="34" charset="0"/>
                              </a:rPr>
                              <m:t>𝑗</m:t>
                            </m:r>
                          </m:sub>
                        </m:sSub>
                        <m:d>
                          <m:dPr>
                            <m:ctrlPr>
                              <a:rPr lang="de-DE" sz="1600" b="0" i="1" smtClean="0">
                                <a:solidFill>
                                  <a:srgbClr val="003C5A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itchFamily="34" charset="0"/>
                              </a:rPr>
                            </m:ctrlPr>
                          </m:dPr>
                          <m:e>
                            <m:r>
                              <a:rPr lang="de-DE" sz="1600" b="0" i="1" smtClean="0">
                                <a:solidFill>
                                  <a:srgbClr val="003C5A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itchFamily="34" charset="0"/>
                              </a:rPr>
                              <m:t>𝑟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de-DE" sz="1600" i="1">
                                <a:solidFill>
                                  <a:srgbClr val="003C5A"/>
                                </a:solidFill>
                                <a:latin typeface="Cambria Math" panose="02040503050406030204" pitchFamily="18" charset="0"/>
                                <a:ea typeface="Segoe UI Symbol" pitchFamily="34" charset="0"/>
                                <a:cs typeface="Arial" pitchFamily="34" charset="0"/>
                              </a:rPr>
                            </m:ctrlPr>
                          </m:sSubPr>
                          <m:e>
                            <m:r>
                              <a:rPr lang="de-DE" sz="1600" i="1">
                                <a:solidFill>
                                  <a:srgbClr val="003C5A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itchFamily="34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de-DE" sz="1600" i="1">
                                <a:solidFill>
                                  <a:srgbClr val="003C5A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itchFamily="34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br>
                  <a:rPr lang="de-DE" sz="1600" dirty="0">
                    <a:solidFill>
                      <a:srgbClr val="003C5A"/>
                    </a:solidFill>
                    <a:latin typeface="Arial" pitchFamily="34" charset="0"/>
                    <a:ea typeface="Segoe UI Symbol" pitchFamily="34" charset="0"/>
                    <a:cs typeface="Arial" pitchFamily="34" charset="0"/>
                  </a:rPr>
                </a:br>
                <a:endParaRPr lang="de-DE" sz="1600" dirty="0">
                  <a:solidFill>
                    <a:srgbClr val="003C5A"/>
                  </a:solidFill>
                  <a:latin typeface="Arial" pitchFamily="34" charset="0"/>
                  <a:ea typeface="Segoe UI Symbo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11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5521" y="1707654"/>
                <a:ext cx="3737805" cy="338554"/>
              </a:xfrm>
              <a:prstGeom prst="rect">
                <a:avLst/>
              </a:prstGeom>
              <a:blipFill>
                <a:blip r:embed="rId5"/>
                <a:stretch>
                  <a:fillRect l="-653" t="-100000" b="-16428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68F6028B-980E-4738-8329-A6646C8FAE0D}"/>
              </a:ext>
            </a:extLst>
          </p:cNvPr>
          <p:cNvCxnSpPr>
            <a:cxnSpLocks/>
          </p:cNvCxnSpPr>
          <p:nvPr/>
        </p:nvCxnSpPr>
        <p:spPr>
          <a:xfrm rot="2700000">
            <a:off x="5748128" y="4088253"/>
            <a:ext cx="152400" cy="152401"/>
          </a:xfrm>
          <a:prstGeom prst="straightConnector1">
            <a:avLst/>
          </a:prstGeom>
          <a:ln w="19050">
            <a:solidFill>
              <a:srgbClr val="003C5A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feld 53">
                <a:extLst>
                  <a:ext uri="{FF2B5EF4-FFF2-40B4-BE49-F238E27FC236}">
                    <a16:creationId xmlns:a16="http://schemas.microsoft.com/office/drawing/2014/main" id="{B8B4D2C4-E0EA-486A-B694-67F4618F85BD}"/>
                  </a:ext>
                </a:extLst>
              </p:cNvPr>
              <p:cNvSpPr txBox="1"/>
              <p:nvPr/>
            </p:nvSpPr>
            <p:spPr>
              <a:xfrm>
                <a:off x="5478594" y="3739780"/>
                <a:ext cx="691467" cy="317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dirty="0" smtClean="0">
                              <a:solidFill>
                                <a:srgbClr val="003C5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400" b="0" i="1" dirty="0" smtClean="0">
                              <a:solidFill>
                                <a:srgbClr val="003C5A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sz="1400" b="0" i="0" dirty="0" smtClean="0">
                              <a:solidFill>
                                <a:srgbClr val="003C5A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  <m:r>
                            <a:rPr lang="de-DE" sz="1400" b="0" i="0" dirty="0" smtClean="0">
                              <a:solidFill>
                                <a:srgbClr val="003C5A"/>
                              </a:solidFill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</m:oMath>
                  </m:oMathPara>
                </a14:m>
                <a:endParaRPr lang="de-DE" sz="1400" dirty="0"/>
              </a:p>
            </p:txBody>
          </p:sp>
        </mc:Choice>
        <mc:Fallback xmlns="">
          <p:sp>
            <p:nvSpPr>
              <p:cNvPr id="54" name="Textfeld 53">
                <a:extLst>
                  <a:ext uri="{FF2B5EF4-FFF2-40B4-BE49-F238E27FC236}">
                    <a16:creationId xmlns:a16="http://schemas.microsoft.com/office/drawing/2014/main" id="{B8B4D2C4-E0EA-486A-B694-67F4618F85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8594" y="3739780"/>
                <a:ext cx="691467" cy="31720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feld 38">
                <a:extLst>
                  <a:ext uri="{FF2B5EF4-FFF2-40B4-BE49-F238E27FC236}">
                    <a16:creationId xmlns:a16="http://schemas.microsoft.com/office/drawing/2014/main" id="{DFE94EFC-357C-4DBE-8273-0216307708D7}"/>
                  </a:ext>
                </a:extLst>
              </p:cNvPr>
              <p:cNvSpPr txBox="1"/>
              <p:nvPr/>
            </p:nvSpPr>
            <p:spPr>
              <a:xfrm>
                <a:off x="4499992" y="3888952"/>
                <a:ext cx="691467" cy="3277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400" i="1">
                              <a:solidFill>
                                <a:srgbClr val="003C5A"/>
                              </a:solidFill>
                              <a:latin typeface="Cambria Math" panose="02040503050406030204" pitchFamily="18" charset="0"/>
                              <a:ea typeface="Segoe UI Symbol" pitchFamily="34" charset="0"/>
                              <a:cs typeface="Arial" pitchFamily="34" charset="0"/>
                            </a:rPr>
                          </m:ctrlPr>
                        </m:sSubPr>
                        <m:e>
                          <m:r>
                            <a:rPr lang="de-DE" sz="1400" i="1">
                              <a:solidFill>
                                <a:srgbClr val="003C5A"/>
                              </a:solidFill>
                              <a:latin typeface="Cambria Math" panose="02040503050406030204" pitchFamily="18" charset="0"/>
                              <a:ea typeface="Segoe UI Symbol" pitchFamily="34" charset="0"/>
                              <a:cs typeface="Arial" pitchFamily="34" charset="0"/>
                            </a:rPr>
                            <m:t>𝑛</m:t>
                          </m:r>
                        </m:e>
                        <m:sub>
                          <m:r>
                            <a:rPr lang="de-DE" sz="1400" i="1">
                              <a:solidFill>
                                <a:srgbClr val="003C5A"/>
                              </a:solidFill>
                              <a:latin typeface="Cambria Math" panose="02040503050406030204" pitchFamily="18" charset="0"/>
                              <a:ea typeface="Segoe UI Symbol" pitchFamily="34" charset="0"/>
                              <a:cs typeface="Arial" pitchFamily="34" charset="0"/>
                            </a:rPr>
                            <m:t>𝑖</m:t>
                          </m:r>
                          <m:r>
                            <a:rPr lang="de-DE" sz="1400" i="1">
                              <a:solidFill>
                                <a:srgbClr val="003C5A"/>
                              </a:solidFill>
                              <a:latin typeface="Cambria Math" panose="02040503050406030204" pitchFamily="18" charset="0"/>
                              <a:ea typeface="Segoe UI Symbol" pitchFamily="34" charset="0"/>
                              <a:cs typeface="Arial" pitchFamily="34" charset="0"/>
                            </a:rPr>
                            <m:t>−</m:t>
                          </m:r>
                          <m:r>
                            <a:rPr lang="de-DE" sz="1400" i="1">
                              <a:solidFill>
                                <a:srgbClr val="003C5A"/>
                              </a:solidFill>
                              <a:latin typeface="Cambria Math" panose="02040503050406030204" pitchFamily="18" charset="0"/>
                              <a:ea typeface="Segoe UI Symbol" pitchFamily="34" charset="0"/>
                              <a:cs typeface="Arial" pitchFamily="34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de-DE" sz="1400" dirty="0"/>
              </a:p>
            </p:txBody>
          </p:sp>
        </mc:Choice>
        <mc:Fallback xmlns="">
          <p:sp>
            <p:nvSpPr>
              <p:cNvPr id="39" name="Textfeld 38">
                <a:extLst>
                  <a:ext uri="{FF2B5EF4-FFF2-40B4-BE49-F238E27FC236}">
                    <a16:creationId xmlns:a16="http://schemas.microsoft.com/office/drawing/2014/main" id="{DFE94EFC-357C-4DBE-8273-0216307708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9992" y="3888952"/>
                <a:ext cx="691467" cy="327718"/>
              </a:xfrm>
              <a:prstGeom prst="rect">
                <a:avLst/>
              </a:prstGeom>
              <a:blipFill>
                <a:blip r:embed="rId7"/>
                <a:stretch>
                  <a:fillRect b="-185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3C262DE6-E271-4AE1-B3B7-85E9BC502843}"/>
              </a:ext>
            </a:extLst>
          </p:cNvPr>
          <p:cNvCxnSpPr>
            <a:cxnSpLocks/>
          </p:cNvCxnSpPr>
          <p:nvPr/>
        </p:nvCxnSpPr>
        <p:spPr>
          <a:xfrm flipV="1">
            <a:off x="5039841" y="3625880"/>
            <a:ext cx="396255" cy="337769"/>
          </a:xfrm>
          <a:prstGeom prst="straightConnector1">
            <a:avLst/>
          </a:prstGeom>
          <a:ln w="19050">
            <a:solidFill>
              <a:srgbClr val="003C5A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Gerade Verbindung mit Pfeil 97">
            <a:extLst>
              <a:ext uri="{FF2B5EF4-FFF2-40B4-BE49-F238E27FC236}">
                <a16:creationId xmlns:a16="http://schemas.microsoft.com/office/drawing/2014/main" id="{9A0DFCF9-60B6-40CC-A382-136024F0F603}"/>
              </a:ext>
            </a:extLst>
          </p:cNvPr>
          <p:cNvCxnSpPr>
            <a:cxnSpLocks/>
          </p:cNvCxnSpPr>
          <p:nvPr/>
        </p:nvCxnSpPr>
        <p:spPr>
          <a:xfrm>
            <a:off x="2771800" y="3055848"/>
            <a:ext cx="720000" cy="0"/>
          </a:xfrm>
          <a:prstGeom prst="straightConnector1">
            <a:avLst/>
          </a:prstGeom>
          <a:ln w="19050">
            <a:solidFill>
              <a:srgbClr val="003C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uppieren 3">
            <a:extLst>
              <a:ext uri="{FF2B5EF4-FFF2-40B4-BE49-F238E27FC236}">
                <a16:creationId xmlns:a16="http://schemas.microsoft.com/office/drawing/2014/main" id="{3A47E13B-7624-4BC2-82E6-8AF252486FCC}"/>
              </a:ext>
            </a:extLst>
          </p:cNvPr>
          <p:cNvGrpSpPr/>
          <p:nvPr/>
        </p:nvGrpSpPr>
        <p:grpSpPr>
          <a:xfrm>
            <a:off x="4005149" y="1992830"/>
            <a:ext cx="1980178" cy="2266091"/>
            <a:chOff x="4005149" y="1992830"/>
            <a:chExt cx="1980178" cy="2266091"/>
          </a:xfrm>
        </p:grpSpPr>
        <p:cxnSp>
          <p:nvCxnSpPr>
            <p:cNvPr id="128" name="Gerade Verbindung mit Pfeil 127">
              <a:extLst>
                <a:ext uri="{FF2B5EF4-FFF2-40B4-BE49-F238E27FC236}">
                  <a16:creationId xmlns:a16="http://schemas.microsoft.com/office/drawing/2014/main" id="{8559D1FE-A7F4-4790-B15C-4E873FE1E63A}"/>
                </a:ext>
              </a:extLst>
            </p:cNvPr>
            <p:cNvCxnSpPr>
              <a:cxnSpLocks/>
            </p:cNvCxnSpPr>
            <p:nvPr/>
          </p:nvCxnSpPr>
          <p:spPr>
            <a:xfrm>
              <a:off x="4762680" y="2355726"/>
              <a:ext cx="457392" cy="0"/>
            </a:xfrm>
            <a:prstGeom prst="straightConnector1">
              <a:avLst/>
            </a:prstGeom>
            <a:ln w="19050">
              <a:solidFill>
                <a:srgbClr val="003C5A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1" name="Gerade Verbindung mit Pfeil 130">
              <a:extLst>
                <a:ext uri="{FF2B5EF4-FFF2-40B4-BE49-F238E27FC236}">
                  <a16:creationId xmlns:a16="http://schemas.microsoft.com/office/drawing/2014/main" id="{B265A653-39FC-41DB-9C59-62FD009459DE}"/>
                </a:ext>
              </a:extLst>
            </p:cNvPr>
            <p:cNvCxnSpPr>
              <a:cxnSpLocks/>
            </p:cNvCxnSpPr>
            <p:nvPr/>
          </p:nvCxnSpPr>
          <p:spPr>
            <a:xfrm>
              <a:off x="4758883" y="3128842"/>
              <a:ext cx="457392" cy="0"/>
            </a:xfrm>
            <a:prstGeom prst="straightConnector1">
              <a:avLst/>
            </a:prstGeom>
            <a:ln w="19050">
              <a:solidFill>
                <a:srgbClr val="003C5A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1" name="Gerade Verbindung mit Pfeil 140">
              <a:extLst>
                <a:ext uri="{FF2B5EF4-FFF2-40B4-BE49-F238E27FC236}">
                  <a16:creationId xmlns:a16="http://schemas.microsoft.com/office/drawing/2014/main" id="{F0B07A31-6A3A-47B4-820C-BD58DF7A62CF}"/>
                </a:ext>
              </a:extLst>
            </p:cNvPr>
            <p:cNvCxnSpPr>
              <a:cxnSpLocks/>
            </p:cNvCxnSpPr>
            <p:nvPr/>
          </p:nvCxnSpPr>
          <p:spPr>
            <a:xfrm>
              <a:off x="4761524" y="3939902"/>
              <a:ext cx="457392" cy="0"/>
            </a:xfrm>
            <a:prstGeom prst="straightConnector1">
              <a:avLst/>
            </a:prstGeom>
            <a:ln w="19050">
              <a:solidFill>
                <a:srgbClr val="003C5A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52" name="Grafik 51">
              <a:extLst>
                <a:ext uri="{FF2B5EF4-FFF2-40B4-BE49-F238E27FC236}">
                  <a16:creationId xmlns:a16="http://schemas.microsoft.com/office/drawing/2014/main" id="{53750E6E-805B-4B97-B4B1-4FF74AEAD4B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17556" t="5621" r="42440" b="53721"/>
            <a:stretch/>
          </p:blipFill>
          <p:spPr>
            <a:xfrm>
              <a:off x="4005149" y="1992830"/>
              <a:ext cx="720080" cy="731846"/>
            </a:xfrm>
            <a:prstGeom prst="rect">
              <a:avLst/>
            </a:prstGeom>
          </p:spPr>
        </p:pic>
        <p:pic>
          <p:nvPicPr>
            <p:cNvPr id="56" name="Grafik 55">
              <a:extLst>
                <a:ext uri="{FF2B5EF4-FFF2-40B4-BE49-F238E27FC236}">
                  <a16:creationId xmlns:a16="http://schemas.microsoft.com/office/drawing/2014/main" id="{10DB59D3-3250-4EBF-B660-CFB7568CD39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l="45332" t="52274" r="29973" b="21381"/>
            <a:stretch/>
          </p:blipFill>
          <p:spPr>
            <a:xfrm rot="20478913">
              <a:off x="5277917" y="2114719"/>
              <a:ext cx="533400" cy="569046"/>
            </a:xfrm>
            <a:prstGeom prst="rect">
              <a:avLst/>
            </a:prstGeom>
          </p:spPr>
        </p:pic>
        <p:pic>
          <p:nvPicPr>
            <p:cNvPr id="58" name="Grafik 57">
              <a:extLst>
                <a:ext uri="{FF2B5EF4-FFF2-40B4-BE49-F238E27FC236}">
                  <a16:creationId xmlns:a16="http://schemas.microsoft.com/office/drawing/2014/main" id="{AC3591EB-9738-4085-A258-854EC1AF972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68661" t="41650" r="12300" b="39236"/>
            <a:stretch/>
          </p:blipFill>
          <p:spPr>
            <a:xfrm>
              <a:off x="4193847" y="2956695"/>
              <a:ext cx="342684" cy="344066"/>
            </a:xfrm>
            <a:prstGeom prst="rect">
              <a:avLst/>
            </a:prstGeom>
          </p:spPr>
        </p:pic>
        <p:pic>
          <p:nvPicPr>
            <p:cNvPr id="59" name="Grafik 58">
              <a:extLst>
                <a:ext uri="{FF2B5EF4-FFF2-40B4-BE49-F238E27FC236}">
                  <a16:creationId xmlns:a16="http://schemas.microsoft.com/office/drawing/2014/main" id="{FE593B19-3A36-45DE-8654-79FCDD3A505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17556" t="5621" r="42440" b="53721"/>
            <a:stretch/>
          </p:blipFill>
          <p:spPr>
            <a:xfrm>
              <a:off x="5265247" y="2763958"/>
              <a:ext cx="720080" cy="731846"/>
            </a:xfrm>
            <a:prstGeom prst="rect">
              <a:avLst/>
            </a:prstGeom>
          </p:spPr>
        </p:pic>
        <p:pic>
          <p:nvPicPr>
            <p:cNvPr id="60" name="Grafik 59">
              <a:extLst>
                <a:ext uri="{FF2B5EF4-FFF2-40B4-BE49-F238E27FC236}">
                  <a16:creationId xmlns:a16="http://schemas.microsoft.com/office/drawing/2014/main" id="{F8922471-ACFD-4E31-AF3F-B4EF417223E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l="45332" t="52274" r="29973" b="21381"/>
            <a:stretch/>
          </p:blipFill>
          <p:spPr>
            <a:xfrm rot="1121087" flipH="1">
              <a:off x="4096230" y="3689875"/>
              <a:ext cx="533400" cy="569046"/>
            </a:xfrm>
            <a:prstGeom prst="rect">
              <a:avLst/>
            </a:prstGeom>
          </p:spPr>
        </p:pic>
        <p:pic>
          <p:nvPicPr>
            <p:cNvPr id="61" name="Grafik 60">
              <a:extLst>
                <a:ext uri="{FF2B5EF4-FFF2-40B4-BE49-F238E27FC236}">
                  <a16:creationId xmlns:a16="http://schemas.microsoft.com/office/drawing/2014/main" id="{E0BA4ECF-FFB0-4674-9464-A09CC4E4ACA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l="45332" t="52274" r="29973" b="21381"/>
            <a:stretch/>
          </p:blipFill>
          <p:spPr>
            <a:xfrm rot="20478913">
              <a:off x="5277916" y="3689873"/>
              <a:ext cx="533400" cy="569046"/>
            </a:xfrm>
            <a:prstGeom prst="rect">
              <a:avLst/>
            </a:prstGeom>
          </p:spPr>
        </p:pic>
      </p:grp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EB294C91-1AA6-46EF-8AE3-20932C612DBB}"/>
              </a:ext>
            </a:extLst>
          </p:cNvPr>
          <p:cNvGrpSpPr/>
          <p:nvPr/>
        </p:nvGrpSpPr>
        <p:grpSpPr>
          <a:xfrm>
            <a:off x="6596883" y="1381184"/>
            <a:ext cx="1812774" cy="2876286"/>
            <a:chOff x="6596883" y="1381184"/>
            <a:chExt cx="1812774" cy="2876286"/>
          </a:xfrm>
        </p:grpSpPr>
        <p:cxnSp>
          <p:nvCxnSpPr>
            <p:cNvPr id="63" name="Gerade Verbindung mit Pfeil 62">
              <a:extLst>
                <a:ext uri="{FF2B5EF4-FFF2-40B4-BE49-F238E27FC236}">
                  <a16:creationId xmlns:a16="http://schemas.microsoft.com/office/drawing/2014/main" id="{68127440-07D0-4FF1-953F-9AE18151EA18}"/>
                </a:ext>
              </a:extLst>
            </p:cNvPr>
            <p:cNvCxnSpPr>
              <a:cxnSpLocks/>
            </p:cNvCxnSpPr>
            <p:nvPr/>
          </p:nvCxnSpPr>
          <p:spPr>
            <a:xfrm>
              <a:off x="7354414" y="2372098"/>
              <a:ext cx="457392" cy="0"/>
            </a:xfrm>
            <a:prstGeom prst="straightConnector1">
              <a:avLst/>
            </a:prstGeom>
            <a:ln w="19050">
              <a:solidFill>
                <a:srgbClr val="003C5A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Gerade Verbindung mit Pfeil 63">
              <a:extLst>
                <a:ext uri="{FF2B5EF4-FFF2-40B4-BE49-F238E27FC236}">
                  <a16:creationId xmlns:a16="http://schemas.microsoft.com/office/drawing/2014/main" id="{90616B6A-0CA2-4132-BA81-0746A095952A}"/>
                </a:ext>
              </a:extLst>
            </p:cNvPr>
            <p:cNvCxnSpPr>
              <a:cxnSpLocks/>
            </p:cNvCxnSpPr>
            <p:nvPr/>
          </p:nvCxnSpPr>
          <p:spPr>
            <a:xfrm>
              <a:off x="7350617" y="3145214"/>
              <a:ext cx="457392" cy="0"/>
            </a:xfrm>
            <a:prstGeom prst="straightConnector1">
              <a:avLst/>
            </a:prstGeom>
            <a:ln w="19050">
              <a:solidFill>
                <a:srgbClr val="003C5A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Gerade Verbindung mit Pfeil 64">
              <a:extLst>
                <a:ext uri="{FF2B5EF4-FFF2-40B4-BE49-F238E27FC236}">
                  <a16:creationId xmlns:a16="http://schemas.microsoft.com/office/drawing/2014/main" id="{D17FC011-EA27-4ED6-A0B3-06FDB6B56C91}"/>
                </a:ext>
              </a:extLst>
            </p:cNvPr>
            <p:cNvCxnSpPr>
              <a:cxnSpLocks/>
            </p:cNvCxnSpPr>
            <p:nvPr/>
          </p:nvCxnSpPr>
          <p:spPr>
            <a:xfrm>
              <a:off x="7353258" y="3956274"/>
              <a:ext cx="457392" cy="0"/>
            </a:xfrm>
            <a:prstGeom prst="straightConnector1">
              <a:avLst/>
            </a:prstGeom>
            <a:ln w="19050">
              <a:solidFill>
                <a:srgbClr val="003C5A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66" name="Grafik 65">
              <a:extLst>
                <a:ext uri="{FF2B5EF4-FFF2-40B4-BE49-F238E27FC236}">
                  <a16:creationId xmlns:a16="http://schemas.microsoft.com/office/drawing/2014/main" id="{932BCFFD-62D2-4C96-8BED-C0E8360604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68661" t="41650" r="12300" b="39236"/>
            <a:stretch/>
          </p:blipFill>
          <p:spPr>
            <a:xfrm>
              <a:off x="6778461" y="1493674"/>
              <a:ext cx="342684" cy="344066"/>
            </a:xfrm>
            <a:prstGeom prst="rect">
              <a:avLst/>
            </a:prstGeom>
          </p:spPr>
        </p:pic>
        <p:cxnSp>
          <p:nvCxnSpPr>
            <p:cNvPr id="67" name="Gerade Verbindung mit Pfeil 66">
              <a:extLst>
                <a:ext uri="{FF2B5EF4-FFF2-40B4-BE49-F238E27FC236}">
                  <a16:creationId xmlns:a16="http://schemas.microsoft.com/office/drawing/2014/main" id="{CB89C63F-24D7-47FE-9198-121AAC45A954}"/>
                </a:ext>
              </a:extLst>
            </p:cNvPr>
            <p:cNvCxnSpPr>
              <a:cxnSpLocks/>
            </p:cNvCxnSpPr>
            <p:nvPr/>
          </p:nvCxnSpPr>
          <p:spPr>
            <a:xfrm>
              <a:off x="7354414" y="1667986"/>
              <a:ext cx="457392" cy="0"/>
            </a:xfrm>
            <a:prstGeom prst="straightConnector1">
              <a:avLst/>
            </a:prstGeom>
            <a:ln w="19050">
              <a:solidFill>
                <a:srgbClr val="003C5A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68" name="Grafik 67">
              <a:extLst>
                <a:ext uri="{FF2B5EF4-FFF2-40B4-BE49-F238E27FC236}">
                  <a16:creationId xmlns:a16="http://schemas.microsoft.com/office/drawing/2014/main" id="{C558DA99-7532-426A-8A1A-AC8DF9EC438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17556" t="5621" r="42440" b="53721"/>
            <a:stretch/>
          </p:blipFill>
          <p:spPr>
            <a:xfrm>
              <a:off x="6596883" y="2009202"/>
              <a:ext cx="720080" cy="731846"/>
            </a:xfrm>
            <a:prstGeom prst="rect">
              <a:avLst/>
            </a:prstGeom>
          </p:spPr>
        </p:pic>
        <p:pic>
          <p:nvPicPr>
            <p:cNvPr id="73" name="Grafik 72">
              <a:extLst>
                <a:ext uri="{FF2B5EF4-FFF2-40B4-BE49-F238E27FC236}">
                  <a16:creationId xmlns:a16="http://schemas.microsoft.com/office/drawing/2014/main" id="{F53CCCC9-B593-47CD-B85E-B1D3AFA3472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l="45332" t="52274" r="29973" b="21381"/>
            <a:stretch/>
          </p:blipFill>
          <p:spPr>
            <a:xfrm rot="7848201" flipH="1">
              <a:off x="6687964" y="3706247"/>
              <a:ext cx="533400" cy="569046"/>
            </a:xfrm>
            <a:prstGeom prst="rect">
              <a:avLst/>
            </a:prstGeom>
          </p:spPr>
        </p:pic>
        <p:pic>
          <p:nvPicPr>
            <p:cNvPr id="75" name="Grafik 74">
              <a:extLst>
                <a:ext uri="{FF2B5EF4-FFF2-40B4-BE49-F238E27FC236}">
                  <a16:creationId xmlns:a16="http://schemas.microsoft.com/office/drawing/2014/main" id="{9D914EDD-74F4-4612-B45A-66E648BD96F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l="45332" t="52274" r="29973" b="21381"/>
            <a:stretch/>
          </p:blipFill>
          <p:spPr>
            <a:xfrm rot="1121087" flipH="1">
              <a:off x="6668465" y="2913211"/>
              <a:ext cx="533400" cy="569046"/>
            </a:xfrm>
            <a:prstGeom prst="rect">
              <a:avLst/>
            </a:prstGeom>
          </p:spPr>
        </p:pic>
        <p:pic>
          <p:nvPicPr>
            <p:cNvPr id="76" name="Grafik 75">
              <a:extLst>
                <a:ext uri="{FF2B5EF4-FFF2-40B4-BE49-F238E27FC236}">
                  <a16:creationId xmlns:a16="http://schemas.microsoft.com/office/drawing/2014/main" id="{96CB1EC5-DC32-4CC5-B2F2-940BF6C19F2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l="45332" t="52274" r="29973" b="21381"/>
            <a:stretch/>
          </p:blipFill>
          <p:spPr>
            <a:xfrm rot="13270724">
              <a:off x="7870470" y="2849512"/>
              <a:ext cx="533400" cy="569046"/>
            </a:xfrm>
            <a:prstGeom prst="rect">
              <a:avLst/>
            </a:prstGeom>
          </p:spPr>
        </p:pic>
        <p:pic>
          <p:nvPicPr>
            <p:cNvPr id="77" name="Grafik 76">
              <a:extLst>
                <a:ext uri="{FF2B5EF4-FFF2-40B4-BE49-F238E27FC236}">
                  <a16:creationId xmlns:a16="http://schemas.microsoft.com/office/drawing/2014/main" id="{7FDF7DA5-8DCC-4D81-9D70-98970659F68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l="45332" t="52274" r="29973" b="21381"/>
            <a:stretch/>
          </p:blipFill>
          <p:spPr>
            <a:xfrm rot="13270724">
              <a:off x="7876257" y="3671751"/>
              <a:ext cx="533400" cy="569046"/>
            </a:xfrm>
            <a:prstGeom prst="rect">
              <a:avLst/>
            </a:prstGeom>
          </p:spPr>
        </p:pic>
        <p:pic>
          <p:nvPicPr>
            <p:cNvPr id="78" name="Grafik 77">
              <a:extLst>
                <a:ext uri="{FF2B5EF4-FFF2-40B4-BE49-F238E27FC236}">
                  <a16:creationId xmlns:a16="http://schemas.microsoft.com/office/drawing/2014/main" id="{17434B8F-4576-4216-AB10-B950E13AEF8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l="45332" t="52274" r="29973" b="21381"/>
            <a:stretch/>
          </p:blipFill>
          <p:spPr>
            <a:xfrm rot="13270724">
              <a:off x="7870470" y="2079224"/>
              <a:ext cx="533400" cy="569046"/>
            </a:xfrm>
            <a:prstGeom prst="rect">
              <a:avLst/>
            </a:prstGeom>
          </p:spPr>
        </p:pic>
        <p:pic>
          <p:nvPicPr>
            <p:cNvPr id="79" name="Grafik 78">
              <a:extLst>
                <a:ext uri="{FF2B5EF4-FFF2-40B4-BE49-F238E27FC236}">
                  <a16:creationId xmlns:a16="http://schemas.microsoft.com/office/drawing/2014/main" id="{95CF5912-7979-4E96-834C-32AAC5C0F04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l="45332" t="52274" r="29973" b="21381"/>
            <a:stretch/>
          </p:blipFill>
          <p:spPr>
            <a:xfrm rot="13270724">
              <a:off x="7876256" y="1381184"/>
              <a:ext cx="533400" cy="569046"/>
            </a:xfrm>
            <a:prstGeom prst="rect">
              <a:avLst/>
            </a:prstGeom>
          </p:spPr>
        </p:pic>
      </p:grpSp>
      <p:pic>
        <p:nvPicPr>
          <p:cNvPr id="50" name="Grafik 49">
            <a:extLst>
              <a:ext uri="{FF2B5EF4-FFF2-40B4-BE49-F238E27FC236}">
                <a16:creationId xmlns:a16="http://schemas.microsoft.com/office/drawing/2014/main" id="{BDA6C7DC-3E21-41BB-A9C4-A7FD83080807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68661" t="41650" r="12300" b="39236"/>
          <a:stretch/>
        </p:blipFill>
        <p:spPr>
          <a:xfrm>
            <a:off x="4184745" y="1479581"/>
            <a:ext cx="342684" cy="344066"/>
          </a:xfrm>
          <a:prstGeom prst="rect">
            <a:avLst/>
          </a:prstGeom>
        </p:spPr>
      </p:pic>
      <p:cxnSp>
        <p:nvCxnSpPr>
          <p:cNvPr id="126" name="Gerade Verbindung mit Pfeil 125">
            <a:extLst>
              <a:ext uri="{FF2B5EF4-FFF2-40B4-BE49-F238E27FC236}">
                <a16:creationId xmlns:a16="http://schemas.microsoft.com/office/drawing/2014/main" id="{19EB7EF7-2FD0-4177-81BE-684B0A9973E1}"/>
              </a:ext>
            </a:extLst>
          </p:cNvPr>
          <p:cNvCxnSpPr>
            <a:cxnSpLocks/>
          </p:cNvCxnSpPr>
          <p:nvPr/>
        </p:nvCxnSpPr>
        <p:spPr>
          <a:xfrm>
            <a:off x="4762680" y="1651614"/>
            <a:ext cx="457392" cy="0"/>
          </a:xfrm>
          <a:prstGeom prst="straightConnector1">
            <a:avLst/>
          </a:prstGeom>
          <a:ln w="19050">
            <a:solidFill>
              <a:srgbClr val="003C5A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7" name="Rectangle 6">
                <a:extLst>
                  <a:ext uri="{FF2B5EF4-FFF2-40B4-BE49-F238E27FC236}">
                    <a16:creationId xmlns:a16="http://schemas.microsoft.com/office/drawing/2014/main" id="{F0D7AF06-FD52-492E-A629-415A664C41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521" y="4452991"/>
                <a:ext cx="7902863" cy="6928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t" anchorCtr="0">
                <a:noAutofit/>
              </a:bodyPr>
              <a:lstStyle/>
              <a:p>
                <a:pPr marL="180000" indent="-180000" eaLnBrk="0" hangingPunct="0">
                  <a:buFont typeface="Arial" panose="020B0604020202020204" pitchFamily="34" charset="0"/>
                  <a:buChar char="•"/>
                </a:pPr>
                <a:r>
                  <a:rPr lang="de-DE" sz="1600" dirty="0">
                    <a:solidFill>
                      <a:srgbClr val="003C5A"/>
                    </a:solidFill>
                    <a:latin typeface="Arial" pitchFamily="34" charset="0"/>
                    <a:ea typeface="Segoe UI Symbol" pitchFamily="34" charset="0"/>
                    <a:cs typeface="Arial" pitchFamily="34" charset="0"/>
                  </a:rPr>
                  <a:t>Integration: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600" b="0" i="1" smtClean="0">
                            <a:solidFill>
                              <a:srgbClr val="003C5A"/>
                            </a:solidFill>
                            <a:latin typeface="Cambria Math" panose="02040503050406030204" pitchFamily="18" charset="0"/>
                            <a:ea typeface="Segoe UI Symbol" pitchFamily="34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de-DE" sz="1600" b="0" i="1" smtClean="0">
                            <a:solidFill>
                              <a:srgbClr val="003C5A"/>
                            </a:solidFill>
                            <a:latin typeface="Cambria Math" panose="02040503050406030204" pitchFamily="18" charset="0"/>
                            <a:ea typeface="Segoe UI Symbol" pitchFamily="34" charset="0"/>
                            <a:cs typeface="Arial" pitchFamily="34" charset="0"/>
                          </a:rPr>
                          <m:t>𝑛</m:t>
                        </m:r>
                      </m:e>
                      <m:sub>
                        <m:r>
                          <a:rPr lang="de-DE" sz="1600" b="0" i="1" smtClean="0">
                            <a:solidFill>
                              <a:srgbClr val="003C5A"/>
                            </a:solidFill>
                            <a:latin typeface="Cambria Math" panose="02040503050406030204" pitchFamily="18" charset="0"/>
                            <a:ea typeface="Segoe UI Symbol" pitchFamily="34" charset="0"/>
                            <a:cs typeface="Arial" pitchFamily="34" charset="0"/>
                          </a:rPr>
                          <m:t>𝑖</m:t>
                        </m:r>
                        <m:r>
                          <a:rPr lang="de-DE" sz="1600" b="0" i="1" smtClean="0">
                            <a:solidFill>
                              <a:srgbClr val="003C5A"/>
                            </a:solidFill>
                            <a:latin typeface="Cambria Math" panose="02040503050406030204" pitchFamily="18" charset="0"/>
                            <a:ea typeface="Segoe UI Symbol" pitchFamily="34" charset="0"/>
                            <a:cs typeface="Arial" pitchFamily="34" charset="0"/>
                          </a:rPr>
                          <m:t>−</m:t>
                        </m:r>
                        <m:r>
                          <a:rPr lang="de-DE" sz="1600" b="0" i="1" smtClean="0">
                            <a:solidFill>
                              <a:srgbClr val="003C5A"/>
                            </a:solidFill>
                            <a:latin typeface="Cambria Math" panose="02040503050406030204" pitchFamily="18" charset="0"/>
                            <a:ea typeface="Segoe UI Symbol" pitchFamily="34" charset="0"/>
                            <a:cs typeface="Arial" pitchFamily="34" charset="0"/>
                          </a:rPr>
                          <m:t>𝑗</m:t>
                        </m:r>
                      </m:sub>
                    </m:sSub>
                    <m:r>
                      <a:rPr lang="de-DE" sz="1600" b="0" i="1" smtClean="0">
                        <a:solidFill>
                          <a:srgbClr val="003C5A"/>
                        </a:solidFill>
                        <a:latin typeface="Cambria Math" panose="02040503050406030204" pitchFamily="18" charset="0"/>
                        <a:ea typeface="Segoe UI Symbol" pitchFamily="34" charset="0"/>
                        <a:cs typeface="Arial" pitchFamily="34" charset="0"/>
                      </a:rPr>
                      <m:t>=4</m:t>
                    </m:r>
                    <m:r>
                      <a:rPr lang="de-DE" sz="1600" b="0" i="1" smtClean="0">
                        <a:solidFill>
                          <a:srgbClr val="003C5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𝜋</m:t>
                    </m:r>
                    <m:r>
                      <a:rPr lang="el-GR" sz="1600" i="1" dirty="0">
                        <a:solidFill>
                          <a:srgbClr val="003C5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𝜌</m:t>
                    </m:r>
                    <m:sSub>
                      <m:sSubPr>
                        <m:ctrlPr>
                          <a:rPr lang="de-DE" sz="1600" i="1" dirty="0">
                            <a:solidFill>
                              <a:srgbClr val="003C5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de-DE" sz="1600" b="0" i="1" dirty="0" smtClean="0">
                            <a:solidFill>
                              <a:srgbClr val="003C5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de-DE" sz="1600" i="1" dirty="0">
                            <a:solidFill>
                              <a:srgbClr val="003C5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𝑗</m:t>
                        </m:r>
                      </m:sub>
                    </m:sSub>
                    <m:nary>
                      <m:naryPr>
                        <m:ctrlPr>
                          <a:rPr lang="de-DE" sz="1600" i="1" dirty="0" smtClean="0">
                            <a:solidFill>
                              <a:srgbClr val="003C5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de-DE" sz="1600" b="0" i="1" dirty="0" smtClean="0">
                            <a:solidFill>
                              <a:srgbClr val="003C5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0</m:t>
                        </m:r>
                      </m:sub>
                      <m:sup>
                        <m:sSub>
                          <m:sSubPr>
                            <m:ctrlPr>
                              <a:rPr lang="de-DE" sz="1600" b="0" i="1" dirty="0" smtClean="0">
                                <a:solidFill>
                                  <a:srgbClr val="003C5A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de-DE" sz="1600" b="0" i="1" dirty="0" smtClean="0">
                                <a:solidFill>
                                  <a:srgbClr val="003C5A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𝑟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sz="1600" b="0" i="0" dirty="0" smtClean="0">
                                <a:solidFill>
                                  <a:srgbClr val="003C5A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min</m:t>
                            </m:r>
                            <m:r>
                              <a:rPr lang="de-DE" sz="1600" b="0" i="0" dirty="0" smtClean="0">
                                <a:solidFill>
                                  <a:srgbClr val="003C5A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,1</m:t>
                            </m:r>
                          </m:sub>
                        </m:sSub>
                      </m:sup>
                      <m:e>
                        <m:sSub>
                          <m:sSubPr>
                            <m:ctrlPr>
                              <a:rPr lang="de-DE" sz="1600" b="0" i="1" dirty="0" smtClean="0">
                                <a:solidFill>
                                  <a:srgbClr val="003C5A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de-DE" sz="1600" b="0" i="1" dirty="0" smtClean="0">
                                <a:solidFill>
                                  <a:srgbClr val="003C5A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de-DE" sz="1600" b="0" i="1" dirty="0" smtClean="0">
                                <a:solidFill>
                                  <a:srgbClr val="003C5A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𝑖</m:t>
                            </m:r>
                            <m:r>
                              <a:rPr lang="de-DE" sz="1600" b="0" i="1" dirty="0" smtClean="0">
                                <a:solidFill>
                                  <a:srgbClr val="003C5A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r>
                              <a:rPr lang="de-DE" sz="1600" b="0" i="1" dirty="0" smtClean="0">
                                <a:solidFill>
                                  <a:srgbClr val="003C5A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𝑗</m:t>
                            </m:r>
                          </m:sub>
                        </m:sSub>
                        <m:d>
                          <m:dPr>
                            <m:ctrlPr>
                              <a:rPr lang="de-DE" sz="1600" b="0" i="1" dirty="0" smtClean="0">
                                <a:solidFill>
                                  <a:srgbClr val="003C5A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de-DE" sz="1600" b="0" i="1" dirty="0" smtClean="0">
                                <a:solidFill>
                                  <a:srgbClr val="003C5A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𝑟</m:t>
                            </m:r>
                          </m:e>
                        </m:d>
                        <m:sSup>
                          <m:sSupPr>
                            <m:ctrlPr>
                              <a:rPr lang="de-DE" sz="1600" b="0" i="1" dirty="0" smtClean="0">
                                <a:solidFill>
                                  <a:srgbClr val="003C5A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de-DE" sz="1600" b="0" i="1" dirty="0" smtClean="0">
                                <a:solidFill>
                                  <a:srgbClr val="003C5A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de-DE" sz="1600" b="0" i="1" dirty="0" smtClean="0">
                                <a:solidFill>
                                  <a:srgbClr val="003C5A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de-DE" sz="1600" b="0" i="0" dirty="0" smtClean="0">
                            <a:solidFill>
                              <a:srgbClr val="003C5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d</m:t>
                        </m:r>
                        <m:r>
                          <a:rPr lang="de-DE" sz="1600" b="0" i="1" dirty="0" smtClean="0">
                            <a:solidFill>
                              <a:srgbClr val="003C5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𝑟</m:t>
                        </m:r>
                      </m:e>
                    </m:nary>
                  </m:oMath>
                </a14:m>
                <a:endParaRPr lang="de-DE" sz="1600" dirty="0">
                  <a:solidFill>
                    <a:srgbClr val="003C5A"/>
                  </a:solidFill>
                  <a:latin typeface="Arial" pitchFamily="34" charset="0"/>
                  <a:ea typeface="Segoe UI Symbol" pitchFamily="34" charset="0"/>
                  <a:cs typeface="Arial" pitchFamily="34" charset="0"/>
                </a:endParaRPr>
              </a:p>
              <a:p>
                <a:pPr marL="637200" lvl="2" indent="-180000" eaLnBrk="0" hangingPunct="0">
                  <a:buFont typeface="Wingdings" panose="05000000000000000000" pitchFamily="2" charset="2"/>
                  <a:buChar char="Ø"/>
                </a:pPr>
                <a:r>
                  <a:rPr lang="de-DE" sz="1600" dirty="0">
                    <a:solidFill>
                      <a:srgbClr val="003C5A"/>
                    </a:solidFill>
                    <a:latin typeface="Arial" pitchFamily="34" charset="0"/>
                    <a:ea typeface="Segoe UI Symbol" pitchFamily="34" charset="0"/>
                    <a:cs typeface="Arial" pitchFamily="34" charset="0"/>
                  </a:rPr>
                  <a:t>Anzahl der Kontaktpaare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600" i="1">
                            <a:solidFill>
                              <a:srgbClr val="003C5A"/>
                            </a:solidFill>
                            <a:latin typeface="Cambria Math" panose="02040503050406030204" pitchFamily="18" charset="0"/>
                            <a:ea typeface="Segoe UI Symbol" pitchFamily="34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de-DE" sz="1600" i="1">
                            <a:solidFill>
                              <a:srgbClr val="003C5A"/>
                            </a:solidFill>
                            <a:latin typeface="Cambria Math" panose="02040503050406030204" pitchFamily="18" charset="0"/>
                            <a:ea typeface="Segoe UI Symbol" pitchFamily="34" charset="0"/>
                            <a:cs typeface="Arial" pitchFamily="34" charset="0"/>
                          </a:rPr>
                          <m:t>𝑛</m:t>
                        </m:r>
                      </m:e>
                      <m:sub>
                        <m:r>
                          <a:rPr lang="de-DE" sz="1600" i="1">
                            <a:solidFill>
                              <a:srgbClr val="003C5A"/>
                            </a:solidFill>
                            <a:latin typeface="Cambria Math" panose="02040503050406030204" pitchFamily="18" charset="0"/>
                            <a:ea typeface="Segoe UI Symbol" pitchFamily="34" charset="0"/>
                            <a:cs typeface="Arial" pitchFamily="34" charset="0"/>
                          </a:rPr>
                          <m:t>𝑖</m:t>
                        </m:r>
                        <m:r>
                          <a:rPr lang="de-DE" sz="1600" i="1">
                            <a:solidFill>
                              <a:srgbClr val="003C5A"/>
                            </a:solidFill>
                            <a:latin typeface="Cambria Math" panose="02040503050406030204" pitchFamily="18" charset="0"/>
                            <a:ea typeface="Segoe UI Symbol" pitchFamily="34" charset="0"/>
                            <a:cs typeface="Arial" pitchFamily="34" charset="0"/>
                          </a:rPr>
                          <m:t>−</m:t>
                        </m:r>
                        <m:r>
                          <a:rPr lang="de-DE" sz="1600" i="1">
                            <a:solidFill>
                              <a:srgbClr val="003C5A"/>
                            </a:solidFill>
                            <a:latin typeface="Cambria Math" panose="02040503050406030204" pitchFamily="18" charset="0"/>
                            <a:ea typeface="Segoe UI Symbol" pitchFamily="34" charset="0"/>
                            <a:cs typeface="Arial" pitchFamily="34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de-DE" sz="1600" dirty="0">
                    <a:solidFill>
                      <a:srgbClr val="003C5A"/>
                    </a:solidFill>
                    <a:latin typeface="Arial" pitchFamily="34" charset="0"/>
                    <a:ea typeface="Segoe UI Symbol" pitchFamily="34" charset="0"/>
                    <a:cs typeface="Arial" pitchFamily="34" charset="0"/>
                  </a:rPr>
                  <a:t> in der ersten Koordinationsschale</a:t>
                </a:r>
              </a:p>
            </p:txBody>
          </p:sp>
        </mc:Choice>
        <mc:Fallback>
          <p:sp>
            <p:nvSpPr>
              <p:cNvPr id="57" name="Rectangle 6">
                <a:extLst>
                  <a:ext uri="{FF2B5EF4-FFF2-40B4-BE49-F238E27FC236}">
                    <a16:creationId xmlns:a16="http://schemas.microsoft.com/office/drawing/2014/main" id="{F0D7AF06-FD52-492E-A629-415A664C41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5521" y="4452991"/>
                <a:ext cx="7902863" cy="692866"/>
              </a:xfrm>
              <a:prstGeom prst="rect">
                <a:avLst/>
              </a:prstGeom>
              <a:blipFill>
                <a:blip r:embed="rId10"/>
                <a:stretch>
                  <a:fillRect l="-309" t="-64035" b="-5789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5" name="Grafik 54">
            <a:extLst>
              <a:ext uri="{FF2B5EF4-FFF2-40B4-BE49-F238E27FC236}">
                <a16:creationId xmlns:a16="http://schemas.microsoft.com/office/drawing/2014/main" id="{58DA08FB-1907-426E-A36C-B2F95540CB3E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45332" t="52274" r="29973" b="21381"/>
          <a:stretch/>
        </p:blipFill>
        <p:spPr>
          <a:xfrm rot="20478913">
            <a:off x="5277917" y="1407696"/>
            <a:ext cx="533400" cy="569046"/>
          </a:xfrm>
          <a:prstGeom prst="rect">
            <a:avLst/>
          </a:prstGeom>
        </p:spPr>
      </p:pic>
      <p:sp>
        <p:nvSpPr>
          <p:cNvPr id="93" name="Rechteck 92">
            <a:extLst>
              <a:ext uri="{FF2B5EF4-FFF2-40B4-BE49-F238E27FC236}">
                <a16:creationId xmlns:a16="http://schemas.microsoft.com/office/drawing/2014/main" id="{C8FC10F4-DF5E-41BC-8337-4ED533DB17D7}"/>
              </a:ext>
            </a:extLst>
          </p:cNvPr>
          <p:cNvSpPr/>
          <p:nvPr/>
        </p:nvSpPr>
        <p:spPr>
          <a:xfrm>
            <a:off x="3961943" y="2722979"/>
            <a:ext cx="2114117" cy="811516"/>
          </a:xfrm>
          <a:prstGeom prst="rect">
            <a:avLst/>
          </a:prstGeom>
          <a:noFill/>
          <a:ln>
            <a:solidFill>
              <a:srgbClr val="B92819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29" name="Gruppieren 128">
            <a:extLst>
              <a:ext uri="{FF2B5EF4-FFF2-40B4-BE49-F238E27FC236}">
                <a16:creationId xmlns:a16="http://schemas.microsoft.com/office/drawing/2014/main" id="{B3EFCC82-1E74-401D-9A4D-2DE2345B6C27}"/>
              </a:ext>
            </a:extLst>
          </p:cNvPr>
          <p:cNvGrpSpPr/>
          <p:nvPr/>
        </p:nvGrpSpPr>
        <p:grpSpPr>
          <a:xfrm>
            <a:off x="222659" y="2142155"/>
            <a:ext cx="1912027" cy="1804007"/>
            <a:chOff x="222659" y="2142155"/>
            <a:chExt cx="1912027" cy="1804007"/>
          </a:xfrm>
        </p:grpSpPr>
        <p:sp>
          <p:nvSpPr>
            <p:cNvPr id="130" name="Ellipse 129">
              <a:extLst>
                <a:ext uri="{FF2B5EF4-FFF2-40B4-BE49-F238E27FC236}">
                  <a16:creationId xmlns:a16="http://schemas.microsoft.com/office/drawing/2014/main" id="{BB9E7C61-BA7D-4F2A-A496-D4B8EE308142}"/>
                </a:ext>
              </a:extLst>
            </p:cNvPr>
            <p:cNvSpPr/>
            <p:nvPr/>
          </p:nvSpPr>
          <p:spPr>
            <a:xfrm>
              <a:off x="1037713" y="2953277"/>
              <a:ext cx="288032" cy="288032"/>
            </a:xfrm>
            <a:prstGeom prst="ellipse">
              <a:avLst/>
            </a:prstGeom>
            <a:solidFill>
              <a:srgbClr val="FF5500"/>
            </a:solidFill>
            <a:ln>
              <a:solidFill>
                <a:srgbClr val="FF55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32" name="Ellipse 131">
              <a:extLst>
                <a:ext uri="{FF2B5EF4-FFF2-40B4-BE49-F238E27FC236}">
                  <a16:creationId xmlns:a16="http://schemas.microsoft.com/office/drawing/2014/main" id="{CCE773A7-05AF-4393-BBF2-54CA3A134054}"/>
                </a:ext>
              </a:extLst>
            </p:cNvPr>
            <p:cNvSpPr/>
            <p:nvPr/>
          </p:nvSpPr>
          <p:spPr>
            <a:xfrm>
              <a:off x="1537866" y="2482550"/>
              <a:ext cx="288032" cy="288032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33" name="Ellipse 132">
              <a:extLst>
                <a:ext uri="{FF2B5EF4-FFF2-40B4-BE49-F238E27FC236}">
                  <a16:creationId xmlns:a16="http://schemas.microsoft.com/office/drawing/2014/main" id="{A2ED2C7E-C2DC-4C17-A04E-1A37606DF3FF}"/>
                </a:ext>
              </a:extLst>
            </p:cNvPr>
            <p:cNvSpPr/>
            <p:nvPr/>
          </p:nvSpPr>
          <p:spPr>
            <a:xfrm>
              <a:off x="1709094" y="3105070"/>
              <a:ext cx="288032" cy="288032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34" name="Ellipse 133">
              <a:extLst>
                <a:ext uri="{FF2B5EF4-FFF2-40B4-BE49-F238E27FC236}">
                  <a16:creationId xmlns:a16="http://schemas.microsoft.com/office/drawing/2014/main" id="{2A0D864E-03CC-47FE-BE23-CF75C88A8D5E}"/>
                </a:ext>
              </a:extLst>
            </p:cNvPr>
            <p:cNvSpPr/>
            <p:nvPr/>
          </p:nvSpPr>
          <p:spPr>
            <a:xfrm>
              <a:off x="1205991" y="3633579"/>
              <a:ext cx="288032" cy="288032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35" name="Ellipse 134">
              <a:extLst>
                <a:ext uri="{FF2B5EF4-FFF2-40B4-BE49-F238E27FC236}">
                  <a16:creationId xmlns:a16="http://schemas.microsoft.com/office/drawing/2014/main" id="{F4701B6A-9535-4FEE-B663-8B654394C437}"/>
                </a:ext>
              </a:extLst>
            </p:cNvPr>
            <p:cNvSpPr/>
            <p:nvPr/>
          </p:nvSpPr>
          <p:spPr>
            <a:xfrm>
              <a:off x="633083" y="2370005"/>
              <a:ext cx="288032" cy="288032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36" name="Ellipse 135">
              <a:extLst>
                <a:ext uri="{FF2B5EF4-FFF2-40B4-BE49-F238E27FC236}">
                  <a16:creationId xmlns:a16="http://schemas.microsoft.com/office/drawing/2014/main" id="{19AB5862-0758-420A-B0BF-24AD278302A5}"/>
                </a:ext>
              </a:extLst>
            </p:cNvPr>
            <p:cNvSpPr/>
            <p:nvPr/>
          </p:nvSpPr>
          <p:spPr>
            <a:xfrm>
              <a:off x="560869" y="2770582"/>
              <a:ext cx="288032" cy="288032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37" name="Ellipse 136">
              <a:extLst>
                <a:ext uri="{FF2B5EF4-FFF2-40B4-BE49-F238E27FC236}">
                  <a16:creationId xmlns:a16="http://schemas.microsoft.com/office/drawing/2014/main" id="{617FDA89-184F-4FDD-BCAE-06F3A4AF4F71}"/>
                </a:ext>
              </a:extLst>
            </p:cNvPr>
            <p:cNvSpPr/>
            <p:nvPr/>
          </p:nvSpPr>
          <p:spPr>
            <a:xfrm>
              <a:off x="1061975" y="2504342"/>
              <a:ext cx="288032" cy="288032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38" name="Ellipse 137">
              <a:extLst>
                <a:ext uri="{FF2B5EF4-FFF2-40B4-BE49-F238E27FC236}">
                  <a16:creationId xmlns:a16="http://schemas.microsoft.com/office/drawing/2014/main" id="{97B2B798-EE9D-4450-89E4-06805ACC390C}"/>
                </a:ext>
              </a:extLst>
            </p:cNvPr>
            <p:cNvSpPr/>
            <p:nvPr/>
          </p:nvSpPr>
          <p:spPr>
            <a:xfrm>
              <a:off x="1424809" y="2840696"/>
              <a:ext cx="288032" cy="288032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39" name="Ellipse 138">
              <a:extLst>
                <a:ext uri="{FF2B5EF4-FFF2-40B4-BE49-F238E27FC236}">
                  <a16:creationId xmlns:a16="http://schemas.microsoft.com/office/drawing/2014/main" id="{20C13014-17F8-44B0-922F-B009F3AA5EA2}"/>
                </a:ext>
              </a:extLst>
            </p:cNvPr>
            <p:cNvSpPr/>
            <p:nvPr/>
          </p:nvSpPr>
          <p:spPr>
            <a:xfrm>
              <a:off x="1257423" y="3302739"/>
              <a:ext cx="288032" cy="288032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40" name="Ellipse 139">
              <a:extLst>
                <a:ext uri="{FF2B5EF4-FFF2-40B4-BE49-F238E27FC236}">
                  <a16:creationId xmlns:a16="http://schemas.microsoft.com/office/drawing/2014/main" id="{015EE214-95AD-427C-B0C3-FA6FDDD3087E}"/>
                </a:ext>
              </a:extLst>
            </p:cNvPr>
            <p:cNvSpPr/>
            <p:nvPr/>
          </p:nvSpPr>
          <p:spPr>
            <a:xfrm>
              <a:off x="707123" y="3192208"/>
              <a:ext cx="288032" cy="288032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42" name="Ellipse 141">
              <a:extLst>
                <a:ext uri="{FF2B5EF4-FFF2-40B4-BE49-F238E27FC236}">
                  <a16:creationId xmlns:a16="http://schemas.microsoft.com/office/drawing/2014/main" id="{055A086E-AF6C-41E7-88B1-5EDF895B812E}"/>
                </a:ext>
              </a:extLst>
            </p:cNvPr>
            <p:cNvSpPr/>
            <p:nvPr/>
          </p:nvSpPr>
          <p:spPr>
            <a:xfrm>
              <a:off x="704885" y="3658130"/>
              <a:ext cx="288032" cy="288032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43" name="Ellipse 142">
              <a:extLst>
                <a:ext uri="{FF2B5EF4-FFF2-40B4-BE49-F238E27FC236}">
                  <a16:creationId xmlns:a16="http://schemas.microsoft.com/office/drawing/2014/main" id="{399B6C15-C8D6-4FCB-A8CF-02193B4ECB5C}"/>
                </a:ext>
              </a:extLst>
            </p:cNvPr>
            <p:cNvSpPr/>
            <p:nvPr/>
          </p:nvSpPr>
          <p:spPr>
            <a:xfrm>
              <a:off x="222659" y="3093596"/>
              <a:ext cx="288032" cy="288032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44" name="Ellipse 143">
              <a:extLst>
                <a:ext uri="{FF2B5EF4-FFF2-40B4-BE49-F238E27FC236}">
                  <a16:creationId xmlns:a16="http://schemas.microsoft.com/office/drawing/2014/main" id="{44DB47F9-484B-4CF6-B68B-2B7F1768052A}"/>
                </a:ext>
              </a:extLst>
            </p:cNvPr>
            <p:cNvSpPr/>
            <p:nvPr/>
          </p:nvSpPr>
          <p:spPr>
            <a:xfrm>
              <a:off x="310316" y="3534495"/>
              <a:ext cx="288032" cy="288032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45" name="Ellipse 144">
              <a:extLst>
                <a:ext uri="{FF2B5EF4-FFF2-40B4-BE49-F238E27FC236}">
                  <a16:creationId xmlns:a16="http://schemas.microsoft.com/office/drawing/2014/main" id="{0391FD8E-7F00-41B5-92F5-3DCB14A1BD25}"/>
                </a:ext>
              </a:extLst>
            </p:cNvPr>
            <p:cNvSpPr/>
            <p:nvPr/>
          </p:nvSpPr>
          <p:spPr>
            <a:xfrm>
              <a:off x="233617" y="2551729"/>
              <a:ext cx="288032" cy="288032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46" name="Ellipse 145">
              <a:extLst>
                <a:ext uri="{FF2B5EF4-FFF2-40B4-BE49-F238E27FC236}">
                  <a16:creationId xmlns:a16="http://schemas.microsoft.com/office/drawing/2014/main" id="{733EFEA4-A7BC-494D-9373-57497A3A1892}"/>
                </a:ext>
              </a:extLst>
            </p:cNvPr>
            <p:cNvSpPr/>
            <p:nvPr/>
          </p:nvSpPr>
          <p:spPr>
            <a:xfrm>
              <a:off x="1111854" y="2142155"/>
              <a:ext cx="288032" cy="288032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47" name="Ellipse 146">
              <a:extLst>
                <a:ext uri="{FF2B5EF4-FFF2-40B4-BE49-F238E27FC236}">
                  <a16:creationId xmlns:a16="http://schemas.microsoft.com/office/drawing/2014/main" id="{CFEE984B-AF28-4088-BF7F-5AB135B0ED19}"/>
                </a:ext>
              </a:extLst>
            </p:cNvPr>
            <p:cNvSpPr/>
            <p:nvPr/>
          </p:nvSpPr>
          <p:spPr>
            <a:xfrm>
              <a:off x="1846654" y="2712966"/>
              <a:ext cx="288032" cy="288032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48" name="Ellipse 147">
              <a:extLst>
                <a:ext uri="{FF2B5EF4-FFF2-40B4-BE49-F238E27FC236}">
                  <a16:creationId xmlns:a16="http://schemas.microsoft.com/office/drawing/2014/main" id="{C3EFCA68-EF2A-461A-9334-17C17D9A248E}"/>
                </a:ext>
              </a:extLst>
            </p:cNvPr>
            <p:cNvSpPr/>
            <p:nvPr/>
          </p:nvSpPr>
          <p:spPr>
            <a:xfrm>
              <a:off x="1840759" y="3480240"/>
              <a:ext cx="288032" cy="288032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cxnSp>
          <p:nvCxnSpPr>
            <p:cNvPr id="149" name="Gerade Verbindung mit Pfeil 148">
              <a:extLst>
                <a:ext uri="{FF2B5EF4-FFF2-40B4-BE49-F238E27FC236}">
                  <a16:creationId xmlns:a16="http://schemas.microsoft.com/office/drawing/2014/main" id="{BE290846-021F-4DE2-A725-5DB121F1F0BA}"/>
                </a:ext>
              </a:extLst>
            </p:cNvPr>
            <p:cNvCxnSpPr>
              <a:cxnSpLocks/>
              <a:endCxn id="151" idx="5"/>
            </p:cNvCxnSpPr>
            <p:nvPr/>
          </p:nvCxnSpPr>
          <p:spPr>
            <a:xfrm>
              <a:off x="1183967" y="3105070"/>
              <a:ext cx="420294" cy="414755"/>
            </a:xfrm>
            <a:prstGeom prst="straightConnector1">
              <a:avLst/>
            </a:prstGeom>
            <a:ln w="19050">
              <a:solidFill>
                <a:srgbClr val="003C5A"/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0" name="Gerade Verbindung mit Pfeil 149">
              <a:extLst>
                <a:ext uri="{FF2B5EF4-FFF2-40B4-BE49-F238E27FC236}">
                  <a16:creationId xmlns:a16="http://schemas.microsoft.com/office/drawing/2014/main" id="{9B9D85EF-A6AD-438E-A99B-9CF40D31786E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1756661" y="3670125"/>
              <a:ext cx="152400" cy="152401"/>
            </a:xfrm>
            <a:prstGeom prst="straightConnector1">
              <a:avLst/>
            </a:prstGeom>
            <a:ln w="19050">
              <a:solidFill>
                <a:srgbClr val="003C5A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1" name="Ellipse 150">
              <a:extLst>
                <a:ext uri="{FF2B5EF4-FFF2-40B4-BE49-F238E27FC236}">
                  <a16:creationId xmlns:a16="http://schemas.microsoft.com/office/drawing/2014/main" id="{0FB2D9C2-1F1F-474B-9080-B70212C07CE8}"/>
                </a:ext>
              </a:extLst>
            </p:cNvPr>
            <p:cNvSpPr/>
            <p:nvPr/>
          </p:nvSpPr>
          <p:spPr>
            <a:xfrm>
              <a:off x="584178" y="2499742"/>
              <a:ext cx="1195102" cy="1195102"/>
            </a:xfrm>
            <a:prstGeom prst="ellipse">
              <a:avLst/>
            </a:prstGeom>
            <a:noFill/>
            <a:ln>
              <a:solidFill>
                <a:srgbClr val="003C5A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2" name="Ellipse 151">
              <a:extLst>
                <a:ext uri="{FF2B5EF4-FFF2-40B4-BE49-F238E27FC236}">
                  <a16:creationId xmlns:a16="http://schemas.microsoft.com/office/drawing/2014/main" id="{906DF080-E461-4C7C-86B2-DE3403E5BD5C}"/>
                </a:ext>
              </a:extLst>
            </p:cNvPr>
            <p:cNvSpPr/>
            <p:nvPr/>
          </p:nvSpPr>
          <p:spPr>
            <a:xfrm>
              <a:off x="377633" y="2294296"/>
              <a:ext cx="1596184" cy="1596184"/>
            </a:xfrm>
            <a:prstGeom prst="ellipse">
              <a:avLst/>
            </a:prstGeom>
            <a:noFill/>
            <a:ln>
              <a:solidFill>
                <a:srgbClr val="003C5A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3" name="Textfeld 152">
              <a:extLst>
                <a:ext uri="{FF2B5EF4-FFF2-40B4-BE49-F238E27FC236}">
                  <a16:creationId xmlns:a16="http://schemas.microsoft.com/office/drawing/2014/main" id="{DBBC0DFB-1581-441B-BABE-8D9DC1A85C90}"/>
                </a:ext>
              </a:extLst>
            </p:cNvPr>
            <p:cNvSpPr txBox="1"/>
            <p:nvPr/>
          </p:nvSpPr>
          <p:spPr>
            <a:xfrm>
              <a:off x="1279366" y="2990043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r</a:t>
              </a:r>
              <a:endParaRPr lang="de-DE" i="1" dirty="0"/>
            </a:p>
          </p:txBody>
        </p:sp>
        <p:sp>
          <p:nvSpPr>
            <p:cNvPr id="154" name="Textfeld 153">
              <a:extLst>
                <a:ext uri="{FF2B5EF4-FFF2-40B4-BE49-F238E27FC236}">
                  <a16:creationId xmlns:a16="http://schemas.microsoft.com/office/drawing/2014/main" id="{EDA017C9-F417-475C-975E-F0453706C9C1}"/>
                </a:ext>
              </a:extLst>
            </p:cNvPr>
            <p:cNvSpPr txBox="1"/>
            <p:nvPr/>
          </p:nvSpPr>
          <p:spPr>
            <a:xfrm>
              <a:off x="1492386" y="3376816"/>
              <a:ext cx="44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d</a:t>
              </a:r>
              <a:r>
                <a:rPr lang="en-US" i="1" dirty="0" err="1"/>
                <a:t>r</a:t>
              </a:r>
              <a:endParaRPr lang="de-DE" i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5" name="Textfeld 154">
                  <a:extLst>
                    <a:ext uri="{FF2B5EF4-FFF2-40B4-BE49-F238E27FC236}">
                      <a16:creationId xmlns:a16="http://schemas.microsoft.com/office/drawing/2014/main" id="{377F290E-94CB-496A-93D6-116314E703E0}"/>
                    </a:ext>
                  </a:extLst>
                </p:cNvPr>
                <p:cNvSpPr txBox="1"/>
                <p:nvPr/>
              </p:nvSpPr>
              <p:spPr>
                <a:xfrm>
                  <a:off x="1711421" y="3058614"/>
                  <a:ext cx="28682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  <m:t>𝑗</m:t>
                        </m:r>
                      </m:oMath>
                    </m:oMathPara>
                  </a14:m>
                  <a:endParaRPr lang="de-DE" i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55" name="Textfeld 154">
                  <a:extLst>
                    <a:ext uri="{FF2B5EF4-FFF2-40B4-BE49-F238E27FC236}">
                      <a16:creationId xmlns:a16="http://schemas.microsoft.com/office/drawing/2014/main" id="{377F290E-94CB-496A-93D6-116314E703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11421" y="3058614"/>
                  <a:ext cx="286829" cy="369332"/>
                </a:xfrm>
                <a:prstGeom prst="rect">
                  <a:avLst/>
                </a:prstGeom>
                <a:blipFill>
                  <a:blip r:embed="rId11"/>
                  <a:stretch>
                    <a:fillRect l="-4255" r="-2128" b="-13333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6" name="Textfeld 155">
                  <a:extLst>
                    <a:ext uri="{FF2B5EF4-FFF2-40B4-BE49-F238E27FC236}">
                      <a16:creationId xmlns:a16="http://schemas.microsoft.com/office/drawing/2014/main" id="{79E376BB-AB75-4E52-8E2F-F3B1D2D1F9DF}"/>
                    </a:ext>
                  </a:extLst>
                </p:cNvPr>
                <p:cNvSpPr txBox="1"/>
                <p:nvPr/>
              </p:nvSpPr>
              <p:spPr>
                <a:xfrm>
                  <a:off x="1040941" y="2912003"/>
                  <a:ext cx="28682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  <m:t>𝑖</m:t>
                        </m:r>
                      </m:oMath>
                    </m:oMathPara>
                  </a14:m>
                  <a:endParaRPr lang="de-DE" i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6" name="Textfeld 155">
                  <a:extLst>
                    <a:ext uri="{FF2B5EF4-FFF2-40B4-BE49-F238E27FC236}">
                      <a16:creationId xmlns:a16="http://schemas.microsoft.com/office/drawing/2014/main" id="{79E376BB-AB75-4E52-8E2F-F3B1D2D1F9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0941" y="2912003"/>
                  <a:ext cx="286829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057051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4" grpId="1"/>
      <p:bldP spid="39" grpId="0"/>
      <p:bldP spid="39" grpId="1"/>
      <p:bldP spid="9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hteck 25">
            <a:extLst>
              <a:ext uri="{FF2B5EF4-FFF2-40B4-BE49-F238E27FC236}">
                <a16:creationId xmlns:a16="http://schemas.microsoft.com/office/drawing/2014/main" id="{94B419D4-E3CC-4769-B1DE-0D0F34C428BD}"/>
              </a:ext>
            </a:extLst>
          </p:cNvPr>
          <p:cNvSpPr/>
          <p:nvPr/>
        </p:nvSpPr>
        <p:spPr>
          <a:xfrm>
            <a:off x="5302250" y="3126946"/>
            <a:ext cx="2387600" cy="806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25521" y="771550"/>
            <a:ext cx="846989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 anchorCtr="0">
            <a:noAutofit/>
          </a:bodyPr>
          <a:lstStyle/>
          <a:p>
            <a:pPr eaLnBrk="0" hangingPunct="0"/>
            <a:r>
              <a:rPr lang="de-DE" sz="2400" b="1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Kontaktionenpaare</a:t>
            </a:r>
            <a:endParaRPr lang="de-DE" sz="1000" dirty="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D193AA8E-6FB8-4A82-B723-95E963EB24A5}"/>
              </a:ext>
            </a:extLst>
          </p:cNvPr>
          <p:cNvCxnSpPr>
            <a:cxnSpLocks/>
          </p:cNvCxnSpPr>
          <p:nvPr/>
        </p:nvCxnSpPr>
        <p:spPr>
          <a:xfrm>
            <a:off x="3472514" y="1021843"/>
            <a:ext cx="457392" cy="0"/>
          </a:xfrm>
          <a:prstGeom prst="straightConnector1">
            <a:avLst/>
          </a:prstGeom>
          <a:ln w="19050">
            <a:solidFill>
              <a:srgbClr val="003C5A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" name="Grafik 9">
            <a:extLst>
              <a:ext uri="{FF2B5EF4-FFF2-40B4-BE49-F238E27FC236}">
                <a16:creationId xmlns:a16="http://schemas.microsoft.com/office/drawing/2014/main" id="{0E0BB2E8-B95C-4CB3-9588-09C12239F35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8661" t="41650" r="12300" b="39236"/>
          <a:stretch/>
        </p:blipFill>
        <p:spPr>
          <a:xfrm>
            <a:off x="3051494" y="849696"/>
            <a:ext cx="342684" cy="344066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C262B2D5-8296-43EC-93F0-0F65C07CB02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556" t="5621" r="42440" b="53721"/>
          <a:stretch/>
        </p:blipFill>
        <p:spPr>
          <a:xfrm>
            <a:off x="3997930" y="656959"/>
            <a:ext cx="720080" cy="731846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BC8EEBD1-88E3-4746-822E-F37DBE9E9C14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208086" y="1035018"/>
            <a:ext cx="5288291" cy="3599695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B5691B88-F4C2-4CB0-9922-E3D2EF7477F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622845" y="1372339"/>
            <a:ext cx="4632981" cy="3240000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AE0C28EF-4E78-4A7C-BF34-5D92C5400D6B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622845" y="1372339"/>
            <a:ext cx="4632981" cy="3240000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6312FCD5-5795-4661-9015-AD50E7445830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622845" y="1372339"/>
            <a:ext cx="4632981" cy="3240000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98124214-B625-4211-A821-318C172FD346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622845" y="1372339"/>
            <a:ext cx="4632981" cy="3240000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5238A4CA-D443-4FDD-BC50-988624470AD4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622845" y="1372339"/>
            <a:ext cx="4632981" cy="3240000"/>
          </a:xfrm>
          <a:prstGeom prst="rect">
            <a:avLst/>
          </a:prstGeom>
        </p:spPr>
      </p:pic>
      <p:sp>
        <p:nvSpPr>
          <p:cNvPr id="29" name="Rectangle 6">
            <a:extLst>
              <a:ext uri="{FF2B5EF4-FFF2-40B4-BE49-F238E27FC236}">
                <a16:creationId xmlns:a16="http://schemas.microsoft.com/office/drawing/2014/main" id="{C783C6D8-B7D0-4379-B31D-08B6F989FAFE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6788857" y="2050181"/>
            <a:ext cx="1037976" cy="24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 anchorCtr="0">
            <a:noAutofit/>
          </a:bodyPr>
          <a:lstStyle/>
          <a:p>
            <a:pPr eaLnBrk="0" hangingPunct="0"/>
            <a:r>
              <a:rPr lang="de-DE" sz="950" dirty="0" err="1">
                <a:latin typeface="Arial" pitchFamily="34" charset="0"/>
                <a:ea typeface="Segoe UI Symbol" pitchFamily="34" charset="0"/>
                <a:cs typeface="Arial" pitchFamily="34" charset="0"/>
              </a:rPr>
              <a:t>Sol.lim</a:t>
            </a:r>
            <a:r>
              <a:rPr lang="de-DE" sz="950" dirty="0">
                <a:latin typeface="Arial" pitchFamily="34" charset="0"/>
                <a:ea typeface="Segoe UI Symbol" pitchFamily="34" charset="0"/>
                <a:cs typeface="Arial" pitchFamily="34" charset="0"/>
              </a:rPr>
              <a:t> Mester</a:t>
            </a:r>
            <a:r>
              <a:rPr lang="de-DE" sz="950" baseline="30000" dirty="0">
                <a:latin typeface="Arial" pitchFamily="34" charset="0"/>
                <a:ea typeface="Segoe UI Symbol" pitchFamily="34" charset="0"/>
                <a:cs typeface="Arial" pitchFamily="34" charset="0"/>
              </a:rPr>
              <a:t>[1]</a:t>
            </a:r>
            <a:endParaRPr lang="en-GB" sz="950" baseline="30000" dirty="0"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  <p:sp>
        <p:nvSpPr>
          <p:cNvPr id="34" name="Rectangle 6">
            <a:extLst>
              <a:ext uri="{FF2B5EF4-FFF2-40B4-BE49-F238E27FC236}">
                <a16:creationId xmlns:a16="http://schemas.microsoft.com/office/drawing/2014/main" id="{36CB19F1-EC63-480F-A354-C2AF1C91C8DC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7248958" y="2006358"/>
            <a:ext cx="1037979" cy="24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 anchorCtr="0">
            <a:noAutofit/>
          </a:bodyPr>
          <a:lstStyle/>
          <a:p>
            <a:pPr eaLnBrk="0" hangingPunct="0"/>
            <a:r>
              <a:rPr lang="de-DE" sz="950" dirty="0">
                <a:latin typeface="Arial" pitchFamily="34" charset="0"/>
                <a:ea typeface="Segoe UI Symbol" pitchFamily="34" charset="0"/>
                <a:cs typeface="Arial" pitchFamily="34" charset="0"/>
              </a:rPr>
              <a:t>Ionenpaarregel</a:t>
            </a:r>
            <a:endParaRPr lang="en-GB" sz="950" baseline="30000" dirty="0"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  <p:sp>
        <p:nvSpPr>
          <p:cNvPr id="35" name="Rectangle 6">
            <a:extLst>
              <a:ext uri="{FF2B5EF4-FFF2-40B4-BE49-F238E27FC236}">
                <a16:creationId xmlns:a16="http://schemas.microsoft.com/office/drawing/2014/main" id="{A6116872-9AB7-4331-A2B4-BE868EEA2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916" y="1316877"/>
            <a:ext cx="3346041" cy="33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 anchorCtr="0">
            <a:noAutofit/>
          </a:bodyPr>
          <a:lstStyle/>
          <a:p>
            <a:pPr algn="ctr" eaLnBrk="0" hangingPunct="0"/>
            <a:r>
              <a:rPr lang="de-DE" sz="16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RDVH</a:t>
            </a:r>
            <a:endParaRPr lang="de-DE" sz="1600" baseline="30000" dirty="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  <p:sp>
        <p:nvSpPr>
          <p:cNvPr id="36" name="Rectangle 6">
            <a:extLst>
              <a:ext uri="{FF2B5EF4-FFF2-40B4-BE49-F238E27FC236}">
                <a16:creationId xmlns:a16="http://schemas.microsoft.com/office/drawing/2014/main" id="{3171B8FD-7C2A-40D8-9FF3-F59AF267CF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3429" y="1316876"/>
            <a:ext cx="3346041" cy="33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 anchorCtr="0">
            <a:noAutofit/>
          </a:bodyPr>
          <a:lstStyle/>
          <a:p>
            <a:pPr algn="ctr" eaLnBrk="0" hangingPunct="0"/>
            <a:r>
              <a:rPr lang="de-DE" sz="16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RDVH</a:t>
            </a:r>
            <a:endParaRPr lang="de-DE" sz="1600" baseline="30000" dirty="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E91A4528-40B1-4920-ADF8-05FAFA9C9C7B}"/>
              </a:ext>
            </a:extLst>
          </p:cNvPr>
          <p:cNvSpPr txBox="1"/>
          <p:nvPr/>
        </p:nvSpPr>
        <p:spPr>
          <a:xfrm>
            <a:off x="125521" y="4912668"/>
            <a:ext cx="876695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/>
            <a:r>
              <a:rPr lang="en-US" sz="9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[1] </a:t>
            </a:r>
            <a:r>
              <a:rPr lang="en-US" sz="900" dirty="0" err="1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Mester</a:t>
            </a:r>
            <a:r>
              <a:rPr lang="en-US" sz="9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, Zoltan; </a:t>
            </a:r>
            <a:r>
              <a:rPr lang="en-US" sz="900" dirty="0" err="1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Panagiotopoulos</a:t>
            </a:r>
            <a:r>
              <a:rPr lang="en-US" sz="9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, </a:t>
            </a:r>
            <a:r>
              <a:rPr lang="en-US" sz="900" dirty="0" err="1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Athanassios</a:t>
            </a:r>
            <a:r>
              <a:rPr lang="en-US" sz="9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 Z., Journal of Chemical Physics, (2015), 143 (4), 44505</a:t>
            </a:r>
          </a:p>
        </p:txBody>
      </p:sp>
      <p:sp>
        <p:nvSpPr>
          <p:cNvPr id="38" name="Rectangle 6">
            <a:extLst>
              <a:ext uri="{FF2B5EF4-FFF2-40B4-BE49-F238E27FC236}">
                <a16:creationId xmlns:a16="http://schemas.microsoft.com/office/drawing/2014/main" id="{67AC8215-6A96-4A08-8585-934039C1D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8566" y="2932292"/>
            <a:ext cx="1319658" cy="24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 anchorCtr="0">
            <a:noAutofit/>
          </a:bodyPr>
          <a:lstStyle/>
          <a:p>
            <a:pPr eaLnBrk="0" hangingPunct="0"/>
            <a:r>
              <a:rPr lang="de-DE" sz="950" dirty="0">
                <a:latin typeface="Arial" pitchFamily="34" charset="0"/>
                <a:ea typeface="Segoe UI Symbol" pitchFamily="34" charset="0"/>
                <a:cs typeface="Arial" pitchFamily="34" charset="0"/>
              </a:rPr>
              <a:t>Regel von Benavides</a:t>
            </a:r>
            <a:endParaRPr lang="en-GB" sz="950" baseline="30000" dirty="0"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8924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6" grpId="1" animBg="1"/>
      <p:bldP spid="29" grpId="0"/>
      <p:bldP spid="34" grpId="0"/>
      <p:bldP spid="37" grpId="0"/>
      <p:bldP spid="3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25521" y="771550"/>
            <a:ext cx="846989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 anchorCtr="0">
            <a:noAutofit/>
          </a:bodyPr>
          <a:lstStyle/>
          <a:p>
            <a:pPr eaLnBrk="0" hangingPunct="0"/>
            <a:r>
              <a:rPr lang="de-DE" sz="2400" b="1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Kontaktionenpaare</a:t>
            </a:r>
            <a:endParaRPr lang="de-DE" sz="1000" dirty="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D193AA8E-6FB8-4A82-B723-95E963EB24A5}"/>
              </a:ext>
            </a:extLst>
          </p:cNvPr>
          <p:cNvCxnSpPr>
            <a:cxnSpLocks/>
          </p:cNvCxnSpPr>
          <p:nvPr/>
        </p:nvCxnSpPr>
        <p:spPr>
          <a:xfrm>
            <a:off x="3470520" y="1022332"/>
            <a:ext cx="457392" cy="0"/>
          </a:xfrm>
          <a:prstGeom prst="straightConnector1">
            <a:avLst/>
          </a:prstGeom>
          <a:ln w="19050">
            <a:solidFill>
              <a:srgbClr val="003C5A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" name="Grafik 9">
            <a:extLst>
              <a:ext uri="{FF2B5EF4-FFF2-40B4-BE49-F238E27FC236}">
                <a16:creationId xmlns:a16="http://schemas.microsoft.com/office/drawing/2014/main" id="{0E0BB2E8-B95C-4CB3-9588-09C12239F35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8661" t="41650" r="12300" b="39236"/>
          <a:stretch/>
        </p:blipFill>
        <p:spPr>
          <a:xfrm>
            <a:off x="3049500" y="850185"/>
            <a:ext cx="342684" cy="344066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C262B2D5-8296-43EC-93F0-0F65C07CB02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556" t="5621" r="42440" b="53721"/>
          <a:stretch/>
        </p:blipFill>
        <p:spPr>
          <a:xfrm>
            <a:off x="3995936" y="657448"/>
            <a:ext cx="720080" cy="731846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FA6E72CE-D12A-4F2C-8114-BB7CAD62BC7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178313" y="1531110"/>
            <a:ext cx="3346041" cy="23400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01BE320A-EBAA-4F6F-889A-529B1B9CA60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80920" y="1531110"/>
            <a:ext cx="3346041" cy="2340000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AAF39E5A-2E2C-4308-A7F6-5A808DBF7D62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940151" y="1531110"/>
            <a:ext cx="3346041" cy="2340000"/>
          </a:xfrm>
          <a:prstGeom prst="rect">
            <a:avLst/>
          </a:prstGeom>
        </p:spPr>
      </p:pic>
      <p:sp>
        <p:nvSpPr>
          <p:cNvPr id="17" name="Rectangle 6">
            <a:extLst>
              <a:ext uri="{FF2B5EF4-FFF2-40B4-BE49-F238E27FC236}">
                <a16:creationId xmlns:a16="http://schemas.microsoft.com/office/drawing/2014/main" id="{FB37A778-53B3-4BE7-8673-60FE26B2C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78314" y="1419623"/>
            <a:ext cx="3346041" cy="33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 anchorCtr="0">
            <a:noAutofit/>
          </a:bodyPr>
          <a:lstStyle/>
          <a:p>
            <a:pPr algn="ctr" eaLnBrk="0" hangingPunct="0"/>
            <a:r>
              <a:rPr lang="de-DE" sz="16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RDVH</a:t>
            </a:r>
            <a:endParaRPr lang="de-DE" sz="1600" baseline="30000" dirty="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  <p:sp>
        <p:nvSpPr>
          <p:cNvPr id="18" name="Rectangle 6">
            <a:extLst>
              <a:ext uri="{FF2B5EF4-FFF2-40B4-BE49-F238E27FC236}">
                <a16:creationId xmlns:a16="http://schemas.microsoft.com/office/drawing/2014/main" id="{80EDA744-320B-40B5-A50F-E545E33EA7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0919" y="1419622"/>
            <a:ext cx="3346041" cy="33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 anchorCtr="0">
            <a:noAutofit/>
          </a:bodyPr>
          <a:lstStyle/>
          <a:p>
            <a:pPr algn="ctr" eaLnBrk="0" hangingPunct="0"/>
            <a:r>
              <a:rPr lang="de-DE" sz="16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JC</a:t>
            </a:r>
            <a:endParaRPr lang="de-DE" sz="1600" baseline="30000" dirty="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  <p:sp>
        <p:nvSpPr>
          <p:cNvPr id="19" name="Rectangle 6">
            <a:extLst>
              <a:ext uri="{FF2B5EF4-FFF2-40B4-BE49-F238E27FC236}">
                <a16:creationId xmlns:a16="http://schemas.microsoft.com/office/drawing/2014/main" id="{B5DC0DA6-BB57-4711-87FC-9FE4534FD7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151" y="1419622"/>
            <a:ext cx="3346041" cy="33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 anchorCtr="0">
            <a:noAutofit/>
          </a:bodyPr>
          <a:lstStyle/>
          <a:p>
            <a:pPr algn="ctr" eaLnBrk="0" hangingPunct="0"/>
            <a:r>
              <a:rPr lang="de-DE" sz="16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SD</a:t>
            </a:r>
            <a:endParaRPr lang="de-DE" sz="1600" baseline="30000" dirty="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D72417AB-5780-4FAD-8F1A-4F77958485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152" y="3687426"/>
            <a:ext cx="1998208" cy="367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 anchorCtr="0">
            <a:noAutofit/>
          </a:bodyPr>
          <a:lstStyle/>
          <a:p>
            <a:pPr marL="180000" indent="-180000" eaLnBrk="0" hangingPunct="0">
              <a:buFont typeface="Wingdings" panose="05000000000000000000" pitchFamily="2" charset="2"/>
              <a:buChar char="Ø"/>
            </a:pPr>
            <a:r>
              <a:rPr lang="de-DE" sz="16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gute Abschätzung</a:t>
            </a:r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id="{15C599D2-5394-4FAD-8CA3-46B49F32FB86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1356883" y="1980036"/>
            <a:ext cx="829759" cy="24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 anchorCtr="0">
            <a:noAutofit/>
          </a:bodyPr>
          <a:lstStyle/>
          <a:p>
            <a:pPr eaLnBrk="0" hangingPunct="0"/>
            <a:r>
              <a:rPr lang="de-DE" sz="700" dirty="0" err="1">
                <a:latin typeface="Arial" pitchFamily="34" charset="0"/>
                <a:ea typeface="Segoe UI Symbol" pitchFamily="34" charset="0"/>
                <a:cs typeface="Arial" pitchFamily="34" charset="0"/>
              </a:rPr>
              <a:t>Sol.lim</a:t>
            </a:r>
            <a:r>
              <a:rPr lang="de-DE" sz="700" dirty="0">
                <a:latin typeface="Arial" pitchFamily="34" charset="0"/>
                <a:ea typeface="Segoe UI Symbol" pitchFamily="34" charset="0"/>
                <a:cs typeface="Arial" pitchFamily="34" charset="0"/>
              </a:rPr>
              <a:t> Mester</a:t>
            </a:r>
            <a:r>
              <a:rPr lang="de-DE" sz="700" baseline="30000" dirty="0">
                <a:latin typeface="Arial" pitchFamily="34" charset="0"/>
                <a:ea typeface="Segoe UI Symbol" pitchFamily="34" charset="0"/>
                <a:cs typeface="Arial" pitchFamily="34" charset="0"/>
              </a:rPr>
              <a:t>[1]</a:t>
            </a:r>
            <a:endParaRPr lang="en-GB" sz="700" baseline="30000" dirty="0"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FB9946BE-6E38-4BD5-ACCF-5F43837935F7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1694101" y="1960355"/>
            <a:ext cx="829760" cy="24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 anchorCtr="0">
            <a:noAutofit/>
          </a:bodyPr>
          <a:lstStyle/>
          <a:p>
            <a:pPr eaLnBrk="0" hangingPunct="0"/>
            <a:r>
              <a:rPr lang="de-DE" sz="700" dirty="0">
                <a:latin typeface="Arial" pitchFamily="34" charset="0"/>
                <a:ea typeface="Segoe UI Symbol" pitchFamily="34" charset="0"/>
                <a:cs typeface="Arial" pitchFamily="34" charset="0"/>
              </a:rPr>
              <a:t>Ionenpaarregel</a:t>
            </a:r>
            <a:endParaRPr lang="en-GB" sz="700" baseline="30000" dirty="0"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  <p:sp>
        <p:nvSpPr>
          <p:cNvPr id="36" name="Rectangle 6">
            <a:extLst>
              <a:ext uri="{FF2B5EF4-FFF2-40B4-BE49-F238E27FC236}">
                <a16:creationId xmlns:a16="http://schemas.microsoft.com/office/drawing/2014/main" id="{C5DA1F89-F18C-4581-9033-CCDE076A7AD7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314625" y="1980035"/>
            <a:ext cx="829759" cy="24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 anchorCtr="0">
            <a:noAutofit/>
          </a:bodyPr>
          <a:lstStyle/>
          <a:p>
            <a:pPr eaLnBrk="0" hangingPunct="0"/>
            <a:r>
              <a:rPr lang="de-DE" sz="700" dirty="0" err="1">
                <a:latin typeface="Arial" pitchFamily="34" charset="0"/>
                <a:ea typeface="Segoe UI Symbol" pitchFamily="34" charset="0"/>
                <a:cs typeface="Arial" pitchFamily="34" charset="0"/>
              </a:rPr>
              <a:t>Sol.lim</a:t>
            </a:r>
            <a:r>
              <a:rPr lang="de-DE" sz="700" dirty="0">
                <a:latin typeface="Arial" pitchFamily="34" charset="0"/>
                <a:ea typeface="Segoe UI Symbol" pitchFamily="34" charset="0"/>
                <a:cs typeface="Arial" pitchFamily="34" charset="0"/>
              </a:rPr>
              <a:t> Mester</a:t>
            </a:r>
            <a:r>
              <a:rPr lang="de-DE" sz="700" baseline="30000" dirty="0">
                <a:latin typeface="Arial" pitchFamily="34" charset="0"/>
                <a:ea typeface="Segoe UI Symbol" pitchFamily="34" charset="0"/>
                <a:cs typeface="Arial" pitchFamily="34" charset="0"/>
              </a:rPr>
              <a:t>[1]</a:t>
            </a:r>
            <a:endParaRPr lang="en-GB" sz="700" baseline="30000" dirty="0"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  <p:sp>
        <p:nvSpPr>
          <p:cNvPr id="37" name="Rectangle 6">
            <a:extLst>
              <a:ext uri="{FF2B5EF4-FFF2-40B4-BE49-F238E27FC236}">
                <a16:creationId xmlns:a16="http://schemas.microsoft.com/office/drawing/2014/main" id="{802148D6-CB67-45DA-8FA4-6929DD54846B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6374621" y="1980036"/>
            <a:ext cx="829759" cy="24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 anchorCtr="0">
            <a:noAutofit/>
          </a:bodyPr>
          <a:lstStyle/>
          <a:p>
            <a:pPr eaLnBrk="0" hangingPunct="0"/>
            <a:r>
              <a:rPr lang="de-DE" sz="700" dirty="0" err="1">
                <a:latin typeface="Arial" pitchFamily="34" charset="0"/>
                <a:ea typeface="Segoe UI Symbol" pitchFamily="34" charset="0"/>
                <a:cs typeface="Arial" pitchFamily="34" charset="0"/>
              </a:rPr>
              <a:t>Sol.lim</a:t>
            </a:r>
            <a:r>
              <a:rPr lang="de-DE" sz="700" dirty="0">
                <a:latin typeface="Arial" pitchFamily="34" charset="0"/>
                <a:ea typeface="Segoe UI Symbol" pitchFamily="34" charset="0"/>
                <a:cs typeface="Arial" pitchFamily="34" charset="0"/>
              </a:rPr>
              <a:t> Mester</a:t>
            </a:r>
            <a:r>
              <a:rPr lang="de-DE" sz="700" baseline="30000" dirty="0">
                <a:latin typeface="Arial" pitchFamily="34" charset="0"/>
                <a:ea typeface="Segoe UI Symbol" pitchFamily="34" charset="0"/>
                <a:cs typeface="Arial" pitchFamily="34" charset="0"/>
              </a:rPr>
              <a:t>[1]</a:t>
            </a:r>
            <a:endParaRPr lang="en-GB" sz="700" baseline="30000" dirty="0"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  <p:sp>
        <p:nvSpPr>
          <p:cNvPr id="38" name="Rectangle 6">
            <a:extLst>
              <a:ext uri="{FF2B5EF4-FFF2-40B4-BE49-F238E27FC236}">
                <a16:creationId xmlns:a16="http://schemas.microsoft.com/office/drawing/2014/main" id="{BF3C0374-75F3-45B2-BDF8-74E2BD801341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8106117" y="1960355"/>
            <a:ext cx="829760" cy="24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 anchorCtr="0">
            <a:noAutofit/>
          </a:bodyPr>
          <a:lstStyle/>
          <a:p>
            <a:pPr eaLnBrk="0" hangingPunct="0"/>
            <a:r>
              <a:rPr lang="de-DE" sz="700" dirty="0">
                <a:latin typeface="Arial" pitchFamily="34" charset="0"/>
                <a:ea typeface="Segoe UI Symbol" pitchFamily="34" charset="0"/>
                <a:cs typeface="Arial" pitchFamily="34" charset="0"/>
              </a:rPr>
              <a:t>Ionenpaarregel</a:t>
            </a:r>
            <a:endParaRPr lang="en-GB" sz="700" baseline="30000" dirty="0"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E89F32B5-062A-482A-BECB-26B92EDDACCE}"/>
              </a:ext>
            </a:extLst>
          </p:cNvPr>
          <p:cNvSpPr txBox="1"/>
          <p:nvPr/>
        </p:nvSpPr>
        <p:spPr>
          <a:xfrm>
            <a:off x="125520" y="4912668"/>
            <a:ext cx="876695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/>
            <a:r>
              <a:rPr lang="en-US" sz="9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[1] </a:t>
            </a:r>
            <a:r>
              <a:rPr lang="en-US" sz="900" dirty="0" err="1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Mester</a:t>
            </a:r>
            <a:r>
              <a:rPr lang="en-US" sz="9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, Zoltan; </a:t>
            </a:r>
            <a:r>
              <a:rPr lang="en-US" sz="900" dirty="0" err="1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Panagiotopoulos</a:t>
            </a:r>
            <a:r>
              <a:rPr lang="en-US" sz="9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, </a:t>
            </a:r>
            <a:r>
              <a:rPr lang="en-US" sz="900" dirty="0" err="1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Athanassios</a:t>
            </a:r>
            <a:r>
              <a:rPr lang="en-US" sz="9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 Z., Journal of Chemical Physics, (2015), 143 (4), 44505</a:t>
            </a:r>
          </a:p>
        </p:txBody>
      </p:sp>
      <p:sp>
        <p:nvSpPr>
          <p:cNvPr id="22" name="Rectangle 6">
            <a:extLst>
              <a:ext uri="{FF2B5EF4-FFF2-40B4-BE49-F238E27FC236}">
                <a16:creationId xmlns:a16="http://schemas.microsoft.com/office/drawing/2014/main" id="{533A2151-FCD4-4E44-AD13-E013C8632C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4884" y="3687426"/>
            <a:ext cx="2354500" cy="367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 anchorCtr="0">
            <a:noAutofit/>
          </a:bodyPr>
          <a:lstStyle/>
          <a:p>
            <a:pPr marL="180000" indent="-180000" eaLnBrk="0" hangingPunct="0">
              <a:buFont typeface="Wingdings" panose="05000000000000000000" pitchFamily="2" charset="2"/>
              <a:buChar char="Ø"/>
            </a:pPr>
            <a:r>
              <a:rPr lang="de-DE" sz="16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starke Überschätzung</a:t>
            </a:r>
          </a:p>
        </p:txBody>
      </p:sp>
      <p:sp>
        <p:nvSpPr>
          <p:cNvPr id="26" name="Rectangle 6">
            <a:extLst>
              <a:ext uri="{FF2B5EF4-FFF2-40B4-BE49-F238E27FC236}">
                <a16:creationId xmlns:a16="http://schemas.microsoft.com/office/drawing/2014/main" id="{A2BDC5DF-7218-4610-88DC-89A0C94E83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8452" y="3671532"/>
            <a:ext cx="1817783" cy="367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 anchorCtr="0">
            <a:noAutofit/>
          </a:bodyPr>
          <a:lstStyle/>
          <a:p>
            <a:pPr marL="180000" indent="-180000" eaLnBrk="0" hangingPunct="0">
              <a:buFont typeface="Wingdings" panose="05000000000000000000" pitchFamily="2" charset="2"/>
              <a:buChar char="Ø"/>
            </a:pPr>
            <a:r>
              <a:rPr lang="de-DE" sz="16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Überschätzung</a:t>
            </a:r>
          </a:p>
        </p:txBody>
      </p: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5CAB0299-4DFA-49D0-8639-45FE236FD9E3}"/>
              </a:ext>
            </a:extLst>
          </p:cNvPr>
          <p:cNvCxnSpPr>
            <a:cxnSpLocks/>
          </p:cNvCxnSpPr>
          <p:nvPr/>
        </p:nvCxnSpPr>
        <p:spPr>
          <a:xfrm>
            <a:off x="5568135" y="1900565"/>
            <a:ext cx="216024" cy="0"/>
          </a:xfrm>
          <a:prstGeom prst="straightConnector1">
            <a:avLst/>
          </a:prstGeom>
          <a:ln>
            <a:solidFill>
              <a:srgbClr val="0128E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505F9E6A-7D7F-4D83-A934-F1A8FF114D42}"/>
              </a:ext>
            </a:extLst>
          </p:cNvPr>
          <p:cNvCxnSpPr>
            <a:cxnSpLocks/>
          </p:cNvCxnSpPr>
          <p:nvPr/>
        </p:nvCxnSpPr>
        <p:spPr>
          <a:xfrm>
            <a:off x="5570913" y="1756549"/>
            <a:ext cx="0" cy="288032"/>
          </a:xfrm>
          <a:prstGeom prst="line">
            <a:avLst/>
          </a:prstGeom>
          <a:ln>
            <a:solidFill>
              <a:srgbClr val="0128E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6">
            <a:extLst>
              <a:ext uri="{FF2B5EF4-FFF2-40B4-BE49-F238E27FC236}">
                <a16:creationId xmlns:a16="http://schemas.microsoft.com/office/drawing/2014/main" id="{8C9ED795-3EFC-4CDC-A1D7-D40CBD6610CF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5436394" y="1947743"/>
            <a:ext cx="829760" cy="24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 anchorCtr="0">
            <a:noAutofit/>
          </a:bodyPr>
          <a:lstStyle/>
          <a:p>
            <a:pPr eaLnBrk="0" hangingPunct="0"/>
            <a:r>
              <a:rPr lang="de-DE" sz="700" dirty="0">
                <a:latin typeface="Arial" pitchFamily="34" charset="0"/>
                <a:ea typeface="Segoe UI Symbol" pitchFamily="34" charset="0"/>
                <a:cs typeface="Arial" pitchFamily="34" charset="0"/>
              </a:rPr>
              <a:t>Ionenpaarregel</a:t>
            </a:r>
            <a:endParaRPr lang="en-GB" sz="700" baseline="30000" dirty="0"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1673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36" grpId="0"/>
      <p:bldP spid="37" grpId="0"/>
      <p:bldP spid="38" grpId="0"/>
      <p:bldP spid="22" grpId="0"/>
      <p:bldP spid="2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29386" y="771550"/>
            <a:ext cx="846989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 anchorCtr="0">
            <a:noAutofit/>
          </a:bodyPr>
          <a:lstStyle/>
          <a:p>
            <a:pPr eaLnBrk="0" hangingPunct="0"/>
            <a:r>
              <a:rPr lang="de-DE" sz="2400" b="1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Clusteranalyse </a:t>
            </a:r>
            <a:endParaRPr lang="de-DE" sz="1000" dirty="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  <p:cxnSp>
        <p:nvCxnSpPr>
          <p:cNvPr id="61" name="Gerade Verbindung mit Pfeil 60">
            <a:extLst>
              <a:ext uri="{FF2B5EF4-FFF2-40B4-BE49-F238E27FC236}">
                <a16:creationId xmlns:a16="http://schemas.microsoft.com/office/drawing/2014/main" id="{A40B9B78-A2B0-4407-8480-F4072CFA6C36}"/>
              </a:ext>
            </a:extLst>
          </p:cNvPr>
          <p:cNvCxnSpPr>
            <a:cxnSpLocks/>
          </p:cNvCxnSpPr>
          <p:nvPr/>
        </p:nvCxnSpPr>
        <p:spPr>
          <a:xfrm>
            <a:off x="2838418" y="2894703"/>
            <a:ext cx="438038" cy="0"/>
          </a:xfrm>
          <a:prstGeom prst="straightConnector1">
            <a:avLst/>
          </a:prstGeom>
          <a:ln w="76200">
            <a:solidFill>
              <a:srgbClr val="003C5A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6"/>
              <p:cNvSpPr>
                <a:spLocks noChangeArrowheads="1"/>
              </p:cNvSpPr>
              <p:nvPr/>
            </p:nvSpPr>
            <p:spPr bwMode="auto">
              <a:xfrm>
                <a:off x="2900661" y="4204683"/>
                <a:ext cx="3342676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t" anchorCtr="0">
                <a:noAutofit/>
              </a:bodyPr>
              <a:lstStyle/>
              <a:p>
                <a:pPr algn="ctr" eaLnBrk="0" hangingPunct="0"/>
                <a:r>
                  <a:rPr lang="de-DE" sz="1600" dirty="0" err="1">
                    <a:solidFill>
                      <a:srgbClr val="003C5A"/>
                    </a:solidFill>
                    <a:latin typeface="Arial" pitchFamily="34" charset="0"/>
                    <a:ea typeface="Segoe UI Symbol" pitchFamily="34" charset="0"/>
                    <a:cs typeface="Arial" pitchFamily="34" charset="0"/>
                  </a:rPr>
                  <a:t>Cutoff</a:t>
                </a:r>
                <a:r>
                  <a:rPr lang="de-DE" sz="1600" dirty="0">
                    <a:solidFill>
                      <a:srgbClr val="003C5A"/>
                    </a:solidFill>
                    <a:latin typeface="Arial" pitchFamily="34" charset="0"/>
                    <a:ea typeface="Segoe UI Symbol" pitchFamily="34" charset="0"/>
                    <a:cs typeface="Arial" pitchFamily="34" charset="0"/>
                  </a:rPr>
                  <a:t>-Radius: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600" i="1" smtClean="0">
                            <a:solidFill>
                              <a:srgbClr val="003C5A"/>
                            </a:solidFill>
                            <a:latin typeface="Cambria Math" panose="02040503050406030204" pitchFamily="18" charset="0"/>
                            <a:ea typeface="Segoe UI Symbol" pitchFamily="34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de-DE" sz="1600" b="0" i="1" smtClean="0">
                            <a:solidFill>
                              <a:srgbClr val="003C5A"/>
                            </a:solidFill>
                            <a:latin typeface="Cambria Math" panose="02040503050406030204" pitchFamily="18" charset="0"/>
                            <a:ea typeface="Segoe UI Symbol" pitchFamily="34" charset="0"/>
                            <a:cs typeface="Arial" pitchFamily="34" charset="0"/>
                          </a:rPr>
                          <m:t>𝑟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1600" b="0" i="0" smtClean="0">
                            <a:solidFill>
                              <a:srgbClr val="003C5A"/>
                            </a:solidFill>
                            <a:latin typeface="Cambria Math" panose="02040503050406030204" pitchFamily="18" charset="0"/>
                            <a:ea typeface="Segoe UI Symbol" pitchFamily="34" charset="0"/>
                            <a:cs typeface="Arial" pitchFamily="34" charset="0"/>
                          </a:rPr>
                          <m:t>c</m:t>
                        </m:r>
                      </m:sub>
                    </m:sSub>
                    <m:r>
                      <a:rPr lang="de-DE" sz="1600" b="0" i="1" smtClean="0">
                        <a:solidFill>
                          <a:srgbClr val="003C5A"/>
                        </a:solidFill>
                        <a:latin typeface="Cambria Math" panose="02040503050406030204" pitchFamily="18" charset="0"/>
                        <a:ea typeface="Segoe UI Symbol" pitchFamily="34" charset="0"/>
                        <a:cs typeface="Arial" pitchFamily="34" charset="0"/>
                      </a:rPr>
                      <m:t>=</m:t>
                    </m:r>
                    <m:sSub>
                      <m:sSubPr>
                        <m:ctrlPr>
                          <a:rPr lang="de-DE" sz="1600" i="1">
                            <a:solidFill>
                              <a:srgbClr val="003C5A"/>
                            </a:solidFill>
                            <a:latin typeface="Cambria Math" panose="02040503050406030204" pitchFamily="18" charset="0"/>
                            <a:ea typeface="Segoe UI Symbol" pitchFamily="34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de-DE" sz="1600" i="1">
                            <a:solidFill>
                              <a:srgbClr val="003C5A"/>
                            </a:solidFill>
                            <a:latin typeface="Cambria Math" panose="02040503050406030204" pitchFamily="18" charset="0"/>
                            <a:ea typeface="Segoe UI Symbol" pitchFamily="34" charset="0"/>
                            <a:cs typeface="Arial" pitchFamily="34" charset="0"/>
                          </a:rPr>
                          <m:t>𝑟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1600" b="0" i="0" smtClean="0">
                            <a:solidFill>
                              <a:srgbClr val="003C5A"/>
                            </a:solidFill>
                            <a:latin typeface="Cambria Math" panose="02040503050406030204" pitchFamily="18" charset="0"/>
                            <a:ea typeface="Segoe UI Symbol" pitchFamily="34" charset="0"/>
                            <a:cs typeface="Arial" pitchFamily="34" charset="0"/>
                          </a:rPr>
                          <m:t>min</m:t>
                        </m:r>
                        <m:r>
                          <a:rPr lang="de-DE" sz="1600" b="0" i="0" smtClean="0">
                            <a:solidFill>
                              <a:srgbClr val="003C5A"/>
                            </a:solidFill>
                            <a:latin typeface="Cambria Math" panose="02040503050406030204" pitchFamily="18" charset="0"/>
                            <a:ea typeface="Segoe UI Symbol" pitchFamily="34" charset="0"/>
                            <a:cs typeface="Arial" pitchFamily="34" charset="0"/>
                          </a:rPr>
                          <m:t>,1</m:t>
                        </m:r>
                      </m:sub>
                    </m:sSub>
                  </m:oMath>
                </a14:m>
                <a:endParaRPr lang="de-DE" sz="1600" dirty="0">
                  <a:solidFill>
                    <a:srgbClr val="003C5A"/>
                  </a:solidFill>
                  <a:latin typeface="Arial" pitchFamily="34" charset="0"/>
                  <a:ea typeface="Segoe UI Symbo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11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00661" y="4204683"/>
                <a:ext cx="3342676" cy="338554"/>
              </a:xfrm>
              <a:prstGeom prst="rect">
                <a:avLst/>
              </a:prstGeom>
              <a:blipFill>
                <a:blip r:embed="rId7"/>
                <a:stretch>
                  <a:fillRect t="-5455" b="-2363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6" name="Rechteck 265">
            <a:extLst>
              <a:ext uri="{FF2B5EF4-FFF2-40B4-BE49-F238E27FC236}">
                <a16:creationId xmlns:a16="http://schemas.microsoft.com/office/drawing/2014/main" id="{22BDDDEB-512B-49A5-84BA-091D1D8190AB}"/>
              </a:ext>
            </a:extLst>
          </p:cNvPr>
          <p:cNvSpPr/>
          <p:nvPr/>
        </p:nvSpPr>
        <p:spPr>
          <a:xfrm>
            <a:off x="5092640" y="4265020"/>
            <a:ext cx="775504" cy="2560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2" name="Ausgang">
            <a:hlinkClick r:id="" action="ppaction://media"/>
            <a:extLst>
              <a:ext uri="{FF2B5EF4-FFF2-40B4-BE49-F238E27FC236}">
                <a16:creationId xmlns:a16="http://schemas.microsoft.com/office/drawing/2014/main" id="{1414DADB-30D9-4F2C-BFCF-3D643D6C2AC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8"/>
          <a:srcRect l="22015" r="22072"/>
          <a:stretch/>
        </p:blipFill>
        <p:spPr>
          <a:xfrm>
            <a:off x="433" y="1488327"/>
            <a:ext cx="2862680" cy="2880000"/>
          </a:xfrm>
          <a:prstGeom prst="rect">
            <a:avLst/>
          </a:prstGeom>
        </p:spPr>
      </p:pic>
      <p:sp>
        <p:nvSpPr>
          <p:cNvPr id="66" name="Rectangle 6">
            <a:extLst>
              <a:ext uri="{FF2B5EF4-FFF2-40B4-BE49-F238E27FC236}">
                <a16:creationId xmlns:a16="http://schemas.microsoft.com/office/drawing/2014/main" id="{BB33A0BF-5F60-4509-8363-26FE619DED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8357" y="1275606"/>
            <a:ext cx="154728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 anchorCtr="0">
            <a:noAutofit/>
          </a:bodyPr>
          <a:lstStyle/>
          <a:p>
            <a:pPr eaLnBrk="0" hangingPunct="0"/>
            <a:r>
              <a:rPr lang="de-DE" sz="16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Clusteranalyse</a:t>
            </a:r>
          </a:p>
        </p:txBody>
      </p:sp>
      <p:grpSp>
        <p:nvGrpSpPr>
          <p:cNvPr id="5" name="Gruppieren 1">
            <a:extLst>
              <a:ext uri="{FF2B5EF4-FFF2-40B4-BE49-F238E27FC236}">
                <a16:creationId xmlns:a16="http://schemas.microsoft.com/office/drawing/2014/main" id="{3270722C-45F9-4781-A71B-6516E2EB23B8}"/>
              </a:ext>
            </a:extLst>
          </p:cNvPr>
          <p:cNvGrpSpPr/>
          <p:nvPr/>
        </p:nvGrpSpPr>
        <p:grpSpPr>
          <a:xfrm>
            <a:off x="3393536" y="1780792"/>
            <a:ext cx="2340000" cy="2340000"/>
            <a:chOff x="3398299" y="1780792"/>
            <a:chExt cx="2340000" cy="2340000"/>
          </a:xfrm>
        </p:grpSpPr>
        <p:sp>
          <p:nvSpPr>
            <p:cNvPr id="126" name="Rechteck 125">
              <a:extLst>
                <a:ext uri="{FF2B5EF4-FFF2-40B4-BE49-F238E27FC236}">
                  <a16:creationId xmlns:a16="http://schemas.microsoft.com/office/drawing/2014/main" id="{8DCC6F50-60BC-4ED7-B468-BE32C1AC2662}"/>
                </a:ext>
              </a:extLst>
            </p:cNvPr>
            <p:cNvSpPr/>
            <p:nvPr/>
          </p:nvSpPr>
          <p:spPr>
            <a:xfrm>
              <a:off x="3398299" y="1780792"/>
              <a:ext cx="2340000" cy="2340000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28" name="Ellipse 127">
              <a:extLst>
                <a:ext uri="{FF2B5EF4-FFF2-40B4-BE49-F238E27FC236}">
                  <a16:creationId xmlns:a16="http://schemas.microsoft.com/office/drawing/2014/main" id="{7DA90A91-BFBA-4D31-A22B-2B5D4D6EC443}"/>
                </a:ext>
              </a:extLst>
            </p:cNvPr>
            <p:cNvSpPr/>
            <p:nvPr/>
          </p:nvSpPr>
          <p:spPr>
            <a:xfrm flipH="1">
              <a:off x="3798806" y="3497016"/>
              <a:ext cx="144000" cy="144000"/>
            </a:xfrm>
            <a:prstGeom prst="ellipse">
              <a:avLst/>
            </a:prstGeom>
            <a:solidFill>
              <a:srgbClr val="00FF00"/>
            </a:solidFill>
            <a:ln>
              <a:solidFill>
                <a:srgbClr val="00FF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29" name="Ellipse 128">
              <a:extLst>
                <a:ext uri="{FF2B5EF4-FFF2-40B4-BE49-F238E27FC236}">
                  <a16:creationId xmlns:a16="http://schemas.microsoft.com/office/drawing/2014/main" id="{26371BE9-2E6C-41DB-88AE-4350A87959BA}"/>
                </a:ext>
              </a:extLst>
            </p:cNvPr>
            <p:cNvSpPr/>
            <p:nvPr/>
          </p:nvSpPr>
          <p:spPr>
            <a:xfrm flipH="1">
              <a:off x="3558943" y="3649971"/>
              <a:ext cx="144000" cy="144000"/>
            </a:xfrm>
            <a:prstGeom prst="ellipse">
              <a:avLst/>
            </a:prstGeom>
            <a:solidFill>
              <a:srgbClr val="FF5500"/>
            </a:solidFill>
            <a:ln>
              <a:solidFill>
                <a:srgbClr val="FF55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30" name="Ellipse 129">
              <a:extLst>
                <a:ext uri="{FF2B5EF4-FFF2-40B4-BE49-F238E27FC236}">
                  <a16:creationId xmlns:a16="http://schemas.microsoft.com/office/drawing/2014/main" id="{675D9F6F-2B59-4B03-8158-C70028F5F0EF}"/>
                </a:ext>
              </a:extLst>
            </p:cNvPr>
            <p:cNvSpPr/>
            <p:nvPr/>
          </p:nvSpPr>
          <p:spPr>
            <a:xfrm flipH="1">
              <a:off x="3894874" y="3768746"/>
              <a:ext cx="144000" cy="144000"/>
            </a:xfrm>
            <a:prstGeom prst="ellipse">
              <a:avLst/>
            </a:prstGeom>
            <a:solidFill>
              <a:srgbClr val="FF5500"/>
            </a:solidFill>
            <a:ln>
              <a:solidFill>
                <a:srgbClr val="FF55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31" name="Ellipse 130">
              <a:extLst>
                <a:ext uri="{FF2B5EF4-FFF2-40B4-BE49-F238E27FC236}">
                  <a16:creationId xmlns:a16="http://schemas.microsoft.com/office/drawing/2014/main" id="{3175AA68-B696-4FD3-8A27-66FBE861462B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851920" y="3003798"/>
              <a:ext cx="144000" cy="144000"/>
            </a:xfrm>
            <a:prstGeom prst="ellipse">
              <a:avLst/>
            </a:prstGeom>
            <a:solidFill>
              <a:srgbClr val="00FF00"/>
            </a:solidFill>
            <a:ln>
              <a:solidFill>
                <a:srgbClr val="00FF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32" name="Ellipse 131">
              <a:extLst>
                <a:ext uri="{FF2B5EF4-FFF2-40B4-BE49-F238E27FC236}">
                  <a16:creationId xmlns:a16="http://schemas.microsoft.com/office/drawing/2014/main" id="{A554E0D6-930F-47A3-B87D-3108305BD468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123547" y="3400576"/>
              <a:ext cx="144000" cy="144000"/>
            </a:xfrm>
            <a:prstGeom prst="ellipse">
              <a:avLst/>
            </a:prstGeom>
            <a:solidFill>
              <a:srgbClr val="00FF00"/>
            </a:solidFill>
            <a:ln>
              <a:solidFill>
                <a:srgbClr val="00FF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33" name="Ellipse 132">
              <a:extLst>
                <a:ext uri="{FF2B5EF4-FFF2-40B4-BE49-F238E27FC236}">
                  <a16:creationId xmlns:a16="http://schemas.microsoft.com/office/drawing/2014/main" id="{0AF9B8FA-19A9-41AE-AEB0-6FE9CB7D0BD8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208801" y="3127776"/>
              <a:ext cx="144000" cy="144000"/>
            </a:xfrm>
            <a:prstGeom prst="ellipse">
              <a:avLst/>
            </a:prstGeom>
            <a:solidFill>
              <a:srgbClr val="00FF00"/>
            </a:solidFill>
            <a:ln>
              <a:solidFill>
                <a:srgbClr val="00FF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34" name="Ellipse 133">
              <a:extLst>
                <a:ext uri="{FF2B5EF4-FFF2-40B4-BE49-F238E27FC236}">
                  <a16:creationId xmlns:a16="http://schemas.microsoft.com/office/drawing/2014/main" id="{F3A47A8B-56CD-4CFC-992A-921E275EC188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877154" y="2644222"/>
              <a:ext cx="144000" cy="144000"/>
            </a:xfrm>
            <a:prstGeom prst="ellipse">
              <a:avLst/>
            </a:prstGeom>
            <a:solidFill>
              <a:srgbClr val="FF5500"/>
            </a:solidFill>
            <a:ln>
              <a:solidFill>
                <a:srgbClr val="FF55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35" name="Ellipse 134">
              <a:extLst>
                <a:ext uri="{FF2B5EF4-FFF2-40B4-BE49-F238E27FC236}">
                  <a16:creationId xmlns:a16="http://schemas.microsoft.com/office/drawing/2014/main" id="{83EE6C79-F544-4E35-B7DF-302B06075B4B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179903" y="2461364"/>
              <a:ext cx="144000" cy="144000"/>
            </a:xfrm>
            <a:prstGeom prst="ellipse">
              <a:avLst/>
            </a:prstGeom>
            <a:solidFill>
              <a:srgbClr val="FF5500"/>
            </a:solidFill>
            <a:ln>
              <a:solidFill>
                <a:srgbClr val="FF55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36" name="Ellipse 135">
              <a:extLst>
                <a:ext uri="{FF2B5EF4-FFF2-40B4-BE49-F238E27FC236}">
                  <a16:creationId xmlns:a16="http://schemas.microsoft.com/office/drawing/2014/main" id="{2BDE28ED-8641-4CB8-849C-77ACBD02138B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644008" y="2274678"/>
              <a:ext cx="144000" cy="144000"/>
            </a:xfrm>
            <a:prstGeom prst="ellipse">
              <a:avLst/>
            </a:prstGeom>
            <a:solidFill>
              <a:srgbClr val="FF5500"/>
            </a:solidFill>
            <a:ln>
              <a:solidFill>
                <a:srgbClr val="FF55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37" name="Ellipse 136">
              <a:extLst>
                <a:ext uri="{FF2B5EF4-FFF2-40B4-BE49-F238E27FC236}">
                  <a16:creationId xmlns:a16="http://schemas.microsoft.com/office/drawing/2014/main" id="{5038CB8E-EBD2-4295-988E-0CEEB65F217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949154" y="2083569"/>
              <a:ext cx="144000" cy="144000"/>
            </a:xfrm>
            <a:prstGeom prst="ellipse">
              <a:avLst/>
            </a:prstGeom>
            <a:solidFill>
              <a:srgbClr val="FF5500"/>
            </a:solidFill>
            <a:ln>
              <a:solidFill>
                <a:srgbClr val="FF55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38" name="Ellipse 137">
              <a:extLst>
                <a:ext uri="{FF2B5EF4-FFF2-40B4-BE49-F238E27FC236}">
                  <a16:creationId xmlns:a16="http://schemas.microsoft.com/office/drawing/2014/main" id="{268525FB-79B2-4C90-AA11-41BB94E72619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912495" y="2361609"/>
              <a:ext cx="144000" cy="144000"/>
            </a:xfrm>
            <a:prstGeom prst="ellipse">
              <a:avLst/>
            </a:prstGeom>
            <a:solidFill>
              <a:srgbClr val="00FF00"/>
            </a:solidFill>
            <a:ln>
              <a:solidFill>
                <a:srgbClr val="00FF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41" name="Ellipse 140">
              <a:extLst>
                <a:ext uri="{FF2B5EF4-FFF2-40B4-BE49-F238E27FC236}">
                  <a16:creationId xmlns:a16="http://schemas.microsoft.com/office/drawing/2014/main" id="{1752BD73-DD75-490E-ACFE-2F115D8FDDB3}"/>
                </a:ext>
              </a:extLst>
            </p:cNvPr>
            <p:cNvSpPr/>
            <p:nvPr/>
          </p:nvSpPr>
          <p:spPr>
            <a:xfrm flipH="1">
              <a:off x="3944669" y="3258691"/>
              <a:ext cx="144000" cy="144000"/>
            </a:xfrm>
            <a:prstGeom prst="ellipse">
              <a:avLst/>
            </a:prstGeom>
            <a:solidFill>
              <a:srgbClr val="FF5500"/>
            </a:solidFill>
            <a:ln>
              <a:solidFill>
                <a:srgbClr val="FF55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34" name="Gruppieren 2">
            <a:extLst>
              <a:ext uri="{FF2B5EF4-FFF2-40B4-BE49-F238E27FC236}">
                <a16:creationId xmlns:a16="http://schemas.microsoft.com/office/drawing/2014/main" id="{5460FB65-CA9D-448A-A66D-382840EEC57C}"/>
              </a:ext>
            </a:extLst>
          </p:cNvPr>
          <p:cNvGrpSpPr/>
          <p:nvPr/>
        </p:nvGrpSpPr>
        <p:grpSpPr>
          <a:xfrm>
            <a:off x="3397785" y="1781142"/>
            <a:ext cx="2340000" cy="2340000"/>
            <a:chOff x="413807" y="2011116"/>
            <a:chExt cx="2340000" cy="2340000"/>
          </a:xfrm>
        </p:grpSpPr>
        <p:sp>
          <p:nvSpPr>
            <p:cNvPr id="2" name="Rechteck 1">
              <a:extLst>
                <a:ext uri="{FF2B5EF4-FFF2-40B4-BE49-F238E27FC236}">
                  <a16:creationId xmlns:a16="http://schemas.microsoft.com/office/drawing/2014/main" id="{CCA7E156-DA02-41A9-8F47-A6FBB1004BE3}"/>
                </a:ext>
              </a:extLst>
            </p:cNvPr>
            <p:cNvSpPr/>
            <p:nvPr/>
          </p:nvSpPr>
          <p:spPr>
            <a:xfrm>
              <a:off x="413807" y="2011116"/>
              <a:ext cx="2340000" cy="2340000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AADC6D50-567F-481C-B85A-C9BF093519A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26314" y="3439340"/>
              <a:ext cx="720000" cy="720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85" name="Ellipse 84">
              <a:extLst>
                <a:ext uri="{FF2B5EF4-FFF2-40B4-BE49-F238E27FC236}">
                  <a16:creationId xmlns:a16="http://schemas.microsoft.com/office/drawing/2014/main" id="{983EFC48-11E8-4929-8877-3DC4EB6AB229}"/>
                </a:ext>
              </a:extLst>
            </p:cNvPr>
            <p:cNvSpPr/>
            <p:nvPr/>
          </p:nvSpPr>
          <p:spPr>
            <a:xfrm flipH="1">
              <a:off x="814314" y="3727340"/>
              <a:ext cx="144000" cy="144000"/>
            </a:xfrm>
            <a:prstGeom prst="ellipse">
              <a:avLst/>
            </a:prstGeom>
            <a:solidFill>
              <a:srgbClr val="00FF00"/>
            </a:solidFill>
            <a:ln>
              <a:solidFill>
                <a:srgbClr val="00FF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A2F794AB-4D4D-4B87-A613-FA2716D2E54C}"/>
                </a:ext>
              </a:extLst>
            </p:cNvPr>
            <p:cNvSpPr/>
            <p:nvPr/>
          </p:nvSpPr>
          <p:spPr>
            <a:xfrm flipH="1">
              <a:off x="574451" y="3880295"/>
              <a:ext cx="144000" cy="144000"/>
            </a:xfrm>
            <a:prstGeom prst="ellipse">
              <a:avLst/>
            </a:prstGeom>
            <a:solidFill>
              <a:srgbClr val="FF5500"/>
            </a:solidFill>
            <a:ln>
              <a:solidFill>
                <a:srgbClr val="FF55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69" name="Ellipse 68">
              <a:extLst>
                <a:ext uri="{FF2B5EF4-FFF2-40B4-BE49-F238E27FC236}">
                  <a16:creationId xmlns:a16="http://schemas.microsoft.com/office/drawing/2014/main" id="{46616699-AD67-4B7E-A049-9AF20EE185CD}"/>
                </a:ext>
              </a:extLst>
            </p:cNvPr>
            <p:cNvSpPr/>
            <p:nvPr/>
          </p:nvSpPr>
          <p:spPr>
            <a:xfrm flipH="1">
              <a:off x="910382" y="3999070"/>
              <a:ext cx="144000" cy="144000"/>
            </a:xfrm>
            <a:prstGeom prst="ellipse">
              <a:avLst/>
            </a:prstGeom>
            <a:solidFill>
              <a:srgbClr val="FF5500"/>
            </a:solidFill>
            <a:ln>
              <a:solidFill>
                <a:srgbClr val="FF55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0" name="Ellipse 19">
              <a:extLst>
                <a:ext uri="{FF2B5EF4-FFF2-40B4-BE49-F238E27FC236}">
                  <a16:creationId xmlns:a16="http://schemas.microsoft.com/office/drawing/2014/main" id="{0512210C-90F6-4F72-B50B-F6E0EF4DC7C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67428" y="3234122"/>
              <a:ext cx="144000" cy="144000"/>
            </a:xfrm>
            <a:prstGeom prst="ellipse">
              <a:avLst/>
            </a:prstGeom>
            <a:solidFill>
              <a:srgbClr val="00FF00"/>
            </a:solidFill>
            <a:ln>
              <a:solidFill>
                <a:srgbClr val="00FF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92" name="Ellipse 91">
              <a:extLst>
                <a:ext uri="{FF2B5EF4-FFF2-40B4-BE49-F238E27FC236}">
                  <a16:creationId xmlns:a16="http://schemas.microsoft.com/office/drawing/2014/main" id="{1A4BCB3B-CA07-46BA-B9D2-4038AAAEBFCE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139055" y="3630900"/>
              <a:ext cx="144000" cy="144000"/>
            </a:xfrm>
            <a:prstGeom prst="ellipse">
              <a:avLst/>
            </a:prstGeom>
            <a:solidFill>
              <a:srgbClr val="00FF00"/>
            </a:solidFill>
            <a:ln>
              <a:solidFill>
                <a:srgbClr val="00FF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93" name="Ellipse 92">
              <a:extLst>
                <a:ext uri="{FF2B5EF4-FFF2-40B4-BE49-F238E27FC236}">
                  <a16:creationId xmlns:a16="http://schemas.microsoft.com/office/drawing/2014/main" id="{3B099646-2C70-4912-A258-B752DFE02B6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224309" y="3358100"/>
              <a:ext cx="144000" cy="144000"/>
            </a:xfrm>
            <a:prstGeom prst="ellipse">
              <a:avLst/>
            </a:prstGeom>
            <a:solidFill>
              <a:srgbClr val="00FF00"/>
            </a:solidFill>
            <a:ln>
              <a:solidFill>
                <a:srgbClr val="00FF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04" name="Ellipse 103">
              <a:extLst>
                <a:ext uri="{FF2B5EF4-FFF2-40B4-BE49-F238E27FC236}">
                  <a16:creationId xmlns:a16="http://schemas.microsoft.com/office/drawing/2014/main" id="{2077DFCD-95F1-4271-B83C-DA107A91F10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892662" y="2874098"/>
              <a:ext cx="144000" cy="144000"/>
            </a:xfrm>
            <a:prstGeom prst="ellipse">
              <a:avLst/>
            </a:prstGeom>
            <a:solidFill>
              <a:srgbClr val="FF5500"/>
            </a:solidFill>
            <a:ln>
              <a:solidFill>
                <a:srgbClr val="FF55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05" name="Ellipse 104">
              <a:extLst>
                <a:ext uri="{FF2B5EF4-FFF2-40B4-BE49-F238E27FC236}">
                  <a16:creationId xmlns:a16="http://schemas.microsoft.com/office/drawing/2014/main" id="{15D07F5B-A1CA-4DD9-9858-B0DE772957A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195411" y="2691240"/>
              <a:ext cx="144000" cy="144000"/>
            </a:xfrm>
            <a:prstGeom prst="ellipse">
              <a:avLst/>
            </a:prstGeom>
            <a:solidFill>
              <a:srgbClr val="FF5500"/>
            </a:solidFill>
            <a:ln>
              <a:solidFill>
                <a:srgbClr val="FF55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06" name="Ellipse 105">
              <a:extLst>
                <a:ext uri="{FF2B5EF4-FFF2-40B4-BE49-F238E27FC236}">
                  <a16:creationId xmlns:a16="http://schemas.microsoft.com/office/drawing/2014/main" id="{0216F25B-72A5-4F91-B353-F31B66B197B6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659516" y="2504554"/>
              <a:ext cx="144000" cy="144000"/>
            </a:xfrm>
            <a:prstGeom prst="ellipse">
              <a:avLst/>
            </a:prstGeom>
            <a:solidFill>
              <a:srgbClr val="FF5500"/>
            </a:solidFill>
            <a:ln>
              <a:solidFill>
                <a:srgbClr val="FF55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07" name="Ellipse 106">
              <a:extLst>
                <a:ext uri="{FF2B5EF4-FFF2-40B4-BE49-F238E27FC236}">
                  <a16:creationId xmlns:a16="http://schemas.microsoft.com/office/drawing/2014/main" id="{D070A093-48CD-4A8F-8148-A5822A8EA5BB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964662" y="2313445"/>
              <a:ext cx="144000" cy="144000"/>
            </a:xfrm>
            <a:prstGeom prst="ellipse">
              <a:avLst/>
            </a:prstGeom>
            <a:solidFill>
              <a:srgbClr val="FF5500"/>
            </a:solidFill>
            <a:ln>
              <a:solidFill>
                <a:srgbClr val="FF55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08" name="Ellipse 107">
              <a:extLst>
                <a:ext uri="{FF2B5EF4-FFF2-40B4-BE49-F238E27FC236}">
                  <a16:creationId xmlns:a16="http://schemas.microsoft.com/office/drawing/2014/main" id="{4D8C4474-953B-4325-85EF-9ECD1B0AFFD8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928003" y="2591485"/>
              <a:ext cx="144000" cy="144000"/>
            </a:xfrm>
            <a:prstGeom prst="ellipse">
              <a:avLst/>
            </a:prstGeom>
            <a:solidFill>
              <a:srgbClr val="00FF00"/>
            </a:solidFill>
            <a:ln>
              <a:solidFill>
                <a:srgbClr val="00FF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cxnSp>
          <p:nvCxnSpPr>
            <p:cNvPr id="23" name="Gerader Verbinder 22">
              <a:extLst>
                <a:ext uri="{FF2B5EF4-FFF2-40B4-BE49-F238E27FC236}">
                  <a16:creationId xmlns:a16="http://schemas.microsoft.com/office/drawing/2014/main" id="{46D4EF6A-24B2-4819-AF5D-F3E250183A3A}"/>
                </a:ext>
              </a:extLst>
            </p:cNvPr>
            <p:cNvCxnSpPr>
              <a:cxnSpLocks/>
              <a:endCxn id="22" idx="2"/>
            </p:cNvCxnSpPr>
            <p:nvPr/>
          </p:nvCxnSpPr>
          <p:spPr>
            <a:xfrm flipV="1">
              <a:off x="886314" y="3799340"/>
              <a:ext cx="360000" cy="2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feld 85">
              <a:extLst>
                <a:ext uri="{FF2B5EF4-FFF2-40B4-BE49-F238E27FC236}">
                  <a16:creationId xmlns:a16="http://schemas.microsoft.com/office/drawing/2014/main" id="{3FDBBD21-B6FE-4757-BECE-12F49ABF5FA6}"/>
                </a:ext>
              </a:extLst>
            </p:cNvPr>
            <p:cNvSpPr txBox="1"/>
            <p:nvPr/>
          </p:nvSpPr>
          <p:spPr>
            <a:xfrm>
              <a:off x="1017908" y="3564860"/>
              <a:ext cx="297818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sz="1100" dirty="0" err="1">
                  <a:latin typeface="Arial" pitchFamily="34" charset="0"/>
                  <a:ea typeface="Segoe UI Symbol" pitchFamily="34" charset="0"/>
                  <a:cs typeface="Arial" pitchFamily="34" charset="0"/>
                </a:rPr>
                <a:t>r</a:t>
              </a:r>
              <a:r>
                <a:rPr lang="de-DE" sz="1100" baseline="-25000" dirty="0" err="1">
                  <a:latin typeface="Arial" pitchFamily="34" charset="0"/>
                  <a:ea typeface="Segoe UI Symbol" pitchFamily="34" charset="0"/>
                  <a:cs typeface="Arial" pitchFamily="34" charset="0"/>
                </a:rPr>
                <a:t>c</a:t>
              </a:r>
              <a:endParaRPr lang="de-DE" sz="1100" dirty="0"/>
            </a:p>
          </p:txBody>
        </p:sp>
        <p:sp>
          <p:nvSpPr>
            <p:cNvPr id="150" name="Ellipse 149">
              <a:extLst>
                <a:ext uri="{FF2B5EF4-FFF2-40B4-BE49-F238E27FC236}">
                  <a16:creationId xmlns:a16="http://schemas.microsoft.com/office/drawing/2014/main" id="{F9469F1A-37B9-4FDA-9A48-8E974E2DD760}"/>
                </a:ext>
              </a:extLst>
            </p:cNvPr>
            <p:cNvSpPr/>
            <p:nvPr/>
          </p:nvSpPr>
          <p:spPr>
            <a:xfrm flipH="1">
              <a:off x="960177" y="3489015"/>
              <a:ext cx="144000" cy="144000"/>
            </a:xfrm>
            <a:prstGeom prst="ellipse">
              <a:avLst/>
            </a:prstGeom>
            <a:solidFill>
              <a:srgbClr val="FF5500"/>
            </a:solidFill>
            <a:ln>
              <a:solidFill>
                <a:srgbClr val="FF55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13" name="Gruppieren 3">
            <a:extLst>
              <a:ext uri="{FF2B5EF4-FFF2-40B4-BE49-F238E27FC236}">
                <a16:creationId xmlns:a16="http://schemas.microsoft.com/office/drawing/2014/main" id="{AF4D8658-55B0-4345-BE3E-341F41EA9454}"/>
              </a:ext>
            </a:extLst>
          </p:cNvPr>
          <p:cNvGrpSpPr/>
          <p:nvPr/>
        </p:nvGrpSpPr>
        <p:grpSpPr>
          <a:xfrm>
            <a:off x="3271316" y="1413310"/>
            <a:ext cx="2740277" cy="2741303"/>
            <a:chOff x="3271542" y="1412757"/>
            <a:chExt cx="2740277" cy="2741303"/>
          </a:xfrm>
        </p:grpSpPr>
        <p:sp>
          <p:nvSpPr>
            <p:cNvPr id="144" name="Rechteck 143">
              <a:extLst>
                <a:ext uri="{FF2B5EF4-FFF2-40B4-BE49-F238E27FC236}">
                  <a16:creationId xmlns:a16="http://schemas.microsoft.com/office/drawing/2014/main" id="{5AFD38E2-EAEA-499D-8CCA-2ED6F849B0E4}"/>
                </a:ext>
              </a:extLst>
            </p:cNvPr>
            <p:cNvSpPr/>
            <p:nvPr/>
          </p:nvSpPr>
          <p:spPr>
            <a:xfrm>
              <a:off x="3397958" y="1783451"/>
              <a:ext cx="2340000" cy="2340000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93" name="Ellipse 192">
              <a:extLst>
                <a:ext uri="{FF2B5EF4-FFF2-40B4-BE49-F238E27FC236}">
                  <a16:creationId xmlns:a16="http://schemas.microsoft.com/office/drawing/2014/main" id="{64B2A44F-17BC-4B01-86F0-A838310FBD56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271542" y="3364325"/>
              <a:ext cx="720000" cy="720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87" name="Ellipse 186">
              <a:extLst>
                <a:ext uri="{FF2B5EF4-FFF2-40B4-BE49-F238E27FC236}">
                  <a16:creationId xmlns:a16="http://schemas.microsoft.com/office/drawing/2014/main" id="{867AC8D3-C2BE-4106-9625-B64295F7120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657660" y="2971593"/>
              <a:ext cx="720000" cy="720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92" name="Ellipse 191">
              <a:extLst>
                <a:ext uri="{FF2B5EF4-FFF2-40B4-BE49-F238E27FC236}">
                  <a16:creationId xmlns:a16="http://schemas.microsoft.com/office/drawing/2014/main" id="{DEAC8E11-10CC-4C87-AF22-CC940C1D410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616864" y="3434060"/>
              <a:ext cx="720000" cy="720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46" name="Ellipse 145">
              <a:extLst>
                <a:ext uri="{FF2B5EF4-FFF2-40B4-BE49-F238E27FC236}">
                  <a16:creationId xmlns:a16="http://schemas.microsoft.com/office/drawing/2014/main" id="{9A68EC62-3E09-4B37-A4A3-CC6C0E5B9153}"/>
                </a:ext>
              </a:extLst>
            </p:cNvPr>
            <p:cNvSpPr/>
            <p:nvPr/>
          </p:nvSpPr>
          <p:spPr>
            <a:xfrm flipH="1">
              <a:off x="3798465" y="3499675"/>
              <a:ext cx="144000" cy="144000"/>
            </a:xfrm>
            <a:prstGeom prst="ellipse">
              <a:avLst/>
            </a:prstGeom>
            <a:solidFill>
              <a:srgbClr val="00FF00"/>
            </a:solidFill>
            <a:ln>
              <a:solidFill>
                <a:srgbClr val="00FF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47" name="Ellipse 146">
              <a:extLst>
                <a:ext uri="{FF2B5EF4-FFF2-40B4-BE49-F238E27FC236}">
                  <a16:creationId xmlns:a16="http://schemas.microsoft.com/office/drawing/2014/main" id="{261534C8-B9DC-43FD-BE90-F038D76E01BE}"/>
                </a:ext>
              </a:extLst>
            </p:cNvPr>
            <p:cNvSpPr/>
            <p:nvPr/>
          </p:nvSpPr>
          <p:spPr>
            <a:xfrm flipH="1">
              <a:off x="3558602" y="3652630"/>
              <a:ext cx="144000" cy="144000"/>
            </a:xfrm>
            <a:prstGeom prst="ellipse">
              <a:avLst/>
            </a:prstGeom>
            <a:solidFill>
              <a:srgbClr val="FF5500"/>
            </a:solidFill>
            <a:ln>
              <a:solidFill>
                <a:srgbClr val="FF55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48" name="Ellipse 147">
              <a:extLst>
                <a:ext uri="{FF2B5EF4-FFF2-40B4-BE49-F238E27FC236}">
                  <a16:creationId xmlns:a16="http://schemas.microsoft.com/office/drawing/2014/main" id="{63221EEC-A93A-4ED6-8619-3E787305007F}"/>
                </a:ext>
              </a:extLst>
            </p:cNvPr>
            <p:cNvSpPr/>
            <p:nvPr/>
          </p:nvSpPr>
          <p:spPr>
            <a:xfrm flipH="1">
              <a:off x="3894533" y="3771405"/>
              <a:ext cx="144000" cy="144000"/>
            </a:xfrm>
            <a:prstGeom prst="ellipse">
              <a:avLst/>
            </a:prstGeom>
            <a:solidFill>
              <a:srgbClr val="FF5500"/>
            </a:solidFill>
            <a:ln>
              <a:solidFill>
                <a:srgbClr val="FF55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49" name="Ellipse 148">
              <a:extLst>
                <a:ext uri="{FF2B5EF4-FFF2-40B4-BE49-F238E27FC236}">
                  <a16:creationId xmlns:a16="http://schemas.microsoft.com/office/drawing/2014/main" id="{B2E5B357-4153-4F4B-801D-890511549DBB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851579" y="3006473"/>
              <a:ext cx="144000" cy="144000"/>
            </a:xfrm>
            <a:prstGeom prst="ellipse">
              <a:avLst/>
            </a:prstGeom>
            <a:solidFill>
              <a:srgbClr val="00FF00"/>
            </a:solidFill>
            <a:ln>
              <a:solidFill>
                <a:srgbClr val="00FF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51" name="Ellipse 150">
              <a:extLst>
                <a:ext uri="{FF2B5EF4-FFF2-40B4-BE49-F238E27FC236}">
                  <a16:creationId xmlns:a16="http://schemas.microsoft.com/office/drawing/2014/main" id="{8927F839-BE85-45F1-8128-E8D76719EC4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123206" y="3403235"/>
              <a:ext cx="144000" cy="144000"/>
            </a:xfrm>
            <a:prstGeom prst="ellipse">
              <a:avLst/>
            </a:prstGeom>
            <a:solidFill>
              <a:srgbClr val="00FF00"/>
            </a:solidFill>
            <a:ln>
              <a:solidFill>
                <a:srgbClr val="00FF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52" name="Ellipse 151">
              <a:extLst>
                <a:ext uri="{FF2B5EF4-FFF2-40B4-BE49-F238E27FC236}">
                  <a16:creationId xmlns:a16="http://schemas.microsoft.com/office/drawing/2014/main" id="{07EAC323-323C-4170-900E-B4A00C3D25AC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205285" y="3130435"/>
              <a:ext cx="144000" cy="144000"/>
            </a:xfrm>
            <a:prstGeom prst="ellipse">
              <a:avLst/>
            </a:prstGeom>
            <a:solidFill>
              <a:srgbClr val="00FF00"/>
            </a:solidFill>
            <a:ln>
              <a:solidFill>
                <a:srgbClr val="00FF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53" name="Ellipse 152">
              <a:extLst>
                <a:ext uri="{FF2B5EF4-FFF2-40B4-BE49-F238E27FC236}">
                  <a16:creationId xmlns:a16="http://schemas.microsoft.com/office/drawing/2014/main" id="{2B98084C-81BE-47A2-9246-EE89D955AA7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876813" y="2646433"/>
              <a:ext cx="144000" cy="144000"/>
            </a:xfrm>
            <a:prstGeom prst="ellipse">
              <a:avLst/>
            </a:prstGeom>
            <a:solidFill>
              <a:srgbClr val="FF5500"/>
            </a:solidFill>
            <a:ln>
              <a:solidFill>
                <a:srgbClr val="FF55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54" name="Ellipse 153">
              <a:extLst>
                <a:ext uri="{FF2B5EF4-FFF2-40B4-BE49-F238E27FC236}">
                  <a16:creationId xmlns:a16="http://schemas.microsoft.com/office/drawing/2014/main" id="{1FEF6D4D-D176-49F7-9551-7F0F1322EF9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179562" y="2466750"/>
              <a:ext cx="144000" cy="144000"/>
            </a:xfrm>
            <a:prstGeom prst="ellipse">
              <a:avLst/>
            </a:prstGeom>
            <a:solidFill>
              <a:srgbClr val="FF5500"/>
            </a:solidFill>
            <a:ln>
              <a:solidFill>
                <a:srgbClr val="FF55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55" name="Ellipse 154">
              <a:extLst>
                <a:ext uri="{FF2B5EF4-FFF2-40B4-BE49-F238E27FC236}">
                  <a16:creationId xmlns:a16="http://schemas.microsoft.com/office/drawing/2014/main" id="{DA4103CA-211B-4724-BC80-A8DD7DC7232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643667" y="2276889"/>
              <a:ext cx="144000" cy="144000"/>
            </a:xfrm>
            <a:prstGeom prst="ellipse">
              <a:avLst/>
            </a:prstGeom>
            <a:solidFill>
              <a:srgbClr val="FF5500"/>
            </a:solidFill>
            <a:ln>
              <a:solidFill>
                <a:srgbClr val="FF55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68" name="Ellipse 167">
              <a:extLst>
                <a:ext uri="{FF2B5EF4-FFF2-40B4-BE49-F238E27FC236}">
                  <a16:creationId xmlns:a16="http://schemas.microsoft.com/office/drawing/2014/main" id="{F4D110B1-5660-4C9F-B585-C08DA3930D0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948813" y="2088955"/>
              <a:ext cx="144000" cy="144000"/>
            </a:xfrm>
            <a:prstGeom prst="ellipse">
              <a:avLst/>
            </a:prstGeom>
            <a:solidFill>
              <a:srgbClr val="FF5500"/>
            </a:solidFill>
            <a:ln>
              <a:solidFill>
                <a:srgbClr val="FF55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69" name="Ellipse 168">
              <a:extLst>
                <a:ext uri="{FF2B5EF4-FFF2-40B4-BE49-F238E27FC236}">
                  <a16:creationId xmlns:a16="http://schemas.microsoft.com/office/drawing/2014/main" id="{ECFF927A-CD6F-43BE-ADF7-B485335CBE1C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912154" y="2363820"/>
              <a:ext cx="144000" cy="144000"/>
            </a:xfrm>
            <a:prstGeom prst="ellipse">
              <a:avLst/>
            </a:prstGeom>
            <a:solidFill>
              <a:srgbClr val="00FF00"/>
            </a:solidFill>
            <a:ln>
              <a:solidFill>
                <a:srgbClr val="00FF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86" name="Ellipse 185">
              <a:extLst>
                <a:ext uri="{FF2B5EF4-FFF2-40B4-BE49-F238E27FC236}">
                  <a16:creationId xmlns:a16="http://schemas.microsoft.com/office/drawing/2014/main" id="{698D74B3-827D-487E-AFAA-E07255F680BC}"/>
                </a:ext>
              </a:extLst>
            </p:cNvPr>
            <p:cNvSpPr/>
            <p:nvPr/>
          </p:nvSpPr>
          <p:spPr>
            <a:xfrm flipH="1">
              <a:off x="3944328" y="3261350"/>
              <a:ext cx="144000" cy="144000"/>
            </a:xfrm>
            <a:prstGeom prst="ellipse">
              <a:avLst/>
            </a:prstGeom>
            <a:solidFill>
              <a:srgbClr val="FF5500"/>
            </a:solidFill>
            <a:ln>
              <a:solidFill>
                <a:srgbClr val="FF55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8" name="Sehne 7">
              <a:extLst>
                <a:ext uri="{FF2B5EF4-FFF2-40B4-BE49-F238E27FC236}">
                  <a16:creationId xmlns:a16="http://schemas.microsoft.com/office/drawing/2014/main" id="{EC9B1E2E-D4EB-4668-91B6-12DBB56D16FE}"/>
                </a:ext>
              </a:extLst>
            </p:cNvPr>
            <p:cNvSpPr/>
            <p:nvPr/>
          </p:nvSpPr>
          <p:spPr>
            <a:xfrm rot="16200000">
              <a:off x="3772566" y="1312216"/>
              <a:ext cx="408597" cy="609680"/>
            </a:xfrm>
            <a:prstGeom prst="chord">
              <a:avLst>
                <a:gd name="adj1" fmla="val 8158498"/>
                <a:gd name="adj2" fmla="val 1345880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95" name="Sehne 194">
              <a:extLst>
                <a:ext uri="{FF2B5EF4-FFF2-40B4-BE49-F238E27FC236}">
                  <a16:creationId xmlns:a16="http://schemas.microsoft.com/office/drawing/2014/main" id="{F1EFC029-623F-4909-BAE1-B45F85A0EC40}"/>
                </a:ext>
              </a:extLst>
            </p:cNvPr>
            <p:cNvSpPr/>
            <p:nvPr/>
          </p:nvSpPr>
          <p:spPr>
            <a:xfrm>
              <a:off x="5603222" y="3418860"/>
              <a:ext cx="408597" cy="609680"/>
            </a:xfrm>
            <a:prstGeom prst="chord">
              <a:avLst>
                <a:gd name="adj1" fmla="val 6324039"/>
                <a:gd name="adj2" fmla="val 15232308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6" name="Gruppieren 61">
            <a:extLst>
              <a:ext uri="{FF2B5EF4-FFF2-40B4-BE49-F238E27FC236}">
                <a16:creationId xmlns:a16="http://schemas.microsoft.com/office/drawing/2014/main" id="{DEE358D9-A8F8-4871-BAE3-BAFC3F749F60}"/>
              </a:ext>
            </a:extLst>
          </p:cNvPr>
          <p:cNvGrpSpPr/>
          <p:nvPr/>
        </p:nvGrpSpPr>
        <p:grpSpPr>
          <a:xfrm>
            <a:off x="3264763" y="1783768"/>
            <a:ext cx="2472969" cy="2381214"/>
            <a:chOff x="3264816" y="1779584"/>
            <a:chExt cx="2472969" cy="2381214"/>
          </a:xfrm>
        </p:grpSpPr>
        <p:sp>
          <p:nvSpPr>
            <p:cNvPr id="142" name="Sehne 141">
              <a:extLst>
                <a:ext uri="{FF2B5EF4-FFF2-40B4-BE49-F238E27FC236}">
                  <a16:creationId xmlns:a16="http://schemas.microsoft.com/office/drawing/2014/main" id="{0CA28C69-14B2-487B-AD62-6B4D05C20EB2}"/>
                </a:ext>
              </a:extLst>
            </p:cNvPr>
            <p:cNvSpPr/>
            <p:nvPr/>
          </p:nvSpPr>
          <p:spPr>
            <a:xfrm>
              <a:off x="3264816" y="3419971"/>
              <a:ext cx="408597" cy="609680"/>
            </a:xfrm>
            <a:prstGeom prst="chord">
              <a:avLst>
                <a:gd name="adj1" fmla="val 6324039"/>
                <a:gd name="adj2" fmla="val 15232308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3" name="Sehne 142">
              <a:extLst>
                <a:ext uri="{FF2B5EF4-FFF2-40B4-BE49-F238E27FC236}">
                  <a16:creationId xmlns:a16="http://schemas.microsoft.com/office/drawing/2014/main" id="{02368CBA-A127-42D1-8CDB-CDDFB5A52AAD}"/>
                </a:ext>
              </a:extLst>
            </p:cNvPr>
            <p:cNvSpPr/>
            <p:nvPr/>
          </p:nvSpPr>
          <p:spPr>
            <a:xfrm rot="16200000">
              <a:off x="3773399" y="3658393"/>
              <a:ext cx="395130" cy="609680"/>
            </a:xfrm>
            <a:prstGeom prst="chord">
              <a:avLst>
                <a:gd name="adj1" fmla="val 8253312"/>
                <a:gd name="adj2" fmla="val 13353229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45" name="Rechteck 144">
              <a:extLst>
                <a:ext uri="{FF2B5EF4-FFF2-40B4-BE49-F238E27FC236}">
                  <a16:creationId xmlns:a16="http://schemas.microsoft.com/office/drawing/2014/main" id="{A322F7E5-5C14-4B4B-9E77-67A3EBEB7D05}"/>
                </a:ext>
              </a:extLst>
            </p:cNvPr>
            <p:cNvSpPr/>
            <p:nvPr/>
          </p:nvSpPr>
          <p:spPr>
            <a:xfrm>
              <a:off x="3397785" y="1779584"/>
              <a:ext cx="2340000" cy="2340000"/>
            </a:xfrm>
            <a:prstGeom prst="rect">
              <a:avLst/>
            </a:prstGeom>
            <a:noFill/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grpSp>
        <p:nvGrpSpPr>
          <p:cNvPr id="12" name="Gruppieren 4">
            <a:extLst>
              <a:ext uri="{FF2B5EF4-FFF2-40B4-BE49-F238E27FC236}">
                <a16:creationId xmlns:a16="http://schemas.microsoft.com/office/drawing/2014/main" id="{A266070B-A69D-4D63-B241-17A73149F55E}"/>
              </a:ext>
            </a:extLst>
          </p:cNvPr>
          <p:cNvGrpSpPr/>
          <p:nvPr/>
        </p:nvGrpSpPr>
        <p:grpSpPr>
          <a:xfrm>
            <a:off x="3398400" y="1782837"/>
            <a:ext cx="2340000" cy="2340000"/>
            <a:chOff x="3397785" y="1780792"/>
            <a:chExt cx="2340000" cy="2340000"/>
          </a:xfrm>
        </p:grpSpPr>
        <p:sp>
          <p:nvSpPr>
            <p:cNvPr id="204" name="Rechteck 203">
              <a:extLst>
                <a:ext uri="{FF2B5EF4-FFF2-40B4-BE49-F238E27FC236}">
                  <a16:creationId xmlns:a16="http://schemas.microsoft.com/office/drawing/2014/main" id="{FC524F33-6BDE-40B6-8CEA-DD9A84A896A1}"/>
                </a:ext>
              </a:extLst>
            </p:cNvPr>
            <p:cNvSpPr/>
            <p:nvPr/>
          </p:nvSpPr>
          <p:spPr>
            <a:xfrm>
              <a:off x="3397785" y="1780792"/>
              <a:ext cx="2340000" cy="2340000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224" name="Ellipse 223">
              <a:extLst>
                <a:ext uri="{FF2B5EF4-FFF2-40B4-BE49-F238E27FC236}">
                  <a16:creationId xmlns:a16="http://schemas.microsoft.com/office/drawing/2014/main" id="{F577138E-AE31-4164-B43F-E133658C3EE9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570216" y="2715402"/>
              <a:ext cx="720000" cy="720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25" name="Ellipse 224">
              <a:extLst>
                <a:ext uri="{FF2B5EF4-FFF2-40B4-BE49-F238E27FC236}">
                  <a16:creationId xmlns:a16="http://schemas.microsoft.com/office/drawing/2014/main" id="{32778719-1208-4735-9151-50B3C6D09835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923406" y="2835994"/>
              <a:ext cx="720000" cy="720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08" name="Ellipse 207">
              <a:extLst>
                <a:ext uri="{FF2B5EF4-FFF2-40B4-BE49-F238E27FC236}">
                  <a16:creationId xmlns:a16="http://schemas.microsoft.com/office/drawing/2014/main" id="{2E96829B-4297-44EA-9234-B8C0450923E7}"/>
                </a:ext>
              </a:extLst>
            </p:cNvPr>
            <p:cNvSpPr/>
            <p:nvPr/>
          </p:nvSpPr>
          <p:spPr>
            <a:xfrm flipH="1">
              <a:off x="3798292" y="3497016"/>
              <a:ext cx="144000" cy="144000"/>
            </a:xfrm>
            <a:prstGeom prst="ellipse">
              <a:avLst/>
            </a:prstGeom>
            <a:solidFill>
              <a:srgbClr val="00FF00"/>
            </a:solidFill>
            <a:ln>
              <a:solidFill>
                <a:srgbClr val="00FF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09" name="Ellipse 208">
              <a:extLst>
                <a:ext uri="{FF2B5EF4-FFF2-40B4-BE49-F238E27FC236}">
                  <a16:creationId xmlns:a16="http://schemas.microsoft.com/office/drawing/2014/main" id="{F544B76A-F6BE-4B3D-B87A-40F188776C50}"/>
                </a:ext>
              </a:extLst>
            </p:cNvPr>
            <p:cNvSpPr/>
            <p:nvPr/>
          </p:nvSpPr>
          <p:spPr>
            <a:xfrm flipH="1">
              <a:off x="3558429" y="3649971"/>
              <a:ext cx="144000" cy="144000"/>
            </a:xfrm>
            <a:prstGeom prst="ellipse">
              <a:avLst/>
            </a:prstGeom>
            <a:solidFill>
              <a:srgbClr val="FF5500"/>
            </a:solidFill>
            <a:ln>
              <a:solidFill>
                <a:srgbClr val="FF55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10" name="Ellipse 209">
              <a:extLst>
                <a:ext uri="{FF2B5EF4-FFF2-40B4-BE49-F238E27FC236}">
                  <a16:creationId xmlns:a16="http://schemas.microsoft.com/office/drawing/2014/main" id="{057EB771-310F-4F3B-8891-9E96BF0E19B3}"/>
                </a:ext>
              </a:extLst>
            </p:cNvPr>
            <p:cNvSpPr/>
            <p:nvPr/>
          </p:nvSpPr>
          <p:spPr>
            <a:xfrm flipH="1">
              <a:off x="3894360" y="3768746"/>
              <a:ext cx="144000" cy="144000"/>
            </a:xfrm>
            <a:prstGeom prst="ellipse">
              <a:avLst/>
            </a:prstGeom>
            <a:solidFill>
              <a:srgbClr val="FF5500"/>
            </a:solidFill>
            <a:ln>
              <a:solidFill>
                <a:srgbClr val="FF55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11" name="Ellipse 210">
              <a:extLst>
                <a:ext uri="{FF2B5EF4-FFF2-40B4-BE49-F238E27FC236}">
                  <a16:creationId xmlns:a16="http://schemas.microsoft.com/office/drawing/2014/main" id="{84A50FB8-504A-44D4-AD64-42DAF63846B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851406" y="3003814"/>
              <a:ext cx="144000" cy="144000"/>
            </a:xfrm>
            <a:prstGeom prst="ellipse">
              <a:avLst/>
            </a:prstGeom>
            <a:solidFill>
              <a:srgbClr val="00FF00"/>
            </a:solidFill>
            <a:ln>
              <a:solidFill>
                <a:srgbClr val="00FF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12" name="Ellipse 211">
              <a:extLst>
                <a:ext uri="{FF2B5EF4-FFF2-40B4-BE49-F238E27FC236}">
                  <a16:creationId xmlns:a16="http://schemas.microsoft.com/office/drawing/2014/main" id="{1333D5EF-2098-4B12-962E-F22CCFA5177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123033" y="3400576"/>
              <a:ext cx="144000" cy="144000"/>
            </a:xfrm>
            <a:prstGeom prst="ellipse">
              <a:avLst/>
            </a:prstGeom>
            <a:solidFill>
              <a:srgbClr val="00FF00"/>
            </a:solidFill>
            <a:ln>
              <a:solidFill>
                <a:srgbClr val="00FF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13" name="Ellipse 212">
              <a:extLst>
                <a:ext uri="{FF2B5EF4-FFF2-40B4-BE49-F238E27FC236}">
                  <a16:creationId xmlns:a16="http://schemas.microsoft.com/office/drawing/2014/main" id="{7FDB35CF-C598-4B14-A56C-DD50EBB3523C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205112" y="3127776"/>
              <a:ext cx="144000" cy="144000"/>
            </a:xfrm>
            <a:prstGeom prst="ellipse">
              <a:avLst/>
            </a:prstGeom>
            <a:solidFill>
              <a:srgbClr val="00FF00"/>
            </a:solidFill>
            <a:ln>
              <a:solidFill>
                <a:srgbClr val="00FF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14" name="Ellipse 213">
              <a:extLst>
                <a:ext uri="{FF2B5EF4-FFF2-40B4-BE49-F238E27FC236}">
                  <a16:creationId xmlns:a16="http://schemas.microsoft.com/office/drawing/2014/main" id="{23654047-6F40-4025-BFCF-712269DE29E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876640" y="2643774"/>
              <a:ext cx="144000" cy="144000"/>
            </a:xfrm>
            <a:prstGeom prst="ellipse">
              <a:avLst/>
            </a:prstGeom>
            <a:solidFill>
              <a:srgbClr val="FF5500"/>
            </a:solidFill>
            <a:ln>
              <a:solidFill>
                <a:srgbClr val="FF55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15" name="Ellipse 214">
              <a:extLst>
                <a:ext uri="{FF2B5EF4-FFF2-40B4-BE49-F238E27FC236}">
                  <a16:creationId xmlns:a16="http://schemas.microsoft.com/office/drawing/2014/main" id="{F7525CB2-5FA9-45FF-B14E-2450FB6D0B9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179389" y="2464091"/>
              <a:ext cx="144000" cy="144000"/>
            </a:xfrm>
            <a:prstGeom prst="ellipse">
              <a:avLst/>
            </a:prstGeom>
            <a:solidFill>
              <a:srgbClr val="FF5500"/>
            </a:solidFill>
            <a:ln>
              <a:solidFill>
                <a:srgbClr val="FF55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16" name="Ellipse 215">
              <a:extLst>
                <a:ext uri="{FF2B5EF4-FFF2-40B4-BE49-F238E27FC236}">
                  <a16:creationId xmlns:a16="http://schemas.microsoft.com/office/drawing/2014/main" id="{7B643FE5-DFCB-43CF-A227-F9F70904E91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643494" y="2274230"/>
              <a:ext cx="144000" cy="144000"/>
            </a:xfrm>
            <a:prstGeom prst="ellipse">
              <a:avLst/>
            </a:prstGeom>
            <a:solidFill>
              <a:srgbClr val="FF5500"/>
            </a:solidFill>
            <a:ln>
              <a:solidFill>
                <a:srgbClr val="FF55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17" name="Ellipse 216">
              <a:extLst>
                <a:ext uri="{FF2B5EF4-FFF2-40B4-BE49-F238E27FC236}">
                  <a16:creationId xmlns:a16="http://schemas.microsoft.com/office/drawing/2014/main" id="{91EA94BE-BA86-449A-B443-E1568394097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948640" y="2086296"/>
              <a:ext cx="144000" cy="144000"/>
            </a:xfrm>
            <a:prstGeom prst="ellipse">
              <a:avLst/>
            </a:prstGeom>
            <a:solidFill>
              <a:srgbClr val="FF5500"/>
            </a:solidFill>
            <a:ln>
              <a:solidFill>
                <a:srgbClr val="FF55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18" name="Ellipse 217">
              <a:extLst>
                <a:ext uri="{FF2B5EF4-FFF2-40B4-BE49-F238E27FC236}">
                  <a16:creationId xmlns:a16="http://schemas.microsoft.com/office/drawing/2014/main" id="{AA4F7655-972C-4174-B9AE-3A9DF9676CBB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911981" y="2361161"/>
              <a:ext cx="144000" cy="144000"/>
            </a:xfrm>
            <a:prstGeom prst="ellipse">
              <a:avLst/>
            </a:prstGeom>
            <a:solidFill>
              <a:srgbClr val="00FF00"/>
            </a:solidFill>
            <a:ln>
              <a:solidFill>
                <a:srgbClr val="00FF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21" name="Ellipse 220">
              <a:extLst>
                <a:ext uri="{FF2B5EF4-FFF2-40B4-BE49-F238E27FC236}">
                  <a16:creationId xmlns:a16="http://schemas.microsoft.com/office/drawing/2014/main" id="{5D8A9B8A-ACB7-484D-8444-48F46179C0C5}"/>
                </a:ext>
              </a:extLst>
            </p:cNvPr>
            <p:cNvSpPr/>
            <p:nvPr/>
          </p:nvSpPr>
          <p:spPr>
            <a:xfrm flipH="1">
              <a:off x="3944155" y="3258691"/>
              <a:ext cx="144000" cy="144000"/>
            </a:xfrm>
            <a:prstGeom prst="ellipse">
              <a:avLst/>
            </a:prstGeom>
            <a:solidFill>
              <a:srgbClr val="FF5500"/>
            </a:solidFill>
            <a:ln>
              <a:solidFill>
                <a:srgbClr val="FF55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160" name="Gruppieren 5">
            <a:extLst>
              <a:ext uri="{FF2B5EF4-FFF2-40B4-BE49-F238E27FC236}">
                <a16:creationId xmlns:a16="http://schemas.microsoft.com/office/drawing/2014/main" id="{054BF35D-4A01-4390-BCD6-1539929D37E0}"/>
              </a:ext>
            </a:extLst>
          </p:cNvPr>
          <p:cNvGrpSpPr/>
          <p:nvPr/>
        </p:nvGrpSpPr>
        <p:grpSpPr>
          <a:xfrm>
            <a:off x="3397785" y="1783451"/>
            <a:ext cx="2340000" cy="2340000"/>
            <a:chOff x="3397785" y="1780792"/>
            <a:chExt cx="2340000" cy="2340000"/>
          </a:xfrm>
        </p:grpSpPr>
        <p:sp>
          <p:nvSpPr>
            <p:cNvPr id="161" name="Rechteck 160">
              <a:extLst>
                <a:ext uri="{FF2B5EF4-FFF2-40B4-BE49-F238E27FC236}">
                  <a16:creationId xmlns:a16="http://schemas.microsoft.com/office/drawing/2014/main" id="{5B03AD85-9A38-4581-A75C-D6240DDC705F}"/>
                </a:ext>
              </a:extLst>
            </p:cNvPr>
            <p:cNvSpPr/>
            <p:nvPr/>
          </p:nvSpPr>
          <p:spPr>
            <a:xfrm>
              <a:off x="3397785" y="1780792"/>
              <a:ext cx="2340000" cy="2340000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63" name="Ellipse 162">
              <a:extLst>
                <a:ext uri="{FF2B5EF4-FFF2-40B4-BE49-F238E27FC236}">
                  <a16:creationId xmlns:a16="http://schemas.microsoft.com/office/drawing/2014/main" id="{90E538BD-EE8C-44DF-A834-E99A96A0D878}"/>
                </a:ext>
              </a:extLst>
            </p:cNvPr>
            <p:cNvSpPr/>
            <p:nvPr/>
          </p:nvSpPr>
          <p:spPr>
            <a:xfrm flipH="1">
              <a:off x="3798292" y="3497016"/>
              <a:ext cx="144000" cy="144000"/>
            </a:xfrm>
            <a:prstGeom prst="ellipse">
              <a:avLst/>
            </a:prstGeom>
            <a:solidFill>
              <a:srgbClr val="433B83"/>
            </a:solidFill>
            <a:ln>
              <a:solidFill>
                <a:srgbClr val="433B83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64" name="Ellipse 163">
              <a:extLst>
                <a:ext uri="{FF2B5EF4-FFF2-40B4-BE49-F238E27FC236}">
                  <a16:creationId xmlns:a16="http://schemas.microsoft.com/office/drawing/2014/main" id="{E51F74AF-52E5-461D-B907-019CBBEA535E}"/>
                </a:ext>
              </a:extLst>
            </p:cNvPr>
            <p:cNvSpPr/>
            <p:nvPr/>
          </p:nvSpPr>
          <p:spPr>
            <a:xfrm flipH="1">
              <a:off x="3558429" y="3649971"/>
              <a:ext cx="144000" cy="144000"/>
            </a:xfrm>
            <a:prstGeom prst="ellipse">
              <a:avLst/>
            </a:prstGeom>
            <a:solidFill>
              <a:srgbClr val="433B83"/>
            </a:solidFill>
            <a:ln>
              <a:solidFill>
                <a:srgbClr val="433B83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65" name="Ellipse 164">
              <a:extLst>
                <a:ext uri="{FF2B5EF4-FFF2-40B4-BE49-F238E27FC236}">
                  <a16:creationId xmlns:a16="http://schemas.microsoft.com/office/drawing/2014/main" id="{321BD85B-40BA-4759-9335-DDF5A7705AB3}"/>
                </a:ext>
              </a:extLst>
            </p:cNvPr>
            <p:cNvSpPr/>
            <p:nvPr/>
          </p:nvSpPr>
          <p:spPr>
            <a:xfrm flipH="1">
              <a:off x="3894360" y="3768746"/>
              <a:ext cx="144000" cy="144000"/>
            </a:xfrm>
            <a:prstGeom prst="ellipse">
              <a:avLst/>
            </a:prstGeom>
            <a:solidFill>
              <a:srgbClr val="433B83"/>
            </a:solidFill>
            <a:ln>
              <a:solidFill>
                <a:srgbClr val="433B83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66" name="Ellipse 165">
              <a:extLst>
                <a:ext uri="{FF2B5EF4-FFF2-40B4-BE49-F238E27FC236}">
                  <a16:creationId xmlns:a16="http://schemas.microsoft.com/office/drawing/2014/main" id="{1B59A09E-0040-4667-AE49-0785BDB3BD8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851406" y="3003814"/>
              <a:ext cx="144000" cy="144000"/>
            </a:xfrm>
            <a:prstGeom prst="ellipse">
              <a:avLst/>
            </a:prstGeom>
            <a:solidFill>
              <a:srgbClr val="433B83"/>
            </a:solidFill>
            <a:ln>
              <a:solidFill>
                <a:srgbClr val="433B83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67" name="Ellipse 166">
              <a:extLst>
                <a:ext uri="{FF2B5EF4-FFF2-40B4-BE49-F238E27FC236}">
                  <a16:creationId xmlns:a16="http://schemas.microsoft.com/office/drawing/2014/main" id="{2605F6B7-AFA4-4C8D-8D90-7BA37D7C545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123033" y="3400576"/>
              <a:ext cx="144000" cy="144000"/>
            </a:xfrm>
            <a:prstGeom prst="ellipse">
              <a:avLst/>
            </a:prstGeom>
            <a:solidFill>
              <a:srgbClr val="00FF00"/>
            </a:solidFill>
            <a:ln>
              <a:solidFill>
                <a:srgbClr val="00FF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70" name="Ellipse 169">
              <a:extLst>
                <a:ext uri="{FF2B5EF4-FFF2-40B4-BE49-F238E27FC236}">
                  <a16:creationId xmlns:a16="http://schemas.microsoft.com/office/drawing/2014/main" id="{1123C1AA-FD08-45AA-A774-F9824A37165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205112" y="3127776"/>
              <a:ext cx="144000" cy="144000"/>
            </a:xfrm>
            <a:prstGeom prst="ellipse">
              <a:avLst/>
            </a:prstGeom>
            <a:solidFill>
              <a:srgbClr val="433B83"/>
            </a:solidFill>
            <a:ln>
              <a:solidFill>
                <a:srgbClr val="433B83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71" name="Ellipse 170">
              <a:extLst>
                <a:ext uri="{FF2B5EF4-FFF2-40B4-BE49-F238E27FC236}">
                  <a16:creationId xmlns:a16="http://schemas.microsoft.com/office/drawing/2014/main" id="{859959F7-CB2F-47B7-BDF1-F5BD102B7DC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876640" y="2643774"/>
              <a:ext cx="144000" cy="144000"/>
            </a:xfrm>
            <a:prstGeom prst="ellipse">
              <a:avLst/>
            </a:prstGeom>
            <a:solidFill>
              <a:srgbClr val="FF5500"/>
            </a:solidFill>
            <a:ln>
              <a:solidFill>
                <a:srgbClr val="FF55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72" name="Ellipse 171">
              <a:extLst>
                <a:ext uri="{FF2B5EF4-FFF2-40B4-BE49-F238E27FC236}">
                  <a16:creationId xmlns:a16="http://schemas.microsoft.com/office/drawing/2014/main" id="{67E0BA07-8161-46F0-B61A-C6BE7454AD3B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179389" y="2464091"/>
              <a:ext cx="144000" cy="144000"/>
            </a:xfrm>
            <a:prstGeom prst="ellipse">
              <a:avLst/>
            </a:prstGeom>
            <a:solidFill>
              <a:srgbClr val="FF5500"/>
            </a:solidFill>
            <a:ln>
              <a:solidFill>
                <a:srgbClr val="FF55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73" name="Ellipse 172">
              <a:extLst>
                <a:ext uri="{FF2B5EF4-FFF2-40B4-BE49-F238E27FC236}">
                  <a16:creationId xmlns:a16="http://schemas.microsoft.com/office/drawing/2014/main" id="{79869702-54F6-40BD-B8FD-ED84DCE254A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643494" y="2274230"/>
              <a:ext cx="144000" cy="144000"/>
            </a:xfrm>
            <a:prstGeom prst="ellipse">
              <a:avLst/>
            </a:prstGeom>
            <a:solidFill>
              <a:srgbClr val="FF5500"/>
            </a:solidFill>
            <a:ln>
              <a:solidFill>
                <a:srgbClr val="FF55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74" name="Ellipse 173">
              <a:extLst>
                <a:ext uri="{FF2B5EF4-FFF2-40B4-BE49-F238E27FC236}">
                  <a16:creationId xmlns:a16="http://schemas.microsoft.com/office/drawing/2014/main" id="{D76968BD-2699-4C56-A15C-E9AA761009BB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948640" y="2086296"/>
              <a:ext cx="144000" cy="144000"/>
            </a:xfrm>
            <a:prstGeom prst="ellipse">
              <a:avLst/>
            </a:prstGeom>
            <a:solidFill>
              <a:srgbClr val="FF5500"/>
            </a:solidFill>
            <a:ln>
              <a:solidFill>
                <a:srgbClr val="FF55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75" name="Ellipse 174">
              <a:extLst>
                <a:ext uri="{FF2B5EF4-FFF2-40B4-BE49-F238E27FC236}">
                  <a16:creationId xmlns:a16="http://schemas.microsoft.com/office/drawing/2014/main" id="{660EFA5C-08C7-49F9-8FA9-BDE7310DADE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911981" y="2361161"/>
              <a:ext cx="144000" cy="144000"/>
            </a:xfrm>
            <a:prstGeom prst="ellipse">
              <a:avLst/>
            </a:prstGeom>
            <a:solidFill>
              <a:srgbClr val="00FF00"/>
            </a:solidFill>
            <a:ln>
              <a:solidFill>
                <a:srgbClr val="00FF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76" name="Ellipse 175">
              <a:extLst>
                <a:ext uri="{FF2B5EF4-FFF2-40B4-BE49-F238E27FC236}">
                  <a16:creationId xmlns:a16="http://schemas.microsoft.com/office/drawing/2014/main" id="{5552D2DF-DC2E-4889-969C-C29FDF46E265}"/>
                </a:ext>
              </a:extLst>
            </p:cNvPr>
            <p:cNvSpPr/>
            <p:nvPr/>
          </p:nvSpPr>
          <p:spPr>
            <a:xfrm flipH="1">
              <a:off x="3944155" y="3258691"/>
              <a:ext cx="144000" cy="144000"/>
            </a:xfrm>
            <a:prstGeom prst="ellipse">
              <a:avLst/>
            </a:prstGeom>
            <a:solidFill>
              <a:srgbClr val="433B83"/>
            </a:solidFill>
            <a:ln>
              <a:solidFill>
                <a:srgbClr val="433B83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226" name="Gruppieren 6">
            <a:extLst>
              <a:ext uri="{FF2B5EF4-FFF2-40B4-BE49-F238E27FC236}">
                <a16:creationId xmlns:a16="http://schemas.microsoft.com/office/drawing/2014/main" id="{EFE881A1-37B9-4752-8189-15207E544FF1}"/>
              </a:ext>
            </a:extLst>
          </p:cNvPr>
          <p:cNvGrpSpPr/>
          <p:nvPr/>
        </p:nvGrpSpPr>
        <p:grpSpPr>
          <a:xfrm>
            <a:off x="3397785" y="1783451"/>
            <a:ext cx="2340000" cy="2340000"/>
            <a:chOff x="3397785" y="1780792"/>
            <a:chExt cx="2340000" cy="2340000"/>
          </a:xfrm>
        </p:grpSpPr>
        <p:sp>
          <p:nvSpPr>
            <p:cNvPr id="227" name="Rechteck 226">
              <a:extLst>
                <a:ext uri="{FF2B5EF4-FFF2-40B4-BE49-F238E27FC236}">
                  <a16:creationId xmlns:a16="http://schemas.microsoft.com/office/drawing/2014/main" id="{9C62B114-71F4-49BC-8411-74BF2E2B8BB0}"/>
                </a:ext>
              </a:extLst>
            </p:cNvPr>
            <p:cNvSpPr/>
            <p:nvPr/>
          </p:nvSpPr>
          <p:spPr>
            <a:xfrm>
              <a:off x="3397785" y="1780792"/>
              <a:ext cx="2340000" cy="2340000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230" name="Ellipse 229">
              <a:extLst>
                <a:ext uri="{FF2B5EF4-FFF2-40B4-BE49-F238E27FC236}">
                  <a16:creationId xmlns:a16="http://schemas.microsoft.com/office/drawing/2014/main" id="{033EEDE9-A96E-43A5-BAA4-90540173B6E6}"/>
                </a:ext>
              </a:extLst>
            </p:cNvPr>
            <p:cNvSpPr/>
            <p:nvPr/>
          </p:nvSpPr>
          <p:spPr>
            <a:xfrm flipH="1">
              <a:off x="3798292" y="3497016"/>
              <a:ext cx="144000" cy="144000"/>
            </a:xfrm>
            <a:prstGeom prst="ellipse">
              <a:avLst/>
            </a:prstGeom>
            <a:solidFill>
              <a:srgbClr val="433B83"/>
            </a:solidFill>
            <a:ln>
              <a:solidFill>
                <a:srgbClr val="433B83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31" name="Ellipse 230">
              <a:extLst>
                <a:ext uri="{FF2B5EF4-FFF2-40B4-BE49-F238E27FC236}">
                  <a16:creationId xmlns:a16="http://schemas.microsoft.com/office/drawing/2014/main" id="{A5B5AD17-6E82-4CFF-AD7C-D9FBA690286A}"/>
                </a:ext>
              </a:extLst>
            </p:cNvPr>
            <p:cNvSpPr/>
            <p:nvPr/>
          </p:nvSpPr>
          <p:spPr>
            <a:xfrm flipH="1">
              <a:off x="3558429" y="3649971"/>
              <a:ext cx="144000" cy="144000"/>
            </a:xfrm>
            <a:prstGeom prst="ellipse">
              <a:avLst/>
            </a:prstGeom>
            <a:solidFill>
              <a:srgbClr val="433B83"/>
            </a:solidFill>
            <a:ln>
              <a:solidFill>
                <a:srgbClr val="433B83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32" name="Ellipse 231">
              <a:extLst>
                <a:ext uri="{FF2B5EF4-FFF2-40B4-BE49-F238E27FC236}">
                  <a16:creationId xmlns:a16="http://schemas.microsoft.com/office/drawing/2014/main" id="{57CBD7C8-8192-4B31-9E40-325954DC9536}"/>
                </a:ext>
              </a:extLst>
            </p:cNvPr>
            <p:cNvSpPr/>
            <p:nvPr/>
          </p:nvSpPr>
          <p:spPr>
            <a:xfrm flipH="1">
              <a:off x="3894360" y="3768746"/>
              <a:ext cx="144000" cy="144000"/>
            </a:xfrm>
            <a:prstGeom prst="ellipse">
              <a:avLst/>
            </a:prstGeom>
            <a:solidFill>
              <a:srgbClr val="433B83"/>
            </a:solidFill>
            <a:ln>
              <a:solidFill>
                <a:srgbClr val="433B83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33" name="Ellipse 232">
              <a:extLst>
                <a:ext uri="{FF2B5EF4-FFF2-40B4-BE49-F238E27FC236}">
                  <a16:creationId xmlns:a16="http://schemas.microsoft.com/office/drawing/2014/main" id="{5570D92C-1AFE-4275-9636-36EA9E83198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851406" y="3003814"/>
              <a:ext cx="144000" cy="144000"/>
            </a:xfrm>
            <a:prstGeom prst="ellipse">
              <a:avLst/>
            </a:prstGeom>
            <a:solidFill>
              <a:srgbClr val="433B83"/>
            </a:solidFill>
            <a:ln>
              <a:solidFill>
                <a:srgbClr val="433B83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34" name="Ellipse 233">
              <a:extLst>
                <a:ext uri="{FF2B5EF4-FFF2-40B4-BE49-F238E27FC236}">
                  <a16:creationId xmlns:a16="http://schemas.microsoft.com/office/drawing/2014/main" id="{BE9AD980-A966-4F95-A8E7-3C989FEE236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123033" y="3400576"/>
              <a:ext cx="144000" cy="144000"/>
            </a:xfrm>
            <a:prstGeom prst="ellipse">
              <a:avLst/>
            </a:prstGeom>
            <a:solidFill>
              <a:srgbClr val="00FF00"/>
            </a:solidFill>
            <a:ln>
              <a:solidFill>
                <a:srgbClr val="00FF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35" name="Ellipse 234">
              <a:extLst>
                <a:ext uri="{FF2B5EF4-FFF2-40B4-BE49-F238E27FC236}">
                  <a16:creationId xmlns:a16="http://schemas.microsoft.com/office/drawing/2014/main" id="{4C32107F-26BB-4191-8E4D-6D06BC135CE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205112" y="3127776"/>
              <a:ext cx="144000" cy="144000"/>
            </a:xfrm>
            <a:prstGeom prst="ellipse">
              <a:avLst/>
            </a:prstGeom>
            <a:solidFill>
              <a:srgbClr val="433B83"/>
            </a:solidFill>
            <a:ln>
              <a:solidFill>
                <a:srgbClr val="433B83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36" name="Ellipse 235">
              <a:extLst>
                <a:ext uri="{FF2B5EF4-FFF2-40B4-BE49-F238E27FC236}">
                  <a16:creationId xmlns:a16="http://schemas.microsoft.com/office/drawing/2014/main" id="{039B76E1-4A70-402E-BDF8-16EB1C53665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876640" y="2643774"/>
              <a:ext cx="144000" cy="144000"/>
            </a:xfrm>
            <a:prstGeom prst="ellipse">
              <a:avLst/>
            </a:prstGeom>
            <a:solidFill>
              <a:srgbClr val="277C8E"/>
            </a:solidFill>
            <a:ln>
              <a:solidFill>
                <a:srgbClr val="277C8E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37" name="Ellipse 236">
              <a:extLst>
                <a:ext uri="{FF2B5EF4-FFF2-40B4-BE49-F238E27FC236}">
                  <a16:creationId xmlns:a16="http://schemas.microsoft.com/office/drawing/2014/main" id="{E347295C-AB02-4A3F-BE52-138F207985D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179389" y="2464091"/>
              <a:ext cx="144000" cy="144000"/>
            </a:xfrm>
            <a:prstGeom prst="ellipse">
              <a:avLst/>
            </a:prstGeom>
            <a:solidFill>
              <a:srgbClr val="277C8E"/>
            </a:solidFill>
            <a:ln>
              <a:solidFill>
                <a:srgbClr val="277C8E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38" name="Ellipse 237">
              <a:extLst>
                <a:ext uri="{FF2B5EF4-FFF2-40B4-BE49-F238E27FC236}">
                  <a16:creationId xmlns:a16="http://schemas.microsoft.com/office/drawing/2014/main" id="{08F06D50-2D71-4F96-82B7-D0B0F7E7FA4C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643494" y="2274230"/>
              <a:ext cx="144000" cy="144000"/>
            </a:xfrm>
            <a:prstGeom prst="ellipse">
              <a:avLst/>
            </a:prstGeom>
            <a:solidFill>
              <a:srgbClr val="277C8E"/>
            </a:solidFill>
            <a:ln>
              <a:solidFill>
                <a:srgbClr val="277C8E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39" name="Ellipse 238">
              <a:extLst>
                <a:ext uri="{FF2B5EF4-FFF2-40B4-BE49-F238E27FC236}">
                  <a16:creationId xmlns:a16="http://schemas.microsoft.com/office/drawing/2014/main" id="{378A847C-A940-4055-910C-53A1A39698D7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948640" y="2086296"/>
              <a:ext cx="144000" cy="144000"/>
            </a:xfrm>
            <a:prstGeom prst="ellipse">
              <a:avLst/>
            </a:prstGeom>
            <a:solidFill>
              <a:srgbClr val="277C8E"/>
            </a:solidFill>
            <a:ln>
              <a:solidFill>
                <a:srgbClr val="277C8E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40" name="Ellipse 239">
              <a:extLst>
                <a:ext uri="{FF2B5EF4-FFF2-40B4-BE49-F238E27FC236}">
                  <a16:creationId xmlns:a16="http://schemas.microsoft.com/office/drawing/2014/main" id="{8B99E1FE-070C-4D57-B85C-6D41282C95D5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911981" y="2361161"/>
              <a:ext cx="144000" cy="144000"/>
            </a:xfrm>
            <a:prstGeom prst="ellipse">
              <a:avLst/>
            </a:prstGeom>
            <a:solidFill>
              <a:srgbClr val="277C8E"/>
            </a:solidFill>
            <a:ln>
              <a:solidFill>
                <a:srgbClr val="277C8E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41" name="Ellipse 240">
              <a:extLst>
                <a:ext uri="{FF2B5EF4-FFF2-40B4-BE49-F238E27FC236}">
                  <a16:creationId xmlns:a16="http://schemas.microsoft.com/office/drawing/2014/main" id="{EBF65520-EC25-4BE7-99C4-0F49757CE4EB}"/>
                </a:ext>
              </a:extLst>
            </p:cNvPr>
            <p:cNvSpPr/>
            <p:nvPr/>
          </p:nvSpPr>
          <p:spPr>
            <a:xfrm flipH="1">
              <a:off x="3944155" y="3258691"/>
              <a:ext cx="144000" cy="144000"/>
            </a:xfrm>
            <a:prstGeom prst="ellipse">
              <a:avLst/>
            </a:prstGeom>
            <a:solidFill>
              <a:srgbClr val="433B83"/>
            </a:solidFill>
            <a:ln>
              <a:solidFill>
                <a:srgbClr val="433B83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242" name="Gruppieren 7">
            <a:extLst>
              <a:ext uri="{FF2B5EF4-FFF2-40B4-BE49-F238E27FC236}">
                <a16:creationId xmlns:a16="http://schemas.microsoft.com/office/drawing/2014/main" id="{49A84B7F-ADBB-4CF3-A66D-668060682918}"/>
              </a:ext>
            </a:extLst>
          </p:cNvPr>
          <p:cNvGrpSpPr/>
          <p:nvPr/>
        </p:nvGrpSpPr>
        <p:grpSpPr>
          <a:xfrm>
            <a:off x="3397785" y="1780792"/>
            <a:ext cx="2340000" cy="2340000"/>
            <a:chOff x="3397785" y="1780792"/>
            <a:chExt cx="2340000" cy="2340000"/>
          </a:xfrm>
        </p:grpSpPr>
        <p:sp>
          <p:nvSpPr>
            <p:cNvPr id="243" name="Rechteck 242">
              <a:extLst>
                <a:ext uri="{FF2B5EF4-FFF2-40B4-BE49-F238E27FC236}">
                  <a16:creationId xmlns:a16="http://schemas.microsoft.com/office/drawing/2014/main" id="{42153C05-BE61-4B43-9387-A634658EB866}"/>
                </a:ext>
              </a:extLst>
            </p:cNvPr>
            <p:cNvSpPr/>
            <p:nvPr/>
          </p:nvSpPr>
          <p:spPr>
            <a:xfrm>
              <a:off x="3397785" y="1780792"/>
              <a:ext cx="2340000" cy="2340000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245" name="Ellipse 244">
              <a:extLst>
                <a:ext uri="{FF2B5EF4-FFF2-40B4-BE49-F238E27FC236}">
                  <a16:creationId xmlns:a16="http://schemas.microsoft.com/office/drawing/2014/main" id="{B0BDF4CB-9CCF-4550-91A0-DAF1DBA9E001}"/>
                </a:ext>
              </a:extLst>
            </p:cNvPr>
            <p:cNvSpPr/>
            <p:nvPr/>
          </p:nvSpPr>
          <p:spPr>
            <a:xfrm flipH="1">
              <a:off x="3798292" y="3497016"/>
              <a:ext cx="144000" cy="144000"/>
            </a:xfrm>
            <a:prstGeom prst="ellipse">
              <a:avLst/>
            </a:prstGeom>
            <a:solidFill>
              <a:srgbClr val="433B83"/>
            </a:solidFill>
            <a:ln>
              <a:solidFill>
                <a:srgbClr val="433B83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46" name="Ellipse 245">
              <a:extLst>
                <a:ext uri="{FF2B5EF4-FFF2-40B4-BE49-F238E27FC236}">
                  <a16:creationId xmlns:a16="http://schemas.microsoft.com/office/drawing/2014/main" id="{EDB7481F-1A75-479D-AC20-CCAC12A77AC8}"/>
                </a:ext>
              </a:extLst>
            </p:cNvPr>
            <p:cNvSpPr/>
            <p:nvPr/>
          </p:nvSpPr>
          <p:spPr>
            <a:xfrm flipH="1">
              <a:off x="3558429" y="3649971"/>
              <a:ext cx="144000" cy="144000"/>
            </a:xfrm>
            <a:prstGeom prst="ellipse">
              <a:avLst/>
            </a:prstGeom>
            <a:solidFill>
              <a:srgbClr val="433B83"/>
            </a:solidFill>
            <a:ln>
              <a:solidFill>
                <a:srgbClr val="433B83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47" name="Ellipse 246">
              <a:extLst>
                <a:ext uri="{FF2B5EF4-FFF2-40B4-BE49-F238E27FC236}">
                  <a16:creationId xmlns:a16="http://schemas.microsoft.com/office/drawing/2014/main" id="{616264A0-8C09-4813-88CB-9D45199118B4}"/>
                </a:ext>
              </a:extLst>
            </p:cNvPr>
            <p:cNvSpPr/>
            <p:nvPr/>
          </p:nvSpPr>
          <p:spPr>
            <a:xfrm flipH="1">
              <a:off x="3894360" y="3768746"/>
              <a:ext cx="144000" cy="144000"/>
            </a:xfrm>
            <a:prstGeom prst="ellipse">
              <a:avLst/>
            </a:prstGeom>
            <a:solidFill>
              <a:srgbClr val="433B83"/>
            </a:solidFill>
            <a:ln>
              <a:solidFill>
                <a:srgbClr val="433B83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48" name="Ellipse 247">
              <a:extLst>
                <a:ext uri="{FF2B5EF4-FFF2-40B4-BE49-F238E27FC236}">
                  <a16:creationId xmlns:a16="http://schemas.microsoft.com/office/drawing/2014/main" id="{02CE67AB-71D3-4EB3-85D6-9B6A247C3A1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851406" y="3003814"/>
              <a:ext cx="144000" cy="144000"/>
            </a:xfrm>
            <a:prstGeom prst="ellipse">
              <a:avLst/>
            </a:prstGeom>
            <a:solidFill>
              <a:srgbClr val="433B83"/>
            </a:solidFill>
            <a:ln>
              <a:solidFill>
                <a:srgbClr val="433B83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49" name="Ellipse 248">
              <a:extLst>
                <a:ext uri="{FF2B5EF4-FFF2-40B4-BE49-F238E27FC236}">
                  <a16:creationId xmlns:a16="http://schemas.microsoft.com/office/drawing/2014/main" id="{A2CC731B-90DC-4DF1-A551-97EBA4C3826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123033" y="3400576"/>
              <a:ext cx="144000" cy="144000"/>
            </a:xfrm>
            <a:prstGeom prst="ellipse">
              <a:avLst/>
            </a:prstGeom>
            <a:solidFill>
              <a:srgbClr val="FDE724"/>
            </a:solidFill>
            <a:ln>
              <a:solidFill>
                <a:srgbClr val="FDE724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50" name="Ellipse 249">
              <a:extLst>
                <a:ext uri="{FF2B5EF4-FFF2-40B4-BE49-F238E27FC236}">
                  <a16:creationId xmlns:a16="http://schemas.microsoft.com/office/drawing/2014/main" id="{AF616E50-12E6-4FAF-BCF7-B3BD74055848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205112" y="3127776"/>
              <a:ext cx="144000" cy="144000"/>
            </a:xfrm>
            <a:prstGeom prst="ellipse">
              <a:avLst/>
            </a:prstGeom>
            <a:solidFill>
              <a:srgbClr val="433B83"/>
            </a:solidFill>
            <a:ln>
              <a:solidFill>
                <a:srgbClr val="433B83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51" name="Ellipse 250">
              <a:extLst>
                <a:ext uri="{FF2B5EF4-FFF2-40B4-BE49-F238E27FC236}">
                  <a16:creationId xmlns:a16="http://schemas.microsoft.com/office/drawing/2014/main" id="{B8E821CD-DFF1-4741-87CA-4C54C8C0777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876640" y="2643774"/>
              <a:ext cx="144000" cy="144000"/>
            </a:xfrm>
            <a:prstGeom prst="ellipse">
              <a:avLst/>
            </a:prstGeom>
            <a:solidFill>
              <a:srgbClr val="277C8E"/>
            </a:solidFill>
            <a:ln>
              <a:solidFill>
                <a:srgbClr val="277C8E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52" name="Ellipse 251">
              <a:extLst>
                <a:ext uri="{FF2B5EF4-FFF2-40B4-BE49-F238E27FC236}">
                  <a16:creationId xmlns:a16="http://schemas.microsoft.com/office/drawing/2014/main" id="{F0A16BE6-BEA9-4954-B930-78121E38A807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179389" y="2464091"/>
              <a:ext cx="144000" cy="144000"/>
            </a:xfrm>
            <a:prstGeom prst="ellipse">
              <a:avLst/>
            </a:prstGeom>
            <a:solidFill>
              <a:srgbClr val="277C8E"/>
            </a:solidFill>
            <a:ln>
              <a:solidFill>
                <a:srgbClr val="277C8E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53" name="Ellipse 252">
              <a:extLst>
                <a:ext uri="{FF2B5EF4-FFF2-40B4-BE49-F238E27FC236}">
                  <a16:creationId xmlns:a16="http://schemas.microsoft.com/office/drawing/2014/main" id="{C9276D0A-C271-4049-BEB5-9E28F7EE8CA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643494" y="2274230"/>
              <a:ext cx="144000" cy="144000"/>
            </a:xfrm>
            <a:prstGeom prst="ellipse">
              <a:avLst/>
            </a:prstGeom>
            <a:solidFill>
              <a:srgbClr val="277C8E"/>
            </a:solidFill>
            <a:ln>
              <a:solidFill>
                <a:srgbClr val="277C8E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54" name="Ellipse 253">
              <a:extLst>
                <a:ext uri="{FF2B5EF4-FFF2-40B4-BE49-F238E27FC236}">
                  <a16:creationId xmlns:a16="http://schemas.microsoft.com/office/drawing/2014/main" id="{1E581B5A-0706-422B-AA90-0D1B50758E0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948640" y="2086296"/>
              <a:ext cx="144000" cy="144000"/>
            </a:xfrm>
            <a:prstGeom prst="ellipse">
              <a:avLst/>
            </a:prstGeom>
            <a:solidFill>
              <a:srgbClr val="277C8E"/>
            </a:solidFill>
            <a:ln>
              <a:solidFill>
                <a:srgbClr val="277C8E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55" name="Ellipse 254">
              <a:extLst>
                <a:ext uri="{FF2B5EF4-FFF2-40B4-BE49-F238E27FC236}">
                  <a16:creationId xmlns:a16="http://schemas.microsoft.com/office/drawing/2014/main" id="{176B2BB0-0DDB-41E5-82CC-EFF7ADBCE38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911981" y="2361161"/>
              <a:ext cx="144000" cy="144000"/>
            </a:xfrm>
            <a:prstGeom prst="ellipse">
              <a:avLst/>
            </a:prstGeom>
            <a:solidFill>
              <a:srgbClr val="277C8E"/>
            </a:solidFill>
            <a:ln>
              <a:solidFill>
                <a:srgbClr val="277C8E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56" name="Ellipse 255">
              <a:extLst>
                <a:ext uri="{FF2B5EF4-FFF2-40B4-BE49-F238E27FC236}">
                  <a16:creationId xmlns:a16="http://schemas.microsoft.com/office/drawing/2014/main" id="{ACAD8B0D-67F5-4561-A7B5-10B6A07FF0E7}"/>
                </a:ext>
              </a:extLst>
            </p:cNvPr>
            <p:cNvSpPr/>
            <p:nvPr/>
          </p:nvSpPr>
          <p:spPr>
            <a:xfrm flipH="1">
              <a:off x="3944155" y="3258691"/>
              <a:ext cx="144000" cy="144000"/>
            </a:xfrm>
            <a:prstGeom prst="ellipse">
              <a:avLst/>
            </a:prstGeom>
            <a:solidFill>
              <a:srgbClr val="433B83"/>
            </a:solidFill>
            <a:ln>
              <a:solidFill>
                <a:srgbClr val="433B83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pic>
        <p:nvPicPr>
          <p:cNvPr id="65" name="Cluster">
            <a:hlinkClick r:id="" action="ppaction://media"/>
            <a:extLst>
              <a:ext uri="{FF2B5EF4-FFF2-40B4-BE49-F238E27FC236}">
                <a16:creationId xmlns:a16="http://schemas.microsoft.com/office/drawing/2014/main" id="{EDCD657C-E44D-4322-B19F-0D799F699392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 rotWithShape="1">
          <a:blip r:embed="rId9"/>
          <a:srcRect l="21910" r="21909"/>
          <a:stretch/>
        </p:blipFill>
        <p:spPr>
          <a:xfrm>
            <a:off x="6262850" y="1484873"/>
            <a:ext cx="2876444" cy="2880000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380FB805-A1CD-4D97-94AB-A5673452668C}"/>
              </a:ext>
            </a:extLst>
          </p:cNvPr>
          <p:cNvSpPr/>
          <p:nvPr/>
        </p:nvSpPr>
        <p:spPr>
          <a:xfrm>
            <a:off x="6219888" y="1614160"/>
            <a:ext cx="2879999" cy="26857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3" name="Gerade Verbindung mit Pfeil 62">
            <a:extLst>
              <a:ext uri="{FF2B5EF4-FFF2-40B4-BE49-F238E27FC236}">
                <a16:creationId xmlns:a16="http://schemas.microsoft.com/office/drawing/2014/main" id="{40F463D2-1D32-4B50-88FE-DDE38B53FE1D}"/>
              </a:ext>
            </a:extLst>
          </p:cNvPr>
          <p:cNvCxnSpPr>
            <a:cxnSpLocks/>
          </p:cNvCxnSpPr>
          <p:nvPr/>
        </p:nvCxnSpPr>
        <p:spPr>
          <a:xfrm>
            <a:off x="5940152" y="2894703"/>
            <a:ext cx="438038" cy="0"/>
          </a:xfrm>
          <a:prstGeom prst="straightConnector1">
            <a:avLst/>
          </a:prstGeom>
          <a:ln w="76200">
            <a:solidFill>
              <a:srgbClr val="003C5A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7" name="Grafik 16">
            <a:extLst>
              <a:ext uri="{FF2B5EF4-FFF2-40B4-BE49-F238E27FC236}">
                <a16:creationId xmlns:a16="http://schemas.microsoft.com/office/drawing/2014/main" id="{43E5D701-2137-46A8-B6F1-D53BF45BC4D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62710" y="1491950"/>
            <a:ext cx="2880000" cy="2880000"/>
          </a:xfrm>
          <a:prstGeom prst="rect">
            <a:avLst/>
          </a:prstGeom>
        </p:spPr>
      </p:pic>
      <p:grpSp>
        <p:nvGrpSpPr>
          <p:cNvPr id="3" name="Gruppieren 10">
            <a:extLst>
              <a:ext uri="{FF2B5EF4-FFF2-40B4-BE49-F238E27FC236}">
                <a16:creationId xmlns:a16="http://schemas.microsoft.com/office/drawing/2014/main" id="{B7296C37-0203-4407-9B48-99C8711AF91B}"/>
              </a:ext>
            </a:extLst>
          </p:cNvPr>
          <p:cNvGrpSpPr/>
          <p:nvPr/>
        </p:nvGrpSpPr>
        <p:grpSpPr>
          <a:xfrm>
            <a:off x="2771800" y="1405423"/>
            <a:ext cx="3551488" cy="2829429"/>
            <a:chOff x="2665769" y="1405423"/>
            <a:chExt cx="3551488" cy="2829429"/>
          </a:xfrm>
        </p:grpSpPr>
        <p:pic>
          <p:nvPicPr>
            <p:cNvPr id="24" name="Grafik 23">
              <a:extLst>
                <a:ext uri="{FF2B5EF4-FFF2-40B4-BE49-F238E27FC236}">
                  <a16:creationId xmlns:a16="http://schemas.microsoft.com/office/drawing/2014/main" id="{739B213C-6B12-4BEC-9A8C-827F4B2E853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/>
            <a:srcRect l="5000" t="15227" r="18695" b="6967"/>
            <a:stretch/>
          </p:blipFill>
          <p:spPr>
            <a:xfrm>
              <a:off x="2665769" y="1766281"/>
              <a:ext cx="3551488" cy="2468571"/>
            </a:xfrm>
            <a:prstGeom prst="rect">
              <a:avLst/>
            </a:prstGeom>
          </p:spPr>
        </p:pic>
        <p:cxnSp>
          <p:nvCxnSpPr>
            <p:cNvPr id="267" name="Gerade Verbindung mit Pfeil 266">
              <a:extLst>
                <a:ext uri="{FF2B5EF4-FFF2-40B4-BE49-F238E27FC236}">
                  <a16:creationId xmlns:a16="http://schemas.microsoft.com/office/drawing/2014/main" id="{313C1C8F-94F7-4923-907C-4C69BC5740E1}"/>
                </a:ext>
              </a:extLst>
            </p:cNvPr>
            <p:cNvCxnSpPr>
              <a:cxnSpLocks/>
            </p:cNvCxnSpPr>
            <p:nvPr/>
          </p:nvCxnSpPr>
          <p:spPr>
            <a:xfrm rot="2700000">
              <a:off x="4476982" y="3575862"/>
              <a:ext cx="134640" cy="134640"/>
            </a:xfrm>
            <a:prstGeom prst="straightConnector1">
              <a:avLst/>
            </a:prstGeom>
            <a:ln w="19050">
              <a:solidFill>
                <a:srgbClr val="003C5A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8" name="Textfeld 267">
                  <a:extLst>
                    <a:ext uri="{FF2B5EF4-FFF2-40B4-BE49-F238E27FC236}">
                      <a16:creationId xmlns:a16="http://schemas.microsoft.com/office/drawing/2014/main" id="{D47B4919-F216-4595-A314-061ABBC77121}"/>
                    </a:ext>
                  </a:extLst>
                </p:cNvPr>
                <p:cNvSpPr txBox="1"/>
                <p:nvPr/>
              </p:nvSpPr>
              <p:spPr>
                <a:xfrm>
                  <a:off x="4217508" y="3185459"/>
                  <a:ext cx="610885" cy="3625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 dirty="0" smtClean="0">
                                <a:solidFill>
                                  <a:srgbClr val="003C5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400" b="0" i="1" dirty="0" smtClean="0">
                                <a:solidFill>
                                  <a:srgbClr val="003C5A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sz="1400" b="0" i="0" dirty="0" smtClean="0">
                                <a:solidFill>
                                  <a:srgbClr val="003C5A"/>
                                </a:solidFill>
                                <a:latin typeface="Cambria Math" panose="02040503050406030204" pitchFamily="18" charset="0"/>
                              </a:rPr>
                              <m:t>min</m:t>
                            </m:r>
                            <m:r>
                              <a:rPr lang="de-DE" sz="1400" b="0" i="0" dirty="0" smtClean="0">
                                <a:solidFill>
                                  <a:srgbClr val="003C5A"/>
                                </a:solidFill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</m:oMath>
                    </m:oMathPara>
                  </a14:m>
                  <a:endParaRPr lang="de-DE" sz="1400" dirty="0"/>
                </a:p>
              </p:txBody>
            </p:sp>
          </mc:Choice>
          <mc:Fallback xmlns="">
            <p:sp>
              <p:nvSpPr>
                <p:cNvPr id="268" name="Textfeld 267">
                  <a:extLst>
                    <a:ext uri="{FF2B5EF4-FFF2-40B4-BE49-F238E27FC236}">
                      <a16:creationId xmlns:a16="http://schemas.microsoft.com/office/drawing/2014/main" id="{D47B4919-F216-4595-A314-061ABBC771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17508" y="3185459"/>
                  <a:ext cx="610885" cy="362518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7" name="Gerade Verbindung mit Pfeil 126">
              <a:extLst>
                <a:ext uri="{FF2B5EF4-FFF2-40B4-BE49-F238E27FC236}">
                  <a16:creationId xmlns:a16="http://schemas.microsoft.com/office/drawing/2014/main" id="{DDD64AE2-243B-4C2E-BEDF-64F30380B7BF}"/>
                </a:ext>
              </a:extLst>
            </p:cNvPr>
            <p:cNvCxnSpPr>
              <a:cxnSpLocks/>
            </p:cNvCxnSpPr>
            <p:nvPr/>
          </p:nvCxnSpPr>
          <p:spPr>
            <a:xfrm>
              <a:off x="3116814" y="1582331"/>
              <a:ext cx="237600" cy="0"/>
            </a:xfrm>
            <a:prstGeom prst="straightConnector1">
              <a:avLst/>
            </a:prstGeom>
            <a:ln w="19050">
              <a:solidFill>
                <a:srgbClr val="003C5A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39" name="Grafik 138">
              <a:extLst>
                <a:ext uri="{FF2B5EF4-FFF2-40B4-BE49-F238E27FC236}">
                  <a16:creationId xmlns:a16="http://schemas.microsoft.com/office/drawing/2014/main" id="{C74B2AFF-7548-4342-8B28-CA2A1BECCB5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/>
            <a:srcRect l="68661" t="41650" r="12300" b="39236"/>
            <a:stretch/>
          </p:blipFill>
          <p:spPr>
            <a:xfrm>
              <a:off x="2887330" y="1493802"/>
              <a:ext cx="179277" cy="180000"/>
            </a:xfrm>
            <a:prstGeom prst="rect">
              <a:avLst/>
            </a:prstGeom>
          </p:spPr>
        </p:pic>
        <p:pic>
          <p:nvPicPr>
            <p:cNvPr id="140" name="Grafik 139">
              <a:extLst>
                <a:ext uri="{FF2B5EF4-FFF2-40B4-BE49-F238E27FC236}">
                  <a16:creationId xmlns:a16="http://schemas.microsoft.com/office/drawing/2014/main" id="{E6C0CCCB-F6BA-4472-A24A-5276576A63D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/>
            <a:srcRect l="17556" t="5621" r="42440" b="53721"/>
            <a:stretch/>
          </p:blipFill>
          <p:spPr>
            <a:xfrm>
              <a:off x="3404738" y="1405423"/>
              <a:ext cx="354212" cy="36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32370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53" fill="hold"/>
                                        <p:tgtEl>
                                          <p:spTgt spid="6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78" dur="4053" fill="hold"/>
                                        <p:tgtEl>
                                          <p:spTgt spid="6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84" dur="1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88" fill="hold" display="0">
                  <p:stCondLst>
                    <p:cond delay="indefinite"/>
                  </p:stCondLst>
                </p:cTn>
                <p:tgtEl>
                  <p:spTgt spid="62"/>
                </p:tgtEl>
              </p:cMediaNode>
            </p:video>
            <p:video>
              <p:cMediaNode vol="80000">
                <p:cTn id="89" fill="hold" display="0">
                  <p:stCondLst>
                    <p:cond delay="indefinite"/>
                  </p:stCondLst>
                </p:cTn>
                <p:tgtEl>
                  <p:spTgt spid="65"/>
                </p:tgtEl>
              </p:cMediaNode>
            </p:video>
          </p:childTnLst>
        </p:cTn>
      </p:par>
    </p:tnLst>
    <p:bldLst>
      <p:bldP spid="11" grpId="0"/>
      <p:bldP spid="266" grpId="0" animBg="1"/>
      <p:bldP spid="66" grpId="0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29386" y="771550"/>
            <a:ext cx="846989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 anchorCtr="0">
            <a:noAutofit/>
          </a:bodyPr>
          <a:lstStyle/>
          <a:p>
            <a:pPr eaLnBrk="0" hangingPunct="0"/>
            <a:r>
              <a:rPr lang="de-DE" sz="2400" b="1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Clusterverteilung </a:t>
            </a:r>
            <a:endParaRPr lang="de-DE" sz="1000" dirty="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419D01ED-B978-496A-A356-12789ABA69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59" y="1305207"/>
            <a:ext cx="2880000" cy="2880000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23481231-7371-41CA-A401-CD8C19FBA6B0}"/>
              </a:ext>
            </a:extLst>
          </p:cNvPr>
          <p:cNvSpPr txBox="1"/>
          <p:nvPr/>
        </p:nvSpPr>
        <p:spPr>
          <a:xfrm>
            <a:off x="125520" y="4912668"/>
            <a:ext cx="876695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/>
            <a:r>
              <a:rPr lang="en-US" sz="9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[1] </a:t>
            </a:r>
            <a:r>
              <a:rPr lang="en-US" sz="900" dirty="0" err="1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Lanaro</a:t>
            </a:r>
            <a:r>
              <a:rPr lang="en-US" sz="9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, G.; </a:t>
            </a:r>
            <a:r>
              <a:rPr lang="en-US" sz="900" dirty="0" err="1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Patey</a:t>
            </a:r>
            <a:r>
              <a:rPr lang="en-US" sz="9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, G. N., Journal of physical chemistry, (2016), B 120 (34), 9076 9087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C6AFED91-25E9-4F53-AE27-229BFFCA0CC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208528" y="1112332"/>
            <a:ext cx="5161799" cy="3599695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D6CF4AB6-C55B-42B9-84F3-1519078F2854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208528" y="1112332"/>
            <a:ext cx="5161799" cy="3599695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CA10FC8B-307F-4B7D-800C-35DC04441E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8528" y="1112332"/>
            <a:ext cx="5161799" cy="3599695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4D393D12-BC0F-4C24-A7E9-956C60AF83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71044" y="1119178"/>
            <a:ext cx="5086360" cy="3599695"/>
          </a:xfrm>
          <a:prstGeom prst="rect">
            <a:avLst/>
          </a:prstGeom>
        </p:spPr>
      </p:pic>
      <p:cxnSp>
        <p:nvCxnSpPr>
          <p:cNvPr id="63" name="Gerade Verbindung mit Pfeil 62">
            <a:extLst>
              <a:ext uri="{FF2B5EF4-FFF2-40B4-BE49-F238E27FC236}">
                <a16:creationId xmlns:a16="http://schemas.microsoft.com/office/drawing/2014/main" id="{40F463D2-1D32-4B50-88FE-DDE38B53FE1D}"/>
              </a:ext>
            </a:extLst>
          </p:cNvPr>
          <p:cNvCxnSpPr>
            <a:cxnSpLocks/>
          </p:cNvCxnSpPr>
          <p:nvPr/>
        </p:nvCxnSpPr>
        <p:spPr>
          <a:xfrm>
            <a:off x="3707904" y="2721814"/>
            <a:ext cx="438038" cy="0"/>
          </a:xfrm>
          <a:prstGeom prst="straightConnector1">
            <a:avLst/>
          </a:prstGeom>
          <a:ln w="76200">
            <a:solidFill>
              <a:srgbClr val="003C5A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6">
                <a:extLst>
                  <a:ext uri="{FF2B5EF4-FFF2-40B4-BE49-F238E27FC236}">
                    <a16:creationId xmlns:a16="http://schemas.microsoft.com/office/drawing/2014/main" id="{23D5AD91-ED37-47B2-B52F-6AD396DBC5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592" y="2595865"/>
                <a:ext cx="2520280" cy="6603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t" anchorCtr="0">
                <a:noAutofit/>
              </a:bodyPr>
              <a:lstStyle/>
              <a:p>
                <a:pPr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de-DE" sz="1400" i="1">
                              <a:solidFill>
                                <a:srgbClr val="003C5A"/>
                              </a:solidFill>
                              <a:latin typeface="Cambria Math" panose="02040503050406030204" pitchFamily="18" charset="0"/>
                              <a:ea typeface="Segoe UI Symbol" pitchFamily="34" charset="0"/>
                              <a:cs typeface="Arial" pitchFamily="34" charset="0"/>
                            </a:rPr>
                          </m:ctrlPr>
                        </m:sSubSupPr>
                        <m:e>
                          <m:r>
                            <a:rPr lang="de-DE" sz="1400" i="1">
                              <a:solidFill>
                                <a:srgbClr val="003C5A"/>
                              </a:solidFill>
                              <a:latin typeface="Cambria Math" panose="02040503050406030204" pitchFamily="18" charset="0"/>
                              <a:ea typeface="Segoe UI Symbol" pitchFamily="34" charset="0"/>
                              <a:cs typeface="Arial" pitchFamily="34" charset="0"/>
                            </a:rPr>
                            <m:t>𝑁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sz="1400">
                              <a:solidFill>
                                <a:srgbClr val="003C5A"/>
                              </a:solidFill>
                              <a:latin typeface="Cambria Math" panose="02040503050406030204" pitchFamily="18" charset="0"/>
                              <a:ea typeface="Segoe UI Symbol" pitchFamily="34" charset="0"/>
                              <a:cs typeface="Arial" pitchFamily="34" charset="0"/>
                            </a:rPr>
                            <m:t>j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de-DE" sz="1400">
                              <a:solidFill>
                                <a:srgbClr val="003C5A"/>
                              </a:solidFill>
                              <a:latin typeface="Cambria Math" panose="02040503050406030204" pitchFamily="18" charset="0"/>
                              <a:ea typeface="Segoe UI Symbol" pitchFamily="34" charset="0"/>
                              <a:cs typeface="Arial" pitchFamily="34" charset="0"/>
                            </a:rPr>
                            <m:t>C</m:t>
                          </m:r>
                        </m:sup>
                      </m:sSubSup>
                      <m:r>
                        <a:rPr lang="de-DE" sz="1400" i="1">
                          <a:solidFill>
                            <a:srgbClr val="003C5A"/>
                          </a:solidFill>
                          <a:latin typeface="Cambria Math" panose="02040503050406030204" pitchFamily="18" charset="0"/>
                          <a:ea typeface="Segoe UI Symbol" pitchFamily="34" charset="0"/>
                          <a:cs typeface="Arial" pitchFamily="34" charset="0"/>
                        </a:rPr>
                        <m:t> 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de-DE" sz="1400" i="1" smtClean="0">
                              <a:solidFill>
                                <a:srgbClr val="003C5A"/>
                              </a:solidFill>
                              <a:latin typeface="Cambria Math" panose="02040503050406030204" pitchFamily="18" charset="0"/>
                              <a:ea typeface="Segoe UI Symbol" pitchFamily="34" charset="0"/>
                              <a:cs typeface="Arial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DE" sz="1400" i="1">
                              <a:solidFill>
                                <a:srgbClr val="003C5A"/>
                              </a:solidFill>
                              <a:latin typeface="Cambria Math" panose="02040503050406030204" pitchFamily="18" charset="0"/>
                              <a:ea typeface="Segoe UI Symbol" pitchFamily="34" charset="0"/>
                              <a:cs typeface="Arial" pitchFamily="34" charset="0"/>
                            </a:rPr>
                            <m:t>𝑖</m:t>
                          </m:r>
                          <m:r>
                            <a:rPr lang="de-DE" sz="1400" b="0" i="0" smtClean="0">
                              <a:solidFill>
                                <a:srgbClr val="003C5A"/>
                              </a:solidFill>
                              <a:latin typeface="Cambria Math" panose="02040503050406030204" pitchFamily="18" charset="0"/>
                              <a:ea typeface="Segoe UI Symbol" pitchFamily="34" charset="0"/>
                              <a:cs typeface="Arial" pitchFamily="34" charset="0"/>
                            </a:rPr>
                            <m:t>=1</m:t>
                          </m:r>
                        </m:sub>
                        <m:sup>
                          <m:sSup>
                            <m:sSupPr>
                              <m:ctrlPr>
                                <a:rPr lang="de-DE" sz="1400" i="1" smtClean="0">
                                  <a:solidFill>
                                    <a:srgbClr val="003C5A"/>
                                  </a:solidFill>
                                  <a:latin typeface="Cambria Math" panose="02040503050406030204" pitchFamily="18" charset="0"/>
                                  <a:ea typeface="Segoe UI Symbol" pitchFamily="34" charset="0"/>
                                  <a:cs typeface="Arial" pitchFamily="34" charset="0"/>
                                </a:rPr>
                              </m:ctrlPr>
                            </m:sSupPr>
                            <m:e>
                              <m:r>
                                <a:rPr lang="de-DE" sz="1400" b="0" i="1" smtClean="0">
                                  <a:solidFill>
                                    <a:srgbClr val="003C5A"/>
                                  </a:solidFill>
                                  <a:latin typeface="Cambria Math" panose="02040503050406030204" pitchFamily="18" charset="0"/>
                                  <a:ea typeface="Segoe UI Symbol" pitchFamily="34" charset="0"/>
                                  <a:cs typeface="Arial" pitchFamily="34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de-DE" sz="1400" b="0" i="0" smtClean="0">
                                  <a:solidFill>
                                    <a:srgbClr val="003C5A"/>
                                  </a:solidFill>
                                  <a:latin typeface="Cambria Math" panose="02040503050406030204" pitchFamily="18" charset="0"/>
                                  <a:ea typeface="Segoe UI Symbol" pitchFamily="34" charset="0"/>
                                  <a:cs typeface="Arial" pitchFamily="34" charset="0"/>
                                </a:rPr>
                                <m:t>C</m:t>
                              </m:r>
                            </m:sup>
                          </m:sSup>
                        </m:sup>
                        <m:e>
                          <m:sSubSup>
                            <m:sSubSupPr>
                              <m:ctrlPr>
                                <a:rPr lang="de-DE" sz="1400" i="1" smtClean="0">
                                  <a:solidFill>
                                    <a:srgbClr val="003C5A"/>
                                  </a:solidFill>
                                  <a:latin typeface="Cambria Math" panose="02040503050406030204" pitchFamily="18" charset="0"/>
                                  <a:ea typeface="Segoe UI Symbol" pitchFamily="34" charset="0"/>
                                  <a:cs typeface="Arial" pitchFamily="34" charset="0"/>
                                </a:rPr>
                              </m:ctrlPr>
                            </m:sSubSupPr>
                            <m:e>
                              <m:r>
                                <a:rPr lang="de-DE" sz="1400" b="0" i="1" smtClean="0">
                                  <a:solidFill>
                                    <a:srgbClr val="003C5A"/>
                                  </a:solidFill>
                                  <a:latin typeface="Cambria Math" panose="02040503050406030204" pitchFamily="18" charset="0"/>
                                  <a:ea typeface="Segoe UI Symbol" pitchFamily="34" charset="0"/>
                                  <a:cs typeface="Arial" pitchFamily="34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de-DE" sz="1400" b="0" i="1" smtClean="0">
                                  <a:solidFill>
                                    <a:srgbClr val="003C5A"/>
                                  </a:solidFill>
                                  <a:latin typeface="Cambria Math" panose="02040503050406030204" pitchFamily="18" charset="0"/>
                                  <a:ea typeface="Segoe UI Symbol" pitchFamily="34" charset="0"/>
                                  <a:cs typeface="Arial" pitchFamily="34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de-DE" sz="1400" b="0" i="0" smtClean="0">
                                  <a:solidFill>
                                    <a:srgbClr val="003C5A"/>
                                  </a:solidFill>
                                  <a:latin typeface="Cambria Math" panose="02040503050406030204" pitchFamily="18" charset="0"/>
                                  <a:ea typeface="Segoe UI Symbol" pitchFamily="34" charset="0"/>
                                  <a:cs typeface="Arial" pitchFamily="34" charset="0"/>
                                </a:rPr>
                                <m:t>C</m:t>
                              </m:r>
                            </m:sup>
                          </m:sSubSup>
                        </m:e>
                      </m:nary>
                      <m:r>
                        <a:rPr lang="de-DE" sz="1400" b="0" i="1" smtClean="0">
                          <a:solidFill>
                            <a:srgbClr val="003C5A"/>
                          </a:solidFill>
                          <a:latin typeface="Cambria Math" panose="02040503050406030204" pitchFamily="18" charset="0"/>
                          <a:ea typeface="Segoe UI Symbol" pitchFamily="34" charset="0"/>
                          <a:cs typeface="Arial" pitchFamily="34" charset="0"/>
                        </a:rPr>
                        <m:t>  </m:t>
                      </m:r>
                      <m:r>
                        <a:rPr lang="de-DE" sz="1400" i="1" smtClean="0">
                          <a:solidFill>
                            <a:srgbClr val="003C5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itchFamily="34" charset="0"/>
                        </a:rPr>
                        <m:t>∀</m:t>
                      </m:r>
                      <m:r>
                        <a:rPr lang="de-DE" sz="1400" b="0" i="1" smtClean="0">
                          <a:solidFill>
                            <a:srgbClr val="003C5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itchFamily="34" charset="0"/>
                        </a:rPr>
                        <m:t> </m:t>
                      </m:r>
                      <m:sSubSup>
                        <m:sSubSupPr>
                          <m:ctrlPr>
                            <a:rPr lang="de-DE" sz="1400" b="0" i="1" smtClean="0">
                              <a:solidFill>
                                <a:srgbClr val="003C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</m:ctrlPr>
                        </m:sSubSupPr>
                        <m:e>
                          <m:r>
                            <a:rPr lang="de-DE" sz="1400" b="0" i="1" smtClean="0">
                              <a:solidFill>
                                <a:srgbClr val="003C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  <m:t>𝑛</m:t>
                          </m:r>
                        </m:e>
                        <m:sub>
                          <m:r>
                            <a:rPr lang="de-DE" sz="1400" b="0" i="1" smtClean="0">
                              <a:solidFill>
                                <a:srgbClr val="003C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  <m:t>𝑖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de-DE" sz="1400" b="0" i="0" smtClean="0">
                              <a:solidFill>
                                <a:srgbClr val="003C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  <m:t>C</m:t>
                          </m:r>
                        </m:sup>
                      </m:sSubSup>
                      <m:r>
                        <a:rPr lang="de-DE" sz="1400" b="0" i="1" smtClean="0">
                          <a:solidFill>
                            <a:srgbClr val="003C5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itchFamily="34" charset="0"/>
                        </a:rPr>
                        <m:t>≥6</m:t>
                      </m:r>
                    </m:oMath>
                  </m:oMathPara>
                </a14:m>
                <a:endParaRPr lang="de-DE" sz="1400" dirty="0">
                  <a:solidFill>
                    <a:srgbClr val="003C5A"/>
                  </a:solidFill>
                  <a:latin typeface="Arial" pitchFamily="34" charset="0"/>
                  <a:ea typeface="Segoe UI Symbo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22" name="Rectangle 6">
                <a:extLst>
                  <a:ext uri="{FF2B5EF4-FFF2-40B4-BE49-F238E27FC236}">
                    <a16:creationId xmlns:a16="http://schemas.microsoft.com/office/drawing/2014/main" id="{23D5AD91-ED37-47B2-B52F-6AD396DBC5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9592" y="2595865"/>
                <a:ext cx="2520280" cy="66035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6">
                <a:extLst>
                  <a:ext uri="{FF2B5EF4-FFF2-40B4-BE49-F238E27FC236}">
                    <a16:creationId xmlns:a16="http://schemas.microsoft.com/office/drawing/2014/main" id="{4A520C62-50DD-4EDB-B1CA-0A7589780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592" y="1638536"/>
                <a:ext cx="2520280" cy="3205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t" anchorCtr="0">
                <a:noAutofit/>
              </a:bodyPr>
              <a:lstStyle/>
              <a:p>
                <a:pPr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sz="1400" i="0" smtClean="0">
                          <a:solidFill>
                            <a:srgbClr val="003C5A"/>
                          </a:solidFill>
                          <a:latin typeface="Cambria Math" panose="02040503050406030204" pitchFamily="18" charset="0"/>
                          <a:ea typeface="Segoe UI Symbol" pitchFamily="34" charset="0"/>
                          <a:cs typeface="Arial" pitchFamily="34" charset="0"/>
                        </a:rPr>
                        <m:t>C</m:t>
                      </m:r>
                      <m:r>
                        <m:rPr>
                          <m:sty m:val="p"/>
                        </m:rPr>
                        <a:rPr lang="de-DE" sz="1400" b="0" i="0" smtClean="0">
                          <a:solidFill>
                            <a:srgbClr val="003C5A"/>
                          </a:solidFill>
                          <a:latin typeface="Cambria Math" panose="02040503050406030204" pitchFamily="18" charset="0"/>
                          <a:ea typeface="Segoe UI Symbol" pitchFamily="34" charset="0"/>
                          <a:cs typeface="Arial" pitchFamily="34" charset="0"/>
                        </a:rPr>
                        <m:t>luster</m:t>
                      </m:r>
                      <m:r>
                        <a:rPr lang="de-DE" sz="1400" b="0" i="0" smtClean="0">
                          <a:solidFill>
                            <a:srgbClr val="003C5A"/>
                          </a:solidFill>
                          <a:latin typeface="Cambria Math" panose="02040503050406030204" pitchFamily="18" charset="0"/>
                          <a:ea typeface="Segoe UI Symbol" pitchFamily="34" charset="0"/>
                          <a:cs typeface="Arial" pitchFamily="34" charset="0"/>
                        </a:rPr>
                        <m:t>:</m:t>
                      </m:r>
                      <m:r>
                        <a:rPr lang="de-DE" sz="1400" b="0" i="1" smtClean="0">
                          <a:solidFill>
                            <a:srgbClr val="003C5A"/>
                          </a:solidFill>
                          <a:latin typeface="Cambria Math" panose="02040503050406030204" pitchFamily="18" charset="0"/>
                          <a:ea typeface="Segoe UI Symbol" pitchFamily="34" charset="0"/>
                          <a:cs typeface="Arial" pitchFamily="34" charset="0"/>
                        </a:rPr>
                        <m:t>𝑖</m:t>
                      </m:r>
                      <m:r>
                        <a:rPr lang="de-DE" sz="1400" b="0" i="0" smtClean="0">
                          <a:solidFill>
                            <a:srgbClr val="003C5A"/>
                          </a:solidFill>
                          <a:latin typeface="Cambria Math" panose="02040503050406030204" pitchFamily="18" charset="0"/>
                          <a:ea typeface="Segoe UI Symbol" pitchFamily="34" charset="0"/>
                          <a:cs typeface="Arial" pitchFamily="34" charset="0"/>
                        </a:rPr>
                        <m:t>=1…</m:t>
                      </m:r>
                      <m:sSup>
                        <m:sSupPr>
                          <m:ctrlPr>
                            <a:rPr lang="de-DE" sz="1400" b="0" i="1" smtClean="0">
                              <a:solidFill>
                                <a:srgbClr val="003C5A"/>
                              </a:solidFill>
                              <a:latin typeface="Cambria Math" panose="02040503050406030204" pitchFamily="18" charset="0"/>
                              <a:ea typeface="Segoe UI Symbol" pitchFamily="34" charset="0"/>
                              <a:cs typeface="Arial" pitchFamily="34" charset="0"/>
                            </a:rPr>
                          </m:ctrlPr>
                        </m:sSupPr>
                        <m:e>
                          <m:r>
                            <a:rPr lang="de-DE" sz="1400" b="0" i="1" smtClean="0">
                              <a:solidFill>
                                <a:srgbClr val="003C5A"/>
                              </a:solidFill>
                              <a:latin typeface="Cambria Math" panose="02040503050406030204" pitchFamily="18" charset="0"/>
                              <a:ea typeface="Segoe UI Symbol" pitchFamily="34" charset="0"/>
                              <a:cs typeface="Arial" pitchFamily="34" charset="0"/>
                            </a:rPr>
                            <m:t>𝑀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de-DE" sz="1400" b="0" i="0" smtClean="0">
                              <a:solidFill>
                                <a:srgbClr val="003C5A"/>
                              </a:solidFill>
                              <a:latin typeface="Cambria Math" panose="02040503050406030204" pitchFamily="18" charset="0"/>
                              <a:ea typeface="Segoe UI Symbol" pitchFamily="34" charset="0"/>
                              <a:cs typeface="Arial" pitchFamily="34" charset="0"/>
                            </a:rPr>
                            <m:t>C</m:t>
                          </m:r>
                        </m:sup>
                      </m:sSup>
                    </m:oMath>
                  </m:oMathPara>
                </a14:m>
                <a:endParaRPr lang="de-DE" sz="1400" dirty="0">
                  <a:solidFill>
                    <a:srgbClr val="003C5A"/>
                  </a:solidFill>
                  <a:latin typeface="Arial" pitchFamily="34" charset="0"/>
                  <a:ea typeface="Segoe UI Symbo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23" name="Rectangle 6">
                <a:extLst>
                  <a:ext uri="{FF2B5EF4-FFF2-40B4-BE49-F238E27FC236}">
                    <a16:creationId xmlns:a16="http://schemas.microsoft.com/office/drawing/2014/main" id="{4A520C62-50DD-4EDB-B1CA-0A7589780A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9592" y="1638536"/>
                <a:ext cx="2520280" cy="3205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6">
                <a:extLst>
                  <a:ext uri="{FF2B5EF4-FFF2-40B4-BE49-F238E27FC236}">
                    <a16:creationId xmlns:a16="http://schemas.microsoft.com/office/drawing/2014/main" id="{1581AD56-21B4-44AA-8E19-6DD673A16E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3166" y="1954483"/>
                <a:ext cx="2520280" cy="3205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t" anchorCtr="0">
                <a:noAutofit/>
              </a:bodyPr>
              <a:lstStyle/>
              <a:p>
                <a:pPr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sz="1400" i="0" smtClean="0">
                          <a:solidFill>
                            <a:srgbClr val="003C5A"/>
                          </a:solidFill>
                          <a:latin typeface="Cambria Math" panose="02040503050406030204" pitchFamily="18" charset="0"/>
                          <a:ea typeface="Segoe UI Symbol" pitchFamily="34" charset="0"/>
                          <a:cs typeface="Arial" pitchFamily="34" charset="0"/>
                        </a:rPr>
                        <m:t>K</m:t>
                      </m:r>
                      <m:r>
                        <m:rPr>
                          <m:sty m:val="p"/>
                        </m:rPr>
                        <a:rPr lang="de-DE" sz="1400" b="0" i="0" smtClean="0">
                          <a:solidFill>
                            <a:srgbClr val="003C5A"/>
                          </a:solidFill>
                          <a:latin typeface="Cambria Math" panose="02040503050406030204" pitchFamily="18" charset="0"/>
                          <a:ea typeface="Segoe UI Symbol" pitchFamily="34" charset="0"/>
                          <a:cs typeface="Arial" pitchFamily="34" charset="0"/>
                        </a:rPr>
                        <m:t>onfiguration</m:t>
                      </m:r>
                      <m:r>
                        <a:rPr lang="de-DE" sz="1400" b="0" i="0" smtClean="0">
                          <a:solidFill>
                            <a:srgbClr val="003C5A"/>
                          </a:solidFill>
                          <a:latin typeface="Cambria Math" panose="02040503050406030204" pitchFamily="18" charset="0"/>
                          <a:ea typeface="Segoe UI Symbol" pitchFamily="34" charset="0"/>
                          <a:cs typeface="Arial" pitchFamily="34" charset="0"/>
                        </a:rPr>
                        <m:t>:</m:t>
                      </m:r>
                      <m:r>
                        <a:rPr lang="de-DE" sz="1400" b="0" i="1" smtClean="0">
                          <a:solidFill>
                            <a:srgbClr val="003C5A"/>
                          </a:solidFill>
                          <a:latin typeface="Cambria Math" panose="02040503050406030204" pitchFamily="18" charset="0"/>
                          <a:ea typeface="Segoe UI Symbol" pitchFamily="34" charset="0"/>
                          <a:cs typeface="Arial" pitchFamily="34" charset="0"/>
                        </a:rPr>
                        <m:t>𝑗</m:t>
                      </m:r>
                      <m:r>
                        <a:rPr lang="de-DE" sz="1400" b="0" i="0" smtClean="0">
                          <a:solidFill>
                            <a:srgbClr val="003C5A"/>
                          </a:solidFill>
                          <a:latin typeface="Cambria Math" panose="02040503050406030204" pitchFamily="18" charset="0"/>
                          <a:ea typeface="Segoe UI Symbol" pitchFamily="34" charset="0"/>
                          <a:cs typeface="Arial" pitchFamily="34" charset="0"/>
                        </a:rPr>
                        <m:t>=1…</m:t>
                      </m:r>
                      <m:sSup>
                        <m:sSupPr>
                          <m:ctrlPr>
                            <a:rPr lang="de-DE" sz="1400" b="0" i="1" smtClean="0">
                              <a:solidFill>
                                <a:srgbClr val="003C5A"/>
                              </a:solidFill>
                              <a:latin typeface="Cambria Math" panose="02040503050406030204" pitchFamily="18" charset="0"/>
                              <a:ea typeface="Segoe UI Symbol" pitchFamily="34" charset="0"/>
                              <a:cs typeface="Arial" pitchFamily="34" charset="0"/>
                            </a:rPr>
                          </m:ctrlPr>
                        </m:sSupPr>
                        <m:e>
                          <m:r>
                            <a:rPr lang="de-DE" sz="1400" b="0" i="1" smtClean="0">
                              <a:solidFill>
                                <a:srgbClr val="003C5A"/>
                              </a:solidFill>
                              <a:latin typeface="Cambria Math" panose="02040503050406030204" pitchFamily="18" charset="0"/>
                              <a:ea typeface="Segoe UI Symbol" pitchFamily="34" charset="0"/>
                              <a:cs typeface="Arial" pitchFamily="34" charset="0"/>
                            </a:rPr>
                            <m:t>𝑀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de-DE" sz="1400" b="0" i="0" smtClean="0">
                              <a:solidFill>
                                <a:srgbClr val="003C5A"/>
                              </a:solidFill>
                              <a:latin typeface="Cambria Math" panose="02040503050406030204" pitchFamily="18" charset="0"/>
                              <a:ea typeface="Segoe UI Symbol" pitchFamily="34" charset="0"/>
                              <a:cs typeface="Arial" pitchFamily="34" charset="0"/>
                            </a:rPr>
                            <m:t>K</m:t>
                          </m:r>
                        </m:sup>
                      </m:sSup>
                    </m:oMath>
                  </m:oMathPara>
                </a14:m>
                <a:endParaRPr lang="de-DE" sz="1400" dirty="0">
                  <a:solidFill>
                    <a:srgbClr val="003C5A"/>
                  </a:solidFill>
                  <a:latin typeface="Arial" pitchFamily="34" charset="0"/>
                  <a:ea typeface="Segoe UI Symbo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24" name="Rectangle 6">
                <a:extLst>
                  <a:ext uri="{FF2B5EF4-FFF2-40B4-BE49-F238E27FC236}">
                    <a16:creationId xmlns:a16="http://schemas.microsoft.com/office/drawing/2014/main" id="{1581AD56-21B4-44AA-8E19-6DD673A16E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03166" y="1954483"/>
                <a:ext cx="2520280" cy="320510"/>
              </a:xfrm>
              <a:prstGeom prst="rect">
                <a:avLst/>
              </a:prstGeom>
              <a:blipFill>
                <a:blip r:embed="rId10"/>
                <a:stretch>
                  <a:fillRect b="-769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6">
                <a:extLst>
                  <a:ext uri="{FF2B5EF4-FFF2-40B4-BE49-F238E27FC236}">
                    <a16:creationId xmlns:a16="http://schemas.microsoft.com/office/drawing/2014/main" id="{7F714905-345A-49A9-9211-14DE4511D9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5726" y="2278752"/>
                <a:ext cx="2520280" cy="3205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t" anchorCtr="0">
                <a:noAutofit/>
              </a:bodyPr>
              <a:lstStyle/>
              <a:p>
                <a:pPr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sz="1400" i="0" smtClean="0">
                          <a:solidFill>
                            <a:srgbClr val="003C5A"/>
                          </a:solidFill>
                          <a:latin typeface="Cambria Math" panose="02040503050406030204" pitchFamily="18" charset="0"/>
                          <a:ea typeface="Segoe UI Symbol" pitchFamily="34" charset="0"/>
                          <a:cs typeface="Arial" pitchFamily="34" charset="0"/>
                        </a:rPr>
                        <m:t>I</m:t>
                      </m:r>
                      <m:r>
                        <m:rPr>
                          <m:sty m:val="p"/>
                        </m:rPr>
                        <a:rPr lang="de-DE" sz="1400" b="0" i="0" smtClean="0">
                          <a:solidFill>
                            <a:srgbClr val="003C5A"/>
                          </a:solidFill>
                          <a:latin typeface="Cambria Math" panose="02040503050406030204" pitchFamily="18" charset="0"/>
                          <a:ea typeface="Segoe UI Symbol" pitchFamily="34" charset="0"/>
                          <a:cs typeface="Arial" pitchFamily="34" charset="0"/>
                        </a:rPr>
                        <m:t>onenanzahl</m:t>
                      </m:r>
                      <m:r>
                        <a:rPr lang="de-DE" sz="1400" b="0" i="0" smtClean="0">
                          <a:solidFill>
                            <a:srgbClr val="003C5A"/>
                          </a:solidFill>
                          <a:latin typeface="Cambria Math" panose="02040503050406030204" pitchFamily="18" charset="0"/>
                          <a:ea typeface="Segoe UI Symbol" pitchFamily="34" charset="0"/>
                          <a:cs typeface="Arial" pitchFamily="34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DE" sz="1400" b="0" i="0" smtClean="0">
                          <a:solidFill>
                            <a:srgbClr val="003C5A"/>
                          </a:solidFill>
                          <a:latin typeface="Cambria Math" panose="02040503050406030204" pitchFamily="18" charset="0"/>
                          <a:ea typeface="Segoe UI Symbol" pitchFamily="34" charset="0"/>
                          <a:cs typeface="Arial" pitchFamily="34" charset="0"/>
                        </a:rPr>
                        <m:t>in</m:t>
                      </m:r>
                      <m:r>
                        <a:rPr lang="de-DE" sz="1400" b="0" i="0" smtClean="0">
                          <a:solidFill>
                            <a:srgbClr val="003C5A"/>
                          </a:solidFill>
                          <a:latin typeface="Cambria Math" panose="02040503050406030204" pitchFamily="18" charset="0"/>
                          <a:ea typeface="Segoe UI Symbol" pitchFamily="34" charset="0"/>
                          <a:cs typeface="Arial" pitchFamily="34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DE" sz="1400" b="0" i="0" smtClean="0">
                          <a:solidFill>
                            <a:srgbClr val="003C5A"/>
                          </a:solidFill>
                          <a:latin typeface="Cambria Math" panose="02040503050406030204" pitchFamily="18" charset="0"/>
                          <a:ea typeface="Segoe UI Symbol" pitchFamily="34" charset="0"/>
                          <a:cs typeface="Arial" pitchFamily="34" charset="0"/>
                        </a:rPr>
                        <m:t>Cluster</m:t>
                      </m:r>
                      <m:r>
                        <a:rPr lang="de-DE" sz="1400" b="0" i="0" smtClean="0">
                          <a:solidFill>
                            <a:srgbClr val="003C5A"/>
                          </a:solidFill>
                          <a:latin typeface="Cambria Math" panose="02040503050406030204" pitchFamily="18" charset="0"/>
                          <a:ea typeface="Segoe UI Symbol" pitchFamily="34" charset="0"/>
                          <a:cs typeface="Arial" pitchFamily="34" charset="0"/>
                        </a:rPr>
                        <m:t> </m:t>
                      </m:r>
                      <m:r>
                        <a:rPr lang="de-DE" sz="1400" b="0" i="1" smtClean="0">
                          <a:solidFill>
                            <a:srgbClr val="003C5A"/>
                          </a:solidFill>
                          <a:latin typeface="Cambria Math" panose="02040503050406030204" pitchFamily="18" charset="0"/>
                          <a:ea typeface="Segoe UI Symbol" pitchFamily="34" charset="0"/>
                          <a:cs typeface="Arial" pitchFamily="34" charset="0"/>
                        </a:rPr>
                        <m:t>𝑖</m:t>
                      </m:r>
                      <m:r>
                        <a:rPr lang="de-DE" sz="1400" b="0" i="0" smtClean="0">
                          <a:solidFill>
                            <a:srgbClr val="003C5A"/>
                          </a:solidFill>
                          <a:latin typeface="Cambria Math" panose="02040503050406030204" pitchFamily="18" charset="0"/>
                          <a:ea typeface="Segoe UI Symbol" pitchFamily="34" charset="0"/>
                          <a:cs typeface="Arial" pitchFamily="34" charset="0"/>
                        </a:rPr>
                        <m:t>:</m:t>
                      </m:r>
                      <m:sSubSup>
                        <m:sSubSupPr>
                          <m:ctrlPr>
                            <a:rPr lang="de-DE" sz="1400" i="1">
                              <a:solidFill>
                                <a:srgbClr val="003C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</m:ctrlPr>
                        </m:sSubSupPr>
                        <m:e>
                          <m:r>
                            <a:rPr lang="de-DE" sz="1400" i="1">
                              <a:solidFill>
                                <a:srgbClr val="003C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  <m:t>𝑛</m:t>
                          </m:r>
                        </m:e>
                        <m:sub>
                          <m:r>
                            <a:rPr lang="de-DE" sz="1400" i="1">
                              <a:solidFill>
                                <a:srgbClr val="003C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  <m:t>𝑖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de-DE" sz="1400">
                              <a:solidFill>
                                <a:srgbClr val="003C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  <m:t>C</m:t>
                          </m:r>
                        </m:sup>
                      </m:sSubSup>
                    </m:oMath>
                  </m:oMathPara>
                </a14:m>
                <a:endParaRPr lang="de-DE" sz="1400" dirty="0">
                  <a:solidFill>
                    <a:srgbClr val="003C5A"/>
                  </a:solidFill>
                  <a:latin typeface="Arial" pitchFamily="34" charset="0"/>
                  <a:ea typeface="Segoe UI Symbo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25" name="Rectangle 6">
                <a:extLst>
                  <a:ext uri="{FF2B5EF4-FFF2-40B4-BE49-F238E27FC236}">
                    <a16:creationId xmlns:a16="http://schemas.microsoft.com/office/drawing/2014/main" id="{7F714905-345A-49A9-9211-14DE4511D9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65726" y="2278752"/>
                <a:ext cx="2520280" cy="320510"/>
              </a:xfrm>
              <a:prstGeom prst="rect">
                <a:avLst/>
              </a:prstGeom>
              <a:blipFill>
                <a:blip r:embed="rId11"/>
                <a:stretch>
                  <a:fillRect b="-384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6">
                <a:extLst>
                  <a:ext uri="{FF2B5EF4-FFF2-40B4-BE49-F238E27FC236}">
                    <a16:creationId xmlns:a16="http://schemas.microsoft.com/office/drawing/2014/main" id="{A4BAF648-B3D2-4D67-AFCF-A9EF8DF90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1452" y="3252567"/>
                <a:ext cx="2518420" cy="6683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t" anchorCtr="0">
                <a:noAutofit/>
              </a:bodyPr>
              <a:lstStyle/>
              <a:p>
                <a:pPr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DE" sz="1400" i="1" smtClean="0">
                              <a:solidFill>
                                <a:srgbClr val="003C5A"/>
                              </a:solidFill>
                              <a:latin typeface="Cambria Math" panose="02040503050406030204" pitchFamily="18" charset="0"/>
                              <a:ea typeface="Segoe UI Symbol" pitchFamily="34" charset="0"/>
                              <a:cs typeface="Arial" pitchFamily="34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de-DE" sz="1400" i="1" smtClean="0">
                                  <a:solidFill>
                                    <a:srgbClr val="003C5A"/>
                                  </a:solidFill>
                                  <a:latin typeface="Cambria Math" panose="02040503050406030204" pitchFamily="18" charset="0"/>
                                  <a:ea typeface="Segoe UI Symbol" pitchFamily="34" charset="0"/>
                                  <a:cs typeface="Arial" pitchFamily="34" charset="0"/>
                                </a:rPr>
                              </m:ctrlPr>
                            </m:accPr>
                            <m:e>
                              <m:r>
                                <a:rPr lang="de-DE" sz="1400" b="0" i="1" smtClean="0">
                                  <a:solidFill>
                                    <a:srgbClr val="003C5A"/>
                                  </a:solidFill>
                                  <a:latin typeface="Cambria Math" panose="02040503050406030204" pitchFamily="18" charset="0"/>
                                  <a:ea typeface="Segoe UI Symbol" pitchFamily="34" charset="0"/>
                                  <a:cs typeface="Arial" pitchFamily="34" charset="0"/>
                                </a:rPr>
                                <m:t>𝑁</m:t>
                              </m:r>
                            </m:e>
                          </m:acc>
                        </m:e>
                        <m:sup>
                          <m:r>
                            <m:rPr>
                              <m:sty m:val="p"/>
                            </m:rPr>
                            <a:rPr lang="de-DE" sz="1400">
                              <a:solidFill>
                                <a:srgbClr val="003C5A"/>
                              </a:solidFill>
                              <a:latin typeface="Cambria Math" panose="02040503050406030204" pitchFamily="18" charset="0"/>
                              <a:ea typeface="Segoe UI Symbol" pitchFamily="34" charset="0"/>
                              <a:cs typeface="Arial" pitchFamily="34" charset="0"/>
                            </a:rPr>
                            <m:t>C</m:t>
                          </m:r>
                        </m:sup>
                      </m:sSup>
                      <m:r>
                        <a:rPr lang="de-DE" sz="1400" i="1">
                          <a:solidFill>
                            <a:srgbClr val="003C5A"/>
                          </a:solidFill>
                          <a:latin typeface="Cambria Math" panose="02040503050406030204" pitchFamily="18" charset="0"/>
                          <a:ea typeface="Segoe UI Symbol" pitchFamily="34" charset="0"/>
                          <a:cs typeface="Arial" pitchFamily="34" charset="0"/>
                        </a:rPr>
                        <m:t>=</m:t>
                      </m:r>
                      <m:f>
                        <m:fPr>
                          <m:ctrlPr>
                            <a:rPr lang="de-DE" sz="1400" i="1">
                              <a:solidFill>
                                <a:srgbClr val="003C5A"/>
                              </a:solidFill>
                              <a:latin typeface="Cambria Math" panose="02040503050406030204" pitchFamily="18" charset="0"/>
                              <a:ea typeface="Segoe UI Symbol" pitchFamily="34" charset="0"/>
                              <a:cs typeface="Arial" pitchFamily="34" charset="0"/>
                            </a:rPr>
                          </m:ctrlPr>
                        </m:fPr>
                        <m:num>
                          <m:r>
                            <a:rPr lang="de-DE" sz="1400" i="1">
                              <a:solidFill>
                                <a:srgbClr val="003C5A"/>
                              </a:solidFill>
                              <a:latin typeface="Cambria Math" panose="02040503050406030204" pitchFamily="18" charset="0"/>
                              <a:ea typeface="Segoe UI Symbol" pitchFamily="34" charset="0"/>
                              <a:cs typeface="Arial" pitchFamily="34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de-DE" sz="1400" i="1">
                                  <a:solidFill>
                                    <a:srgbClr val="003C5A"/>
                                  </a:solidFill>
                                  <a:latin typeface="Cambria Math" panose="02040503050406030204" pitchFamily="18" charset="0"/>
                                  <a:ea typeface="Segoe UI Symbol" pitchFamily="34" charset="0"/>
                                  <a:cs typeface="Arial" pitchFamily="34" charset="0"/>
                                </a:rPr>
                              </m:ctrlPr>
                            </m:sSupPr>
                            <m:e>
                              <m:r>
                                <a:rPr lang="de-DE" sz="1400" i="1">
                                  <a:solidFill>
                                    <a:srgbClr val="003C5A"/>
                                  </a:solidFill>
                                  <a:latin typeface="Cambria Math" panose="02040503050406030204" pitchFamily="18" charset="0"/>
                                  <a:ea typeface="Segoe UI Symbol" pitchFamily="34" charset="0"/>
                                  <a:cs typeface="Arial" pitchFamily="34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de-DE" sz="1400" b="0" i="0" smtClean="0">
                                  <a:solidFill>
                                    <a:srgbClr val="003C5A"/>
                                  </a:solidFill>
                                  <a:latin typeface="Cambria Math" panose="02040503050406030204" pitchFamily="18" charset="0"/>
                                  <a:ea typeface="Segoe UI Symbol" pitchFamily="34" charset="0"/>
                                  <a:cs typeface="Arial" pitchFamily="34" charset="0"/>
                                </a:rPr>
                                <m:t>K</m:t>
                              </m:r>
                            </m:sup>
                          </m:sSup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de-DE" sz="1400" i="1">
                              <a:solidFill>
                                <a:srgbClr val="003C5A"/>
                              </a:solidFill>
                              <a:latin typeface="Cambria Math" panose="02040503050406030204" pitchFamily="18" charset="0"/>
                              <a:ea typeface="Segoe UI Symbol" pitchFamily="34" charset="0"/>
                              <a:cs typeface="Arial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1"/>
                            </m:rPr>
                            <a:rPr lang="de-DE" sz="1400" b="0" i="1" smtClean="0">
                              <a:solidFill>
                                <a:srgbClr val="003C5A"/>
                              </a:solidFill>
                              <a:latin typeface="Cambria Math" panose="02040503050406030204" pitchFamily="18" charset="0"/>
                              <a:ea typeface="Segoe UI Symbol" pitchFamily="34" charset="0"/>
                              <a:cs typeface="Arial" pitchFamily="34" charset="0"/>
                            </a:rPr>
                            <m:t>𝑗</m:t>
                          </m:r>
                          <m:r>
                            <a:rPr lang="de-DE" sz="1400">
                              <a:solidFill>
                                <a:srgbClr val="003C5A"/>
                              </a:solidFill>
                              <a:latin typeface="Cambria Math" panose="02040503050406030204" pitchFamily="18" charset="0"/>
                              <a:ea typeface="Segoe UI Symbol" pitchFamily="34" charset="0"/>
                              <a:cs typeface="Arial" pitchFamily="34" charset="0"/>
                            </a:rPr>
                            <m:t>=1</m:t>
                          </m:r>
                        </m:sub>
                        <m:sup>
                          <m:sSup>
                            <m:sSupPr>
                              <m:ctrlPr>
                                <a:rPr lang="de-DE" sz="1400" i="1">
                                  <a:solidFill>
                                    <a:srgbClr val="003C5A"/>
                                  </a:solidFill>
                                  <a:latin typeface="Cambria Math" panose="02040503050406030204" pitchFamily="18" charset="0"/>
                                  <a:ea typeface="Segoe UI Symbol" pitchFamily="34" charset="0"/>
                                  <a:cs typeface="Arial" pitchFamily="34" charset="0"/>
                                </a:rPr>
                              </m:ctrlPr>
                            </m:sSupPr>
                            <m:e>
                              <m:r>
                                <a:rPr lang="de-DE" sz="1400" i="1">
                                  <a:solidFill>
                                    <a:srgbClr val="003C5A"/>
                                  </a:solidFill>
                                  <a:latin typeface="Cambria Math" panose="02040503050406030204" pitchFamily="18" charset="0"/>
                                  <a:ea typeface="Segoe UI Symbol" pitchFamily="34" charset="0"/>
                                  <a:cs typeface="Arial" pitchFamily="34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de-DE" sz="1400" b="0" i="0" smtClean="0">
                                  <a:solidFill>
                                    <a:srgbClr val="003C5A"/>
                                  </a:solidFill>
                                  <a:latin typeface="Cambria Math" panose="02040503050406030204" pitchFamily="18" charset="0"/>
                                  <a:ea typeface="Segoe UI Symbol" pitchFamily="34" charset="0"/>
                                  <a:cs typeface="Arial" pitchFamily="34" charset="0"/>
                                </a:rPr>
                                <m:t>K</m:t>
                              </m:r>
                            </m:sup>
                          </m:sSup>
                        </m:sup>
                        <m:e>
                          <m:sSubSup>
                            <m:sSubSupPr>
                              <m:ctrlPr>
                                <a:rPr lang="de-DE" sz="1400" i="1">
                                  <a:solidFill>
                                    <a:srgbClr val="003C5A"/>
                                  </a:solidFill>
                                  <a:latin typeface="Cambria Math" panose="02040503050406030204" pitchFamily="18" charset="0"/>
                                  <a:ea typeface="Segoe UI Symbol" pitchFamily="34" charset="0"/>
                                  <a:cs typeface="Arial" pitchFamily="34" charset="0"/>
                                </a:rPr>
                              </m:ctrlPr>
                            </m:sSubSupPr>
                            <m:e>
                              <m:r>
                                <a:rPr lang="de-DE" sz="1400" b="0" i="1" smtClean="0">
                                  <a:solidFill>
                                    <a:srgbClr val="003C5A"/>
                                  </a:solidFill>
                                  <a:latin typeface="Cambria Math" panose="02040503050406030204" pitchFamily="18" charset="0"/>
                                  <a:ea typeface="Segoe UI Symbol" pitchFamily="34" charset="0"/>
                                  <a:cs typeface="Arial" pitchFamily="34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de-DE" sz="1400" b="0" i="1" smtClean="0">
                                  <a:solidFill>
                                    <a:srgbClr val="003C5A"/>
                                  </a:solidFill>
                                  <a:latin typeface="Cambria Math" panose="02040503050406030204" pitchFamily="18" charset="0"/>
                                  <a:ea typeface="Segoe UI Symbol" pitchFamily="34" charset="0"/>
                                  <a:cs typeface="Arial" pitchFamily="34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de-DE" sz="1400">
                                  <a:solidFill>
                                    <a:srgbClr val="003C5A"/>
                                  </a:solidFill>
                                  <a:latin typeface="Cambria Math" panose="02040503050406030204" pitchFamily="18" charset="0"/>
                                  <a:ea typeface="Segoe UI Symbol" pitchFamily="34" charset="0"/>
                                  <a:cs typeface="Arial" pitchFamily="34" charset="0"/>
                                </a:rPr>
                                <m:t>C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de-DE" sz="1400" dirty="0">
                  <a:solidFill>
                    <a:srgbClr val="003C5A"/>
                  </a:solidFill>
                  <a:latin typeface="Arial" pitchFamily="34" charset="0"/>
                  <a:ea typeface="Segoe UI Symbo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26" name="Rectangle 6">
                <a:extLst>
                  <a:ext uri="{FF2B5EF4-FFF2-40B4-BE49-F238E27FC236}">
                    <a16:creationId xmlns:a16="http://schemas.microsoft.com/office/drawing/2014/main" id="{A4BAF648-B3D2-4D67-AFCF-A9EF8DF904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01452" y="3252567"/>
                <a:ext cx="2518420" cy="66835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" name="Rectangle 6">
            <a:extLst>
              <a:ext uri="{FF2B5EF4-FFF2-40B4-BE49-F238E27FC236}">
                <a16:creationId xmlns:a16="http://schemas.microsoft.com/office/drawing/2014/main" id="{DBF257CB-B6E2-441A-8BA5-AA4E0D1F46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520" y="4380319"/>
            <a:ext cx="653471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 anchorCtr="0">
            <a:noAutofit/>
          </a:bodyPr>
          <a:lstStyle/>
          <a:p>
            <a:pPr marL="285750" indent="-285750" eaLnBrk="0" hangingPunct="0">
              <a:buFont typeface="Wingdings" panose="05000000000000000000" pitchFamily="2" charset="2"/>
              <a:buChar char="Ø"/>
            </a:pPr>
            <a:r>
              <a:rPr lang="de-DE" sz="1600" dirty="0">
                <a:solidFill>
                  <a:srgbClr val="003C5A"/>
                </a:solidFill>
                <a:latin typeface="Arial" pitchFamily="34" charset="0"/>
                <a:ea typeface="Cambria Math" panose="02040503050406030204" pitchFamily="18" charset="0"/>
                <a:cs typeface="Arial" pitchFamily="34" charset="0"/>
              </a:rPr>
              <a:t>Mittlere Ionenanzahl in Clustern in Abhängigkeit der Konzentration</a:t>
            </a:r>
          </a:p>
          <a:p>
            <a:pPr marL="285750" indent="-285750" eaLnBrk="0" hangingPunct="0">
              <a:buFont typeface="Arial" panose="020B0604020202020204" pitchFamily="34" charset="0"/>
              <a:buChar char="•"/>
            </a:pPr>
            <a:endParaRPr lang="de-DE" sz="1600" b="0" dirty="0">
              <a:solidFill>
                <a:srgbClr val="003C5A"/>
              </a:solidFill>
              <a:latin typeface="Arial" pitchFamily="34" charset="0"/>
              <a:ea typeface="Cambria Math" panose="02040503050406030204" pitchFamily="18" charset="0"/>
              <a:cs typeface="Arial" pitchFamily="34" charset="0"/>
              <a:sym typeface="Wingdings" panose="05000000000000000000" pitchFamily="2" charset="2"/>
            </a:endParaRP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44B9A9E5-36E4-4584-BF2F-75A12622FBD4}"/>
              </a:ext>
            </a:extLst>
          </p:cNvPr>
          <p:cNvSpPr txBox="1"/>
          <p:nvPr/>
        </p:nvSpPr>
        <p:spPr>
          <a:xfrm rot="16200000">
            <a:off x="5242274" y="2082244"/>
            <a:ext cx="160923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/>
            <a:r>
              <a:rPr lang="de-DE" sz="1100" dirty="0">
                <a:latin typeface="Arial" pitchFamily="34" charset="0"/>
                <a:ea typeface="Segoe UI Symbol" pitchFamily="34" charset="0"/>
                <a:cs typeface="Arial" pitchFamily="34" charset="0"/>
                <a:sym typeface="Wingdings" panose="05000000000000000000" pitchFamily="2" charset="2"/>
              </a:rPr>
              <a:t>Mindestclustergröße</a:t>
            </a:r>
            <a:r>
              <a:rPr lang="de-DE" sz="1100" baseline="30000" dirty="0">
                <a:latin typeface="Arial" pitchFamily="34" charset="0"/>
                <a:ea typeface="Segoe UI Symbol" pitchFamily="34" charset="0"/>
                <a:cs typeface="Arial" pitchFamily="34" charset="0"/>
              </a:rPr>
              <a:t>[1]</a:t>
            </a:r>
            <a:endParaRPr lang="de-DE" sz="1100" dirty="0">
              <a:latin typeface="Arial" pitchFamily="34" charset="0"/>
              <a:ea typeface="Cambria Math" panose="02040503050406030204" pitchFamily="18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0580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25521" y="771550"/>
            <a:ext cx="846989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 anchorCtr="0">
            <a:noAutofit/>
          </a:bodyPr>
          <a:lstStyle/>
          <a:p>
            <a:pPr eaLnBrk="0" hangingPunct="0"/>
            <a:r>
              <a:rPr lang="de-DE" sz="2400" b="1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Ergebnisse: Clusteranalyse NaCl</a:t>
            </a:r>
            <a:endParaRPr lang="de-DE" sz="1000" dirty="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94BFDAE1-481A-4AAC-B329-9543022C23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0051" y="1275606"/>
            <a:ext cx="5183897" cy="3599695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7FBCA9F8-C315-4CB6-B833-8910BB31FE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6252" y="1275606"/>
            <a:ext cx="5107696" cy="3599695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CAA2E808-843A-42C0-BD30-1ECC71F665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0051" y="1275606"/>
            <a:ext cx="5183897" cy="3599695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F8DFE607-7543-490A-8B47-071524F73F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0051" y="1275606"/>
            <a:ext cx="5183897" cy="3599695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BBE73922-D33C-4E84-8AFE-A7FB2F9811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0051" y="1275606"/>
            <a:ext cx="5183897" cy="3599695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EABF9501-016A-48F7-B3C0-1BF4F4374D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5843" y="1203599"/>
            <a:ext cx="306499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 anchorCtr="0">
            <a:noAutofit/>
          </a:bodyPr>
          <a:lstStyle/>
          <a:p>
            <a:pPr algn="ctr" eaLnBrk="0" hangingPunct="0"/>
            <a:r>
              <a:rPr lang="de-DE" sz="16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RDVH</a:t>
            </a:r>
            <a:endParaRPr lang="de-DE" sz="1600" baseline="30000" dirty="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  <p:sp>
        <p:nvSpPr>
          <p:cNvPr id="31" name="Rectangle 6">
            <a:extLst>
              <a:ext uri="{FF2B5EF4-FFF2-40B4-BE49-F238E27FC236}">
                <a16:creationId xmlns:a16="http://schemas.microsoft.com/office/drawing/2014/main" id="{7647A777-5AF1-4717-B53B-4A4E44C6B999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418105" y="1994456"/>
            <a:ext cx="1129696" cy="24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 anchorCtr="0">
            <a:noAutofit/>
          </a:bodyPr>
          <a:lstStyle/>
          <a:p>
            <a:pPr eaLnBrk="0" hangingPunct="0"/>
            <a:r>
              <a:rPr lang="de-DE" sz="1000" dirty="0" err="1">
                <a:latin typeface="Arial" pitchFamily="34" charset="0"/>
                <a:ea typeface="Segoe UI Symbol" pitchFamily="34" charset="0"/>
                <a:cs typeface="Arial" pitchFamily="34" charset="0"/>
              </a:rPr>
              <a:t>Sol.lim</a:t>
            </a:r>
            <a:r>
              <a:rPr lang="de-DE" sz="1000" dirty="0">
                <a:latin typeface="Arial" pitchFamily="34" charset="0"/>
                <a:ea typeface="Segoe UI Symbol" pitchFamily="34" charset="0"/>
                <a:cs typeface="Arial" pitchFamily="34" charset="0"/>
              </a:rPr>
              <a:t> Mester</a:t>
            </a:r>
            <a:r>
              <a:rPr lang="de-DE" sz="1000" baseline="30000" dirty="0">
                <a:latin typeface="Arial" pitchFamily="34" charset="0"/>
                <a:ea typeface="Segoe UI Symbol" pitchFamily="34" charset="0"/>
                <a:cs typeface="Arial" pitchFamily="34" charset="0"/>
              </a:rPr>
              <a:t>[1]</a:t>
            </a:r>
            <a:endParaRPr lang="en-GB" sz="1000" baseline="30000" dirty="0"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  <p:sp>
        <p:nvSpPr>
          <p:cNvPr id="32" name="Rectangle 6">
            <a:extLst>
              <a:ext uri="{FF2B5EF4-FFF2-40B4-BE49-F238E27FC236}">
                <a16:creationId xmlns:a16="http://schemas.microsoft.com/office/drawing/2014/main" id="{C5DC16E0-8984-4736-82FF-0E6788D108F6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217372" y="1917308"/>
            <a:ext cx="890454" cy="24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 anchorCtr="0">
            <a:noAutofit/>
          </a:bodyPr>
          <a:lstStyle/>
          <a:p>
            <a:pPr eaLnBrk="0" hangingPunct="0"/>
            <a:r>
              <a:rPr lang="de-DE" sz="1000" dirty="0">
                <a:latin typeface="Arial" pitchFamily="34" charset="0"/>
                <a:ea typeface="Segoe UI Symbol" pitchFamily="34" charset="0"/>
                <a:cs typeface="Arial" pitchFamily="34" charset="0"/>
              </a:rPr>
              <a:t>Clusterregel</a:t>
            </a:r>
            <a:endParaRPr lang="en-GB" sz="1000" baseline="30000" dirty="0"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  <p:sp>
        <p:nvSpPr>
          <p:cNvPr id="34" name="Rectangle 6">
            <a:extLst>
              <a:ext uri="{FF2B5EF4-FFF2-40B4-BE49-F238E27FC236}">
                <a16:creationId xmlns:a16="http://schemas.microsoft.com/office/drawing/2014/main" id="{66DBF59D-C834-40F5-BCE6-5D05D62A845A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974558" y="1998865"/>
            <a:ext cx="1040773" cy="24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 anchorCtr="0">
            <a:noAutofit/>
          </a:bodyPr>
          <a:lstStyle/>
          <a:p>
            <a:pPr eaLnBrk="0" hangingPunct="0"/>
            <a:r>
              <a:rPr lang="de-DE" sz="1000" dirty="0">
                <a:latin typeface="Arial" pitchFamily="34" charset="0"/>
                <a:ea typeface="Segoe UI Symbol" pitchFamily="34" charset="0"/>
                <a:cs typeface="Arial" pitchFamily="34" charset="0"/>
              </a:rPr>
              <a:t>Ionenpaarregel</a:t>
            </a:r>
            <a:endParaRPr lang="en-GB" sz="1000" baseline="30000" dirty="0"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B372BEE5-23BC-457A-927A-B2601152AFEE}"/>
              </a:ext>
            </a:extLst>
          </p:cNvPr>
          <p:cNvSpPr txBox="1"/>
          <p:nvPr/>
        </p:nvSpPr>
        <p:spPr>
          <a:xfrm>
            <a:off x="125521" y="4917692"/>
            <a:ext cx="876695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/>
            <a:r>
              <a:rPr lang="en-US" sz="9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[1] </a:t>
            </a:r>
            <a:r>
              <a:rPr lang="en-US" sz="900" dirty="0" err="1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Mester</a:t>
            </a:r>
            <a:r>
              <a:rPr lang="en-US" sz="9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, Zoltan; </a:t>
            </a:r>
            <a:r>
              <a:rPr lang="en-US" sz="900" dirty="0" err="1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Panagiotopoulos</a:t>
            </a:r>
            <a:r>
              <a:rPr lang="en-US" sz="9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, </a:t>
            </a:r>
            <a:r>
              <a:rPr lang="en-US" sz="900" dirty="0" err="1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Athanassios</a:t>
            </a:r>
            <a:r>
              <a:rPr lang="en-US" sz="9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 Z., Journal of Chemical Physics, (2015), 143 (4), 44505</a:t>
            </a:r>
          </a:p>
        </p:txBody>
      </p:sp>
    </p:spTree>
    <p:extLst>
      <p:ext uri="{BB962C8B-B14F-4D97-AF65-F5344CB8AC3E}">
        <p14:creationId xmlns:p14="http://schemas.microsoft.com/office/powerpoint/2010/main" val="246235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4" grpId="0"/>
      <p:bldP spid="3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25521" y="771550"/>
            <a:ext cx="846989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 anchorCtr="0">
            <a:noAutofit/>
          </a:bodyPr>
          <a:lstStyle/>
          <a:p>
            <a:pPr eaLnBrk="0" hangingPunct="0"/>
            <a:r>
              <a:rPr lang="de-DE" sz="2400" b="1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Ergebnisse: Clusteranalyse NaCl</a:t>
            </a:r>
            <a:endParaRPr lang="de-DE" sz="1000" dirty="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37F4DC1-43DA-4B39-BDD4-27D4510B64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017" y="1203599"/>
            <a:ext cx="306499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 anchorCtr="0">
            <a:noAutofit/>
          </a:bodyPr>
          <a:lstStyle/>
          <a:p>
            <a:pPr algn="ctr" eaLnBrk="0" hangingPunct="0"/>
            <a:r>
              <a:rPr lang="de-DE" sz="16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RDVH</a:t>
            </a:r>
            <a:endParaRPr lang="de-DE" sz="1600" baseline="30000" dirty="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ABF9501-016A-48F7-B3C0-1BF4F4374D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5843" y="1203599"/>
            <a:ext cx="306499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 anchorCtr="0">
            <a:noAutofit/>
          </a:bodyPr>
          <a:lstStyle/>
          <a:p>
            <a:pPr algn="ctr" eaLnBrk="0" hangingPunct="0"/>
            <a:r>
              <a:rPr lang="de-DE" sz="16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JC</a:t>
            </a:r>
            <a:endParaRPr lang="de-DE" sz="1600" baseline="30000" dirty="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42EAB5A5-95FD-4486-A591-81E94287B2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3486" y="1203598"/>
            <a:ext cx="306499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 anchorCtr="0">
            <a:noAutofit/>
          </a:bodyPr>
          <a:lstStyle/>
          <a:p>
            <a:pPr algn="ctr" eaLnBrk="0" hangingPunct="0"/>
            <a:r>
              <a:rPr lang="de-DE" sz="16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SD</a:t>
            </a:r>
            <a:endParaRPr lang="de-DE" sz="1600" baseline="30000" dirty="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36BFD865-4AA0-410C-8C3F-1503BB7B03CB}"/>
              </a:ext>
            </a:extLst>
          </p:cNvPr>
          <p:cNvSpPr txBox="1"/>
          <p:nvPr/>
        </p:nvSpPr>
        <p:spPr>
          <a:xfrm>
            <a:off x="131429" y="4912668"/>
            <a:ext cx="876695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/>
            <a:r>
              <a:rPr lang="en-US" sz="9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[1] </a:t>
            </a:r>
            <a:r>
              <a:rPr lang="en-US" sz="900" dirty="0" err="1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Mester</a:t>
            </a:r>
            <a:r>
              <a:rPr lang="en-US" sz="9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, Zoltan; </a:t>
            </a:r>
            <a:r>
              <a:rPr lang="en-US" sz="900" dirty="0" err="1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Panagiotopoulos</a:t>
            </a:r>
            <a:r>
              <a:rPr lang="en-US" sz="9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, </a:t>
            </a:r>
            <a:r>
              <a:rPr lang="en-US" sz="900" dirty="0" err="1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Athanassios</a:t>
            </a:r>
            <a:r>
              <a:rPr lang="en-US" sz="9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 Z., Journal of Chemical Physics, (2015), 143 (4), 44505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CF7C474C-B7D2-456C-8917-B9265F3BA5B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165971" y="1353174"/>
            <a:ext cx="3369819" cy="2340000"/>
          </a:xfrm>
          <a:prstGeom prst="rect">
            <a:avLst/>
          </a:prstGeom>
        </p:spPr>
      </p:pic>
      <p:sp>
        <p:nvSpPr>
          <p:cNvPr id="14" name="Rectangle 6">
            <a:extLst>
              <a:ext uri="{FF2B5EF4-FFF2-40B4-BE49-F238E27FC236}">
                <a16:creationId xmlns:a16="http://schemas.microsoft.com/office/drawing/2014/main" id="{63C777E0-81CD-4D49-8D0F-55C4254247D7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1349392" y="1852754"/>
            <a:ext cx="829759" cy="1523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 anchorCtr="0">
            <a:noAutofit/>
          </a:bodyPr>
          <a:lstStyle/>
          <a:p>
            <a:pPr eaLnBrk="0" hangingPunct="0"/>
            <a:r>
              <a:rPr lang="de-DE" sz="700" dirty="0" err="1">
                <a:latin typeface="Arial" pitchFamily="34" charset="0"/>
                <a:ea typeface="Segoe UI Symbol" pitchFamily="34" charset="0"/>
                <a:cs typeface="Arial" pitchFamily="34" charset="0"/>
              </a:rPr>
              <a:t>Sol.lim</a:t>
            </a:r>
            <a:r>
              <a:rPr lang="de-DE" sz="700" dirty="0">
                <a:latin typeface="Arial" pitchFamily="34" charset="0"/>
                <a:ea typeface="Segoe UI Symbol" pitchFamily="34" charset="0"/>
                <a:cs typeface="Arial" pitchFamily="34" charset="0"/>
              </a:rPr>
              <a:t> Mester</a:t>
            </a:r>
            <a:r>
              <a:rPr lang="de-DE" sz="700" baseline="30000" dirty="0">
                <a:latin typeface="Arial" pitchFamily="34" charset="0"/>
                <a:ea typeface="Segoe UI Symbol" pitchFamily="34" charset="0"/>
                <a:cs typeface="Arial" pitchFamily="34" charset="0"/>
              </a:rPr>
              <a:t>[1]</a:t>
            </a:r>
            <a:endParaRPr lang="en-GB" sz="700" baseline="30000" dirty="0"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8315A5E7-CF97-4B87-8F48-E1C852DDE34D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1204642" y="1685876"/>
            <a:ext cx="781519" cy="24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 anchorCtr="0">
            <a:noAutofit/>
          </a:bodyPr>
          <a:lstStyle/>
          <a:p>
            <a:pPr eaLnBrk="0" hangingPunct="0"/>
            <a:r>
              <a:rPr lang="de-DE" sz="700" dirty="0">
                <a:latin typeface="Arial" pitchFamily="34" charset="0"/>
                <a:ea typeface="Segoe UI Symbol" pitchFamily="34" charset="0"/>
                <a:cs typeface="Arial" pitchFamily="34" charset="0"/>
              </a:rPr>
              <a:t>Clusterregel</a:t>
            </a:r>
            <a:endParaRPr lang="en-GB" sz="700" baseline="30000" dirty="0"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  <p:sp>
        <p:nvSpPr>
          <p:cNvPr id="16" name="Rectangle 6">
            <a:extLst>
              <a:ext uri="{FF2B5EF4-FFF2-40B4-BE49-F238E27FC236}">
                <a16:creationId xmlns:a16="http://schemas.microsoft.com/office/drawing/2014/main" id="{8A9F5F5B-6697-46D0-AED6-9BC123B6D5C7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1697270" y="1746539"/>
            <a:ext cx="896495" cy="24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 anchorCtr="0">
            <a:noAutofit/>
          </a:bodyPr>
          <a:lstStyle/>
          <a:p>
            <a:pPr eaLnBrk="0" hangingPunct="0"/>
            <a:r>
              <a:rPr lang="de-DE" sz="700" dirty="0">
                <a:latin typeface="Arial" pitchFamily="34" charset="0"/>
                <a:ea typeface="Segoe UI Symbol" pitchFamily="34" charset="0"/>
                <a:cs typeface="Arial" pitchFamily="34" charset="0"/>
              </a:rPr>
              <a:t>Ionenpaarregel</a:t>
            </a:r>
            <a:endParaRPr lang="en-GB" sz="700" baseline="30000" dirty="0"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E10E970B-3549-4503-A1B2-84DAC1EACD8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914812" y="1353174"/>
            <a:ext cx="3320284" cy="2340000"/>
          </a:xfrm>
          <a:prstGeom prst="rect">
            <a:avLst/>
          </a:prstGeom>
        </p:spPr>
      </p:pic>
      <p:sp>
        <p:nvSpPr>
          <p:cNvPr id="23" name="Rectangle 6">
            <a:extLst>
              <a:ext uri="{FF2B5EF4-FFF2-40B4-BE49-F238E27FC236}">
                <a16:creationId xmlns:a16="http://schemas.microsoft.com/office/drawing/2014/main" id="{DAA55BCE-78F5-437E-8AF2-1B5FB314785D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318265" y="1804435"/>
            <a:ext cx="829759" cy="24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 anchorCtr="0">
            <a:noAutofit/>
          </a:bodyPr>
          <a:lstStyle/>
          <a:p>
            <a:pPr eaLnBrk="0" hangingPunct="0"/>
            <a:r>
              <a:rPr lang="de-DE" sz="700" dirty="0" err="1">
                <a:latin typeface="Arial" pitchFamily="34" charset="0"/>
                <a:ea typeface="Segoe UI Symbol" pitchFamily="34" charset="0"/>
                <a:cs typeface="Arial" pitchFamily="34" charset="0"/>
              </a:rPr>
              <a:t>Sol.lim</a:t>
            </a:r>
            <a:r>
              <a:rPr lang="de-DE" sz="700" dirty="0">
                <a:latin typeface="Arial" pitchFamily="34" charset="0"/>
                <a:ea typeface="Segoe UI Symbol" pitchFamily="34" charset="0"/>
                <a:cs typeface="Arial" pitchFamily="34" charset="0"/>
              </a:rPr>
              <a:t> Mester</a:t>
            </a:r>
            <a:r>
              <a:rPr lang="de-DE" sz="700" baseline="30000" dirty="0">
                <a:latin typeface="Arial" pitchFamily="34" charset="0"/>
                <a:ea typeface="Segoe UI Symbol" pitchFamily="34" charset="0"/>
                <a:cs typeface="Arial" pitchFamily="34" charset="0"/>
              </a:rPr>
              <a:t>[1]</a:t>
            </a:r>
            <a:endParaRPr lang="en-GB" sz="700" baseline="30000" dirty="0"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6E727D86-C83E-441F-A0CC-DF51D6D2A719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838608" y="1686137"/>
            <a:ext cx="792607" cy="24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 anchorCtr="0">
            <a:noAutofit/>
          </a:bodyPr>
          <a:lstStyle/>
          <a:p>
            <a:pPr eaLnBrk="0" hangingPunct="0"/>
            <a:r>
              <a:rPr lang="de-DE" sz="700" dirty="0">
                <a:latin typeface="Arial" pitchFamily="34" charset="0"/>
                <a:ea typeface="Segoe UI Symbol" pitchFamily="34" charset="0"/>
                <a:cs typeface="Arial" pitchFamily="34" charset="0"/>
              </a:rPr>
              <a:t>Clusterregel</a:t>
            </a:r>
            <a:endParaRPr lang="en-GB" sz="700" baseline="30000" dirty="0"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ACF8E212-BE79-4565-9696-FF2F9F007D8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923879" y="1353174"/>
            <a:ext cx="3369819" cy="2340000"/>
          </a:xfrm>
          <a:prstGeom prst="rect">
            <a:avLst/>
          </a:prstGeom>
        </p:spPr>
      </p:pic>
      <p:sp>
        <p:nvSpPr>
          <p:cNvPr id="29" name="Rectangle 6">
            <a:extLst>
              <a:ext uri="{FF2B5EF4-FFF2-40B4-BE49-F238E27FC236}">
                <a16:creationId xmlns:a16="http://schemas.microsoft.com/office/drawing/2014/main" id="{2BD1AC37-64C8-41CA-9AF4-707906AC8888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6388777" y="1803802"/>
            <a:ext cx="829759" cy="24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 anchorCtr="0">
            <a:noAutofit/>
          </a:bodyPr>
          <a:lstStyle/>
          <a:p>
            <a:pPr eaLnBrk="0" hangingPunct="0"/>
            <a:r>
              <a:rPr lang="de-DE" sz="700" dirty="0" err="1">
                <a:latin typeface="Arial" pitchFamily="34" charset="0"/>
                <a:ea typeface="Segoe UI Symbol" pitchFamily="34" charset="0"/>
                <a:cs typeface="Arial" pitchFamily="34" charset="0"/>
              </a:rPr>
              <a:t>Sol.lim</a:t>
            </a:r>
            <a:r>
              <a:rPr lang="de-DE" sz="700" dirty="0">
                <a:latin typeface="Arial" pitchFamily="34" charset="0"/>
                <a:ea typeface="Segoe UI Symbol" pitchFamily="34" charset="0"/>
                <a:cs typeface="Arial" pitchFamily="34" charset="0"/>
              </a:rPr>
              <a:t> Mester</a:t>
            </a:r>
            <a:r>
              <a:rPr lang="de-DE" sz="700" baseline="30000" dirty="0">
                <a:latin typeface="Arial" pitchFamily="34" charset="0"/>
                <a:ea typeface="Segoe UI Symbol" pitchFamily="34" charset="0"/>
                <a:cs typeface="Arial" pitchFamily="34" charset="0"/>
              </a:rPr>
              <a:t>[1]</a:t>
            </a:r>
            <a:endParaRPr lang="en-GB" sz="700" baseline="30000" dirty="0"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  <p:sp>
        <p:nvSpPr>
          <p:cNvPr id="31" name="Rectangle 6">
            <a:extLst>
              <a:ext uri="{FF2B5EF4-FFF2-40B4-BE49-F238E27FC236}">
                <a16:creationId xmlns:a16="http://schemas.microsoft.com/office/drawing/2014/main" id="{32B490CA-D0A4-459A-8D6C-EF34025379EE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7433864" y="1701319"/>
            <a:ext cx="759157" cy="24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 anchorCtr="0">
            <a:noAutofit/>
          </a:bodyPr>
          <a:lstStyle/>
          <a:p>
            <a:pPr eaLnBrk="0" hangingPunct="0"/>
            <a:r>
              <a:rPr lang="de-DE" sz="700" dirty="0">
                <a:latin typeface="Arial" pitchFamily="34" charset="0"/>
                <a:ea typeface="Segoe UI Symbol" pitchFamily="34" charset="0"/>
                <a:cs typeface="Arial" pitchFamily="34" charset="0"/>
              </a:rPr>
              <a:t>Clusterregel</a:t>
            </a:r>
            <a:endParaRPr lang="en-GB" sz="700" baseline="30000" dirty="0"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  <p:sp>
        <p:nvSpPr>
          <p:cNvPr id="32" name="Rectangle 6">
            <a:extLst>
              <a:ext uri="{FF2B5EF4-FFF2-40B4-BE49-F238E27FC236}">
                <a16:creationId xmlns:a16="http://schemas.microsoft.com/office/drawing/2014/main" id="{08221FAA-A301-4BD9-B60E-8A6C64D40216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8081489" y="1749669"/>
            <a:ext cx="896495" cy="24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 anchorCtr="0">
            <a:noAutofit/>
          </a:bodyPr>
          <a:lstStyle/>
          <a:p>
            <a:pPr eaLnBrk="0" hangingPunct="0"/>
            <a:r>
              <a:rPr lang="de-DE" sz="700" dirty="0">
                <a:latin typeface="Arial" pitchFamily="34" charset="0"/>
                <a:ea typeface="Segoe UI Symbol" pitchFamily="34" charset="0"/>
                <a:cs typeface="Arial" pitchFamily="34" charset="0"/>
              </a:rPr>
              <a:t>Ionenpaarregel</a:t>
            </a:r>
            <a:endParaRPr lang="en-GB" sz="700" baseline="30000" dirty="0"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  <p:sp>
        <p:nvSpPr>
          <p:cNvPr id="33" name="Rectangle 6">
            <a:extLst>
              <a:ext uri="{FF2B5EF4-FFF2-40B4-BE49-F238E27FC236}">
                <a16:creationId xmlns:a16="http://schemas.microsoft.com/office/drawing/2014/main" id="{45927031-1E6C-4A75-AC17-FC593C890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429" y="3672921"/>
            <a:ext cx="595478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 anchorCtr="0">
            <a:noAutofit/>
          </a:bodyPr>
          <a:lstStyle/>
          <a:p>
            <a:pPr marL="285750" indent="-285750" eaLnBrk="0" hangingPunct="0">
              <a:buFont typeface="Wingdings" panose="05000000000000000000" pitchFamily="2" charset="2"/>
              <a:buChar char="Ø"/>
            </a:pPr>
            <a:r>
              <a:rPr lang="de-DE" sz="1600" dirty="0">
                <a:solidFill>
                  <a:srgbClr val="003C5A"/>
                </a:solidFill>
                <a:latin typeface="Arial" pitchFamily="34" charset="0"/>
                <a:ea typeface="Cambria Math" panose="02040503050406030204" pitchFamily="18" charset="0"/>
                <a:cs typeface="Arial" pitchFamily="34" charset="0"/>
              </a:rPr>
              <a:t>Clusterregel schätzt Löslichkeitsgrenze besser ab</a:t>
            </a:r>
          </a:p>
          <a:p>
            <a:pPr marL="285750" indent="-285750" eaLnBrk="0" hangingPunct="0">
              <a:buFont typeface="Wingdings" panose="05000000000000000000" pitchFamily="2" charset="2"/>
              <a:buChar char="Ø"/>
            </a:pPr>
            <a:r>
              <a:rPr lang="de-DE" sz="1600" dirty="0">
                <a:solidFill>
                  <a:srgbClr val="003C5A"/>
                </a:solidFill>
                <a:latin typeface="Arial" pitchFamily="34" charset="0"/>
                <a:ea typeface="Cambria Math" panose="02040503050406030204" pitchFamily="18" charset="0"/>
                <a:cs typeface="Arial" pitchFamily="34" charset="0"/>
              </a:rPr>
              <a:t>NaCl-Modelle: unterschiedlich starke Clusterbildung</a:t>
            </a:r>
          </a:p>
          <a:p>
            <a:pPr marL="285750" indent="-285750" eaLnBrk="0" hangingPunct="0">
              <a:buFont typeface="Arial" panose="020B0604020202020204" pitchFamily="34" charset="0"/>
              <a:buChar char="•"/>
            </a:pPr>
            <a:endParaRPr lang="de-DE" sz="1600" b="0" dirty="0">
              <a:solidFill>
                <a:srgbClr val="003C5A"/>
              </a:solidFill>
              <a:latin typeface="Arial" pitchFamily="34" charset="0"/>
              <a:ea typeface="Cambria Math" panose="02040503050406030204" pitchFamily="18" charset="0"/>
              <a:cs typeface="Arial" pitchFamily="34" charset="0"/>
              <a:sym typeface="Wingdings" panose="05000000000000000000" pitchFamily="2" charset="2"/>
            </a:endParaRPr>
          </a:p>
        </p:txBody>
      </p: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0E74326C-C78B-4DDE-A6C7-0C1ABB53D7CF}"/>
              </a:ext>
            </a:extLst>
          </p:cNvPr>
          <p:cNvCxnSpPr>
            <a:cxnSpLocks/>
          </p:cNvCxnSpPr>
          <p:nvPr/>
        </p:nvCxnSpPr>
        <p:spPr>
          <a:xfrm>
            <a:off x="5580112" y="1722512"/>
            <a:ext cx="216024" cy="0"/>
          </a:xfrm>
          <a:prstGeom prst="straightConnector1">
            <a:avLst/>
          </a:prstGeom>
          <a:ln>
            <a:solidFill>
              <a:srgbClr val="0128E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7492FC92-E255-437F-814F-5D30697ECC7C}"/>
              </a:ext>
            </a:extLst>
          </p:cNvPr>
          <p:cNvCxnSpPr>
            <a:cxnSpLocks/>
          </p:cNvCxnSpPr>
          <p:nvPr/>
        </p:nvCxnSpPr>
        <p:spPr>
          <a:xfrm>
            <a:off x="5582890" y="1578496"/>
            <a:ext cx="0" cy="288032"/>
          </a:xfrm>
          <a:prstGeom prst="line">
            <a:avLst/>
          </a:prstGeom>
          <a:ln>
            <a:solidFill>
              <a:srgbClr val="0128E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6">
            <a:extLst>
              <a:ext uri="{FF2B5EF4-FFF2-40B4-BE49-F238E27FC236}">
                <a16:creationId xmlns:a16="http://schemas.microsoft.com/office/drawing/2014/main" id="{797E6D21-B133-4861-91AA-B32C756700CA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5463758" y="1806338"/>
            <a:ext cx="792607" cy="24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 anchorCtr="0">
            <a:noAutofit/>
          </a:bodyPr>
          <a:lstStyle/>
          <a:p>
            <a:pPr eaLnBrk="0" hangingPunct="0"/>
            <a:r>
              <a:rPr lang="de-DE" sz="700" dirty="0">
                <a:latin typeface="Arial" pitchFamily="34" charset="0"/>
                <a:ea typeface="Segoe UI Symbol" pitchFamily="34" charset="0"/>
                <a:cs typeface="Arial" pitchFamily="34" charset="0"/>
              </a:rPr>
              <a:t>Ionenpaarregel</a:t>
            </a:r>
            <a:endParaRPr lang="en-GB" sz="700" baseline="30000" dirty="0"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7460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23" grpId="0"/>
      <p:bldP spid="25" grpId="0"/>
      <p:bldP spid="29" grpId="0"/>
      <p:bldP spid="31" grpId="0"/>
      <p:bldP spid="32" grpId="0"/>
      <p:bldP spid="2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25521" y="771550"/>
            <a:ext cx="846989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 anchorCtr="0">
            <a:noAutofit/>
          </a:bodyPr>
          <a:lstStyle/>
          <a:p>
            <a:pPr eaLnBrk="0" hangingPunct="0"/>
            <a:r>
              <a:rPr lang="de-DE" sz="2400" b="1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Ergebnisse: Clusteranalyse NaI</a:t>
            </a:r>
            <a:endParaRPr lang="de-DE" sz="1000" dirty="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  <p:pic>
        <p:nvPicPr>
          <p:cNvPr id="25" name="Grafik 24">
            <a:extLst>
              <a:ext uri="{FF2B5EF4-FFF2-40B4-BE49-F238E27FC236}">
                <a16:creationId xmlns:a16="http://schemas.microsoft.com/office/drawing/2014/main" id="{945C98A7-95F0-453A-90C6-B182230E2E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4237" y="1231861"/>
            <a:ext cx="5255525" cy="3599695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6C74FC6A-96DB-48A3-BD52-4C9EC26FBC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4237" y="1231861"/>
            <a:ext cx="5255525" cy="3599695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F17ED656-C9B4-49D6-9A67-115BCCB662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4237" y="1231861"/>
            <a:ext cx="5255525" cy="3599695"/>
          </a:xfrm>
          <a:prstGeom prst="rect">
            <a:avLst/>
          </a:prstGeom>
        </p:spPr>
      </p:pic>
      <p:pic>
        <p:nvPicPr>
          <p:cNvPr id="31" name="Grafik 30">
            <a:extLst>
              <a:ext uri="{FF2B5EF4-FFF2-40B4-BE49-F238E27FC236}">
                <a16:creationId xmlns:a16="http://schemas.microsoft.com/office/drawing/2014/main" id="{1E74D431-ECB1-4F36-A244-A843F117D8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4237" y="1231861"/>
            <a:ext cx="5255525" cy="3599695"/>
          </a:xfrm>
          <a:prstGeom prst="rect">
            <a:avLst/>
          </a:prstGeom>
        </p:spPr>
      </p:pic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98AEB57F-6A42-4462-9AF3-83C6FDFFBC63}"/>
              </a:ext>
            </a:extLst>
          </p:cNvPr>
          <p:cNvCxnSpPr>
            <a:cxnSpLocks/>
          </p:cNvCxnSpPr>
          <p:nvPr/>
        </p:nvCxnSpPr>
        <p:spPr>
          <a:xfrm flipH="1">
            <a:off x="6228184" y="2074272"/>
            <a:ext cx="457392" cy="0"/>
          </a:xfrm>
          <a:prstGeom prst="straightConnector1">
            <a:avLst/>
          </a:prstGeom>
          <a:ln w="19050">
            <a:solidFill>
              <a:srgbClr val="003C5A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1420A38D-0292-4A4F-A0AD-9397E57CDD50}"/>
              </a:ext>
            </a:extLst>
          </p:cNvPr>
          <p:cNvCxnSpPr>
            <a:cxnSpLocks/>
          </p:cNvCxnSpPr>
          <p:nvPr/>
        </p:nvCxnSpPr>
        <p:spPr>
          <a:xfrm flipH="1">
            <a:off x="5698044" y="2565172"/>
            <a:ext cx="457392" cy="0"/>
          </a:xfrm>
          <a:prstGeom prst="straightConnector1">
            <a:avLst/>
          </a:prstGeom>
          <a:ln w="19050">
            <a:solidFill>
              <a:srgbClr val="003C5A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E539F9DF-CF00-4F0C-9FC3-E5D7F1EF643A}"/>
              </a:ext>
            </a:extLst>
          </p:cNvPr>
          <p:cNvCxnSpPr>
            <a:cxnSpLocks/>
          </p:cNvCxnSpPr>
          <p:nvPr/>
        </p:nvCxnSpPr>
        <p:spPr>
          <a:xfrm flipH="1">
            <a:off x="5167676" y="3442652"/>
            <a:ext cx="457392" cy="0"/>
          </a:xfrm>
          <a:prstGeom prst="straightConnector1">
            <a:avLst/>
          </a:prstGeom>
          <a:ln w="19050">
            <a:solidFill>
              <a:srgbClr val="003C5A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Rectangle 6">
            <a:extLst>
              <a:ext uri="{FF2B5EF4-FFF2-40B4-BE49-F238E27FC236}">
                <a16:creationId xmlns:a16="http://schemas.microsoft.com/office/drawing/2014/main" id="{2497B7BB-497C-4BB7-8A72-FA60345104EB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3719274" y="1848754"/>
            <a:ext cx="921559" cy="24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 anchorCtr="0">
            <a:noAutofit/>
          </a:bodyPr>
          <a:lstStyle/>
          <a:p>
            <a:pPr eaLnBrk="0" hangingPunct="0"/>
            <a:r>
              <a:rPr lang="de-DE" sz="1000" dirty="0">
                <a:latin typeface="Arial" pitchFamily="34" charset="0"/>
                <a:ea typeface="Segoe UI Symbol" pitchFamily="34" charset="0"/>
                <a:cs typeface="Arial" pitchFamily="34" charset="0"/>
              </a:rPr>
              <a:t>Clusterregel</a:t>
            </a:r>
            <a:endParaRPr lang="en-GB" sz="1000" baseline="30000" dirty="0"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  <p:sp>
        <p:nvSpPr>
          <p:cNvPr id="35" name="Rectangle 6">
            <a:extLst>
              <a:ext uri="{FF2B5EF4-FFF2-40B4-BE49-F238E27FC236}">
                <a16:creationId xmlns:a16="http://schemas.microsoft.com/office/drawing/2014/main" id="{CF538D29-BCE2-4146-8519-A76BEFAEC32C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530717" y="1947260"/>
            <a:ext cx="1129696" cy="24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 anchorCtr="0">
            <a:noAutofit/>
          </a:bodyPr>
          <a:lstStyle/>
          <a:p>
            <a:pPr eaLnBrk="0" hangingPunct="0"/>
            <a:r>
              <a:rPr lang="de-DE" sz="1000" dirty="0" err="1">
                <a:latin typeface="Arial" pitchFamily="34" charset="0"/>
                <a:ea typeface="Segoe UI Symbol" pitchFamily="34" charset="0"/>
                <a:cs typeface="Arial" pitchFamily="34" charset="0"/>
              </a:rPr>
              <a:t>Sol.lim</a:t>
            </a:r>
            <a:r>
              <a:rPr lang="de-DE" sz="1000" dirty="0">
                <a:latin typeface="Arial" pitchFamily="34" charset="0"/>
                <a:ea typeface="Segoe UI Symbol" pitchFamily="34" charset="0"/>
                <a:cs typeface="Arial" pitchFamily="34" charset="0"/>
              </a:rPr>
              <a:t> Mester</a:t>
            </a:r>
            <a:r>
              <a:rPr lang="de-DE" sz="1000" baseline="30000" dirty="0">
                <a:latin typeface="Arial" pitchFamily="34" charset="0"/>
                <a:ea typeface="Segoe UI Symbol" pitchFamily="34" charset="0"/>
                <a:cs typeface="Arial" pitchFamily="34" charset="0"/>
              </a:rPr>
              <a:t>[1]</a:t>
            </a:r>
            <a:endParaRPr lang="en-GB" sz="1000" baseline="30000" dirty="0"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C8539825-4092-42BD-B7F7-2787397216FA}"/>
                  </a:ext>
                </a:extLst>
              </p:cNvPr>
              <p:cNvSpPr txBox="1"/>
              <p:nvPr/>
            </p:nvSpPr>
            <p:spPr>
              <a:xfrm rot="19704999">
                <a:off x="2728608" y="3638397"/>
                <a:ext cx="606004" cy="2960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de-DE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Segoe UI Symbol" pitchFamily="34" charset="0"/>
                              <a:cs typeface="Arial" pitchFamily="34" charset="0"/>
                            </a:rPr>
                          </m:ctrlPr>
                        </m:sSubSupPr>
                        <m:e>
                          <m:r>
                            <a:rPr lang="de-DE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Segoe UI Symbol" pitchFamily="34" charset="0"/>
                              <a:cs typeface="Arial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de-DE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Segoe UI Symbol" pitchFamily="34" charset="0"/>
                              <a:cs typeface="Arial" pitchFamily="34" charset="0"/>
                            </a:rPr>
                            <m:t>𝑔𝑒𝑠</m:t>
                          </m:r>
                        </m:sub>
                        <m:sup>
                          <m:r>
                            <a:rPr lang="de-DE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Segoe UI Symbol" pitchFamily="34" charset="0"/>
                              <a:cs typeface="Arial" pitchFamily="34" charset="0"/>
                            </a:rPr>
                            <m:t>𝐼𝑜𝑛</m:t>
                          </m:r>
                        </m:sup>
                      </m:sSubSup>
                    </m:oMath>
                  </m:oMathPara>
                </a14:m>
                <a:endParaRPr lang="de-DE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C8539825-4092-42BD-B7F7-2787397216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704999">
                <a:off x="2728608" y="3638397"/>
                <a:ext cx="606004" cy="2960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feld 40">
            <a:extLst>
              <a:ext uri="{FF2B5EF4-FFF2-40B4-BE49-F238E27FC236}">
                <a16:creationId xmlns:a16="http://schemas.microsoft.com/office/drawing/2014/main" id="{87092222-B4D1-46DD-AC96-715AD0794335}"/>
              </a:ext>
            </a:extLst>
          </p:cNvPr>
          <p:cNvSpPr txBox="1"/>
          <p:nvPr/>
        </p:nvSpPr>
        <p:spPr>
          <a:xfrm>
            <a:off x="125521" y="4912668"/>
            <a:ext cx="876695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/>
            <a:r>
              <a:rPr lang="en-US" sz="9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[1] </a:t>
            </a:r>
            <a:r>
              <a:rPr lang="en-US" sz="900" dirty="0" err="1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Mester</a:t>
            </a:r>
            <a:r>
              <a:rPr lang="en-US" sz="9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, Zoltan; </a:t>
            </a:r>
            <a:r>
              <a:rPr lang="en-US" sz="900" dirty="0" err="1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Panagiotopoulos</a:t>
            </a:r>
            <a:r>
              <a:rPr lang="en-US" sz="9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, </a:t>
            </a:r>
            <a:r>
              <a:rPr lang="en-US" sz="900" dirty="0" err="1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Athanassios</a:t>
            </a:r>
            <a:r>
              <a:rPr lang="en-US" sz="9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 Z., Journal of Chemical Physics, (2015), 143 (4), 44505</a:t>
            </a:r>
          </a:p>
        </p:txBody>
      </p:sp>
    </p:spTree>
    <p:extLst>
      <p:ext uri="{BB962C8B-B14F-4D97-AF65-F5344CB8AC3E}">
        <p14:creationId xmlns:p14="http://schemas.microsoft.com/office/powerpoint/2010/main" val="3964917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5" grpId="0"/>
      <p:bldP spid="40" grpId="0"/>
      <p:bldP spid="4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25521" y="771550"/>
            <a:ext cx="846989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 anchorCtr="0">
            <a:noAutofit/>
          </a:bodyPr>
          <a:lstStyle/>
          <a:p>
            <a:pPr eaLnBrk="0" hangingPunct="0"/>
            <a:r>
              <a:rPr lang="de-DE" sz="2400" b="1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Ergebnisse: Clusteranalyse NaI</a:t>
            </a:r>
            <a:endParaRPr lang="de-DE" sz="1000" dirty="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BAA8A55A-AAD8-451A-B5CE-12BBC4803CBC}"/>
              </a:ext>
            </a:extLst>
          </p:cNvPr>
          <p:cNvGrpSpPr>
            <a:grpSpLocks noChangeAspect="1"/>
          </p:cNvGrpSpPr>
          <p:nvPr/>
        </p:nvGrpSpPr>
        <p:grpSpPr>
          <a:xfrm>
            <a:off x="-2211" y="1974192"/>
            <a:ext cx="3153582" cy="2160000"/>
            <a:chOff x="1944237" y="1231861"/>
            <a:chExt cx="5255525" cy="3599695"/>
          </a:xfrm>
        </p:grpSpPr>
        <p:pic>
          <p:nvPicPr>
            <p:cNvPr id="25" name="Grafik 24">
              <a:extLst>
                <a:ext uri="{FF2B5EF4-FFF2-40B4-BE49-F238E27FC236}">
                  <a16:creationId xmlns:a16="http://schemas.microsoft.com/office/drawing/2014/main" id="{68B33F49-51DA-4796-9536-56C29DFE2D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44237" y="1231861"/>
              <a:ext cx="5255525" cy="3599695"/>
            </a:xfrm>
            <a:prstGeom prst="rect">
              <a:avLst/>
            </a:prstGeom>
          </p:spPr>
        </p:pic>
        <p:cxnSp>
          <p:nvCxnSpPr>
            <p:cNvPr id="26" name="Gerade Verbindung mit Pfeil 25">
              <a:extLst>
                <a:ext uri="{FF2B5EF4-FFF2-40B4-BE49-F238E27FC236}">
                  <a16:creationId xmlns:a16="http://schemas.microsoft.com/office/drawing/2014/main" id="{C5B287B2-1AE8-4E5A-9FC9-22B79E7C04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8184" y="2074272"/>
              <a:ext cx="457392" cy="0"/>
            </a:xfrm>
            <a:prstGeom prst="straightConnector1">
              <a:avLst/>
            </a:prstGeom>
            <a:ln w="19050">
              <a:solidFill>
                <a:srgbClr val="003C5A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Gerade Verbindung mit Pfeil 28">
              <a:extLst>
                <a:ext uri="{FF2B5EF4-FFF2-40B4-BE49-F238E27FC236}">
                  <a16:creationId xmlns:a16="http://schemas.microsoft.com/office/drawing/2014/main" id="{BA25447E-9A68-4F30-B2DC-48487F79152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98044" y="2565171"/>
              <a:ext cx="457391" cy="0"/>
            </a:xfrm>
            <a:prstGeom prst="straightConnector1">
              <a:avLst/>
            </a:prstGeom>
            <a:ln w="19050">
              <a:solidFill>
                <a:srgbClr val="003C5A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Gerade Verbindung mit Pfeil 29">
              <a:extLst>
                <a:ext uri="{FF2B5EF4-FFF2-40B4-BE49-F238E27FC236}">
                  <a16:creationId xmlns:a16="http://schemas.microsoft.com/office/drawing/2014/main" id="{18A1A427-8F55-4AAC-9326-665A27726A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67676" y="3442652"/>
              <a:ext cx="457392" cy="0"/>
            </a:xfrm>
            <a:prstGeom prst="straightConnector1">
              <a:avLst/>
            </a:prstGeom>
            <a:ln w="19050">
              <a:solidFill>
                <a:srgbClr val="003C5A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Rectangle 6">
              <a:extLst>
                <a:ext uri="{FF2B5EF4-FFF2-40B4-BE49-F238E27FC236}">
                  <a16:creationId xmlns:a16="http://schemas.microsoft.com/office/drawing/2014/main" id="{7DD50EBA-9129-4D06-BE18-3179D5508DC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585086" y="1840726"/>
              <a:ext cx="1129696" cy="2490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t" anchorCtr="0">
              <a:noAutofit/>
            </a:bodyPr>
            <a:lstStyle/>
            <a:p>
              <a:pPr eaLnBrk="0" hangingPunct="0"/>
              <a:r>
                <a:rPr lang="de-DE" sz="600" dirty="0">
                  <a:latin typeface="Arial" pitchFamily="34" charset="0"/>
                  <a:ea typeface="Segoe UI Symbol" pitchFamily="34" charset="0"/>
                  <a:cs typeface="Arial" pitchFamily="34" charset="0"/>
                </a:rPr>
                <a:t>Clusterregel</a:t>
              </a:r>
              <a:endParaRPr lang="en-GB" sz="600" baseline="30000" dirty="0">
                <a:latin typeface="Arial" pitchFamily="34" charset="0"/>
                <a:ea typeface="Segoe UI Symbol" pitchFamily="34" charset="0"/>
                <a:cs typeface="Arial" pitchFamily="34" charset="0"/>
              </a:endParaRPr>
            </a:p>
          </p:txBody>
        </p:sp>
        <p:sp>
          <p:nvSpPr>
            <p:cNvPr id="33" name="Rectangle 6">
              <a:extLst>
                <a:ext uri="{FF2B5EF4-FFF2-40B4-BE49-F238E27FC236}">
                  <a16:creationId xmlns:a16="http://schemas.microsoft.com/office/drawing/2014/main" id="{C1FF23E1-8BB0-4F88-A973-71733B14662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458018" y="1972455"/>
              <a:ext cx="1227468" cy="2490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t" anchorCtr="0">
              <a:noAutofit/>
            </a:bodyPr>
            <a:lstStyle/>
            <a:p>
              <a:pPr eaLnBrk="0" hangingPunct="0"/>
              <a:r>
                <a:rPr lang="de-DE" sz="600" dirty="0" err="1">
                  <a:latin typeface="Arial" pitchFamily="34" charset="0"/>
                  <a:ea typeface="Segoe UI Symbol" pitchFamily="34" charset="0"/>
                  <a:cs typeface="Arial" pitchFamily="34" charset="0"/>
                </a:rPr>
                <a:t>Sol.lim</a:t>
              </a:r>
              <a:r>
                <a:rPr lang="de-DE" sz="600" dirty="0">
                  <a:latin typeface="Arial" pitchFamily="34" charset="0"/>
                  <a:ea typeface="Segoe UI Symbol" pitchFamily="34" charset="0"/>
                  <a:cs typeface="Arial" pitchFamily="34" charset="0"/>
                </a:rPr>
                <a:t> Mester</a:t>
              </a:r>
              <a:r>
                <a:rPr lang="de-DE" sz="600" baseline="30000" dirty="0">
                  <a:latin typeface="Arial" pitchFamily="34" charset="0"/>
                  <a:ea typeface="Segoe UI Symbol" pitchFamily="34" charset="0"/>
                  <a:cs typeface="Arial" pitchFamily="34" charset="0"/>
                </a:rPr>
                <a:t>[1]</a:t>
              </a:r>
              <a:endParaRPr lang="en-GB" sz="600" baseline="30000" dirty="0">
                <a:latin typeface="Arial" pitchFamily="34" charset="0"/>
                <a:ea typeface="Segoe UI Symbol" pitchFamily="34" charset="0"/>
                <a:cs typeface="Arial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feld 33">
                  <a:extLst>
                    <a:ext uri="{FF2B5EF4-FFF2-40B4-BE49-F238E27FC236}">
                      <a16:creationId xmlns:a16="http://schemas.microsoft.com/office/drawing/2014/main" id="{1138ABD1-45B1-4FCB-A322-F27F1C52B0DB}"/>
                    </a:ext>
                  </a:extLst>
                </p:cNvPr>
                <p:cNvSpPr txBox="1"/>
                <p:nvPr/>
              </p:nvSpPr>
              <p:spPr>
                <a:xfrm rot="19704999">
                  <a:off x="2728607" y="3610584"/>
                  <a:ext cx="606004" cy="35167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de-DE" sz="700" i="1">
                                <a:latin typeface="Cambria Math" panose="02040503050406030204" pitchFamily="18" charset="0"/>
                                <a:ea typeface="Segoe UI Symbol" pitchFamily="34" charset="0"/>
                                <a:cs typeface="Arial" pitchFamily="34" charset="0"/>
                              </a:rPr>
                            </m:ctrlPr>
                          </m:sSubSupPr>
                          <m:e>
                            <m:r>
                              <a:rPr lang="de-DE" sz="700" i="1">
                                <a:latin typeface="Cambria Math" panose="02040503050406030204" pitchFamily="18" charset="0"/>
                                <a:ea typeface="Segoe UI Symbol" pitchFamily="34" charset="0"/>
                                <a:cs typeface="Arial" pitchFamily="34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de-DE" sz="700" i="1">
                                <a:latin typeface="Cambria Math" panose="02040503050406030204" pitchFamily="18" charset="0"/>
                                <a:ea typeface="Segoe UI Symbol" pitchFamily="34" charset="0"/>
                                <a:cs typeface="Arial" pitchFamily="34" charset="0"/>
                              </a:rPr>
                              <m:t>𝑔𝑒𝑠</m:t>
                            </m:r>
                          </m:sub>
                          <m:sup>
                            <m:r>
                              <a:rPr lang="de-DE" sz="700" i="1">
                                <a:latin typeface="Cambria Math" panose="02040503050406030204" pitchFamily="18" charset="0"/>
                                <a:ea typeface="Segoe UI Symbol" pitchFamily="34" charset="0"/>
                                <a:cs typeface="Arial" pitchFamily="34" charset="0"/>
                              </a:rPr>
                              <m:t>𝐼𝑜𝑛</m:t>
                            </m:r>
                          </m:sup>
                        </m:sSubSup>
                      </m:oMath>
                    </m:oMathPara>
                  </a14:m>
                  <a:endParaRPr lang="de-DE" sz="7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34" name="Textfeld 33">
                  <a:extLst>
                    <a:ext uri="{FF2B5EF4-FFF2-40B4-BE49-F238E27FC236}">
                      <a16:creationId xmlns:a16="http://schemas.microsoft.com/office/drawing/2014/main" id="{1138ABD1-45B1-4FCB-A322-F27F1C52B0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704999">
                  <a:off x="2728607" y="3610584"/>
                  <a:ext cx="606004" cy="35167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6">
                <a:extLst>
                  <a:ext uri="{FF2B5EF4-FFF2-40B4-BE49-F238E27FC236}">
                    <a16:creationId xmlns:a16="http://schemas.microsoft.com/office/drawing/2014/main" id="{FC2011A8-1F37-40AF-884D-0AA4B4DC2C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5856" y="1995686"/>
                <a:ext cx="2094796" cy="3228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t" anchorCtr="0">
                <a:noAutofit/>
              </a:bodyPr>
              <a:lstStyle/>
              <a:p>
                <a:pPr eaLnBrk="0" hangingPunct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400" i="1" dirty="0" smtClean="0">
                              <a:solidFill>
                                <a:srgbClr val="003C5A"/>
                              </a:solidFill>
                              <a:latin typeface="Cambria Math" panose="02040503050406030204" pitchFamily="18" charset="0"/>
                              <a:ea typeface="Segoe UI Symbol" pitchFamily="34" charset="0"/>
                              <a:cs typeface="Arial" pitchFamily="34" charset="0"/>
                            </a:rPr>
                          </m:ctrlPr>
                        </m:sSubPr>
                        <m:e>
                          <m:r>
                            <a:rPr lang="de-DE" sz="1400" b="0" i="1" dirty="0" smtClean="0">
                              <a:solidFill>
                                <a:srgbClr val="003C5A"/>
                              </a:solidFill>
                              <a:latin typeface="Cambria Math" panose="02040503050406030204" pitchFamily="18" charset="0"/>
                              <a:ea typeface="Segoe UI Symbol" pitchFamily="34" charset="0"/>
                              <a:cs typeface="Arial" pitchFamily="34" charset="0"/>
                            </a:rPr>
                            <m:t>𝑥</m:t>
                          </m:r>
                        </m:e>
                        <m:sub>
                          <m:sSup>
                            <m:sSupPr>
                              <m:ctrlPr>
                                <a:rPr lang="de-DE" sz="1400" i="1" dirty="0" smtClean="0">
                                  <a:solidFill>
                                    <a:srgbClr val="003C5A"/>
                                  </a:solidFill>
                                  <a:latin typeface="Cambria Math" panose="02040503050406030204" pitchFamily="18" charset="0"/>
                                  <a:ea typeface="Segoe UI Symbol" pitchFamily="34" charset="0"/>
                                  <a:cs typeface="Arial" pitchFamily="34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de-DE" sz="1400" b="0" i="0" dirty="0" smtClean="0">
                                  <a:solidFill>
                                    <a:srgbClr val="003C5A"/>
                                  </a:solidFill>
                                  <a:latin typeface="Cambria Math" panose="02040503050406030204" pitchFamily="18" charset="0"/>
                                  <a:ea typeface="Segoe UI Symbol" pitchFamily="34" charset="0"/>
                                  <a:cs typeface="Arial" pitchFamily="34" charset="0"/>
                                </a:rPr>
                                <m:t>Na</m:t>
                              </m:r>
                            </m:e>
                            <m:sup>
                              <m:r>
                                <a:rPr lang="de-DE" sz="1400" b="0" i="0" dirty="0" smtClean="0">
                                  <a:solidFill>
                                    <a:srgbClr val="003C5A"/>
                                  </a:solidFill>
                                  <a:latin typeface="Cambria Math" panose="02040503050406030204" pitchFamily="18" charset="0"/>
                                  <a:ea typeface="Segoe UI Symbol" pitchFamily="34" charset="0"/>
                                  <a:cs typeface="Arial" pitchFamily="34" charset="0"/>
                                </a:rPr>
                                <m:t>+</m:t>
                              </m:r>
                            </m:sup>
                          </m:sSup>
                        </m:sub>
                      </m:sSub>
                      <m:r>
                        <a:rPr lang="de-DE" sz="1400" b="0" i="1" dirty="0" smtClean="0">
                          <a:solidFill>
                            <a:srgbClr val="003C5A"/>
                          </a:solidFill>
                          <a:latin typeface="Cambria Math" panose="02040503050406030204" pitchFamily="18" charset="0"/>
                          <a:ea typeface="Segoe UI Symbol" pitchFamily="34" charset="0"/>
                          <a:cs typeface="Arial" pitchFamily="34" charset="0"/>
                        </a:rPr>
                        <m:t>=0.174 </m:t>
                      </m:r>
                      <m:r>
                        <m:rPr>
                          <m:sty m:val="p"/>
                        </m:rPr>
                        <a:rPr lang="de-DE" sz="1400" b="0" i="0" dirty="0" smtClean="0">
                          <a:solidFill>
                            <a:srgbClr val="003C5A"/>
                          </a:solidFill>
                          <a:latin typeface="Cambria Math" panose="02040503050406030204" pitchFamily="18" charset="0"/>
                          <a:ea typeface="Segoe UI Symbol" pitchFamily="34" charset="0"/>
                          <a:cs typeface="Arial" pitchFamily="34" charset="0"/>
                        </a:rPr>
                        <m:t>mol</m:t>
                      </m:r>
                      <m:r>
                        <a:rPr lang="de-DE" sz="1400" b="0" i="0" dirty="0" smtClean="0">
                          <a:solidFill>
                            <a:srgbClr val="003C5A"/>
                          </a:solidFill>
                          <a:latin typeface="Cambria Math" panose="02040503050406030204" pitchFamily="18" charset="0"/>
                          <a:ea typeface="Segoe UI Symbol" pitchFamily="34" charset="0"/>
                          <a:cs typeface="Arial" pitchFamily="34" charset="0"/>
                        </a:rPr>
                        <m:t> </m:t>
                      </m:r>
                      <m:sSup>
                        <m:sSupPr>
                          <m:ctrlPr>
                            <a:rPr lang="de-DE" sz="1400" i="1" dirty="0" smtClean="0">
                              <a:solidFill>
                                <a:srgbClr val="003C5A"/>
                              </a:solidFill>
                              <a:latin typeface="Cambria Math" panose="02040503050406030204" pitchFamily="18" charset="0"/>
                              <a:ea typeface="Segoe UI Symbol" pitchFamily="34" charset="0"/>
                              <a:cs typeface="Arial" pitchFamily="34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de-DE" sz="1400" b="0" i="0" dirty="0" smtClean="0">
                              <a:solidFill>
                                <a:srgbClr val="003C5A"/>
                              </a:solidFill>
                              <a:latin typeface="Cambria Math" panose="02040503050406030204" pitchFamily="18" charset="0"/>
                              <a:ea typeface="Segoe UI Symbol" pitchFamily="34" charset="0"/>
                              <a:cs typeface="Arial" pitchFamily="34" charset="0"/>
                            </a:rPr>
                            <m:t>mol</m:t>
                          </m:r>
                        </m:e>
                        <m:sup>
                          <m:r>
                            <a:rPr lang="de-DE" sz="1400" b="0" i="0" dirty="0" smtClean="0">
                              <a:solidFill>
                                <a:srgbClr val="003C5A"/>
                              </a:solidFill>
                              <a:latin typeface="Cambria Math" panose="02040503050406030204" pitchFamily="18" charset="0"/>
                              <a:ea typeface="Segoe UI Symbol" pitchFamily="34" charset="0"/>
                              <a:cs typeface="Arial" pitchFamily="34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de-DE" sz="800" dirty="0">
                  <a:solidFill>
                    <a:srgbClr val="003C5A"/>
                  </a:solidFill>
                  <a:latin typeface="Arial" pitchFamily="34" charset="0"/>
                  <a:ea typeface="Segoe UI Symbo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21" name="Rectangle 6">
                <a:extLst>
                  <a:ext uri="{FF2B5EF4-FFF2-40B4-BE49-F238E27FC236}">
                    <a16:creationId xmlns:a16="http://schemas.microsoft.com/office/drawing/2014/main" id="{FC2011A8-1F37-40AF-884D-0AA4B4DC2C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75856" y="1995686"/>
                <a:ext cx="2094796" cy="3228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6">
                <a:extLst>
                  <a:ext uri="{FF2B5EF4-FFF2-40B4-BE49-F238E27FC236}">
                    <a16:creationId xmlns:a16="http://schemas.microsoft.com/office/drawing/2014/main" id="{C3EF4293-A95E-4D86-9187-D7A552791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28625" y="1995686"/>
                <a:ext cx="1368149" cy="3228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t" anchorCtr="0">
                <a:noAutofit/>
              </a:bodyPr>
              <a:lstStyle/>
              <a:p>
                <a:pPr eaLnBrk="0" hangingPunct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sz="1400" b="0" i="1" dirty="0" smtClean="0">
                          <a:solidFill>
                            <a:srgbClr val="003C5A"/>
                          </a:solidFill>
                          <a:latin typeface="Cambria Math" panose="02040503050406030204" pitchFamily="18" charset="0"/>
                          <a:ea typeface="Segoe UI Symbol" pitchFamily="34" charset="0"/>
                          <a:cs typeface="Arial" pitchFamily="34" charset="0"/>
                        </a:rPr>
                        <m:t>0.214 </m:t>
                      </m:r>
                      <m:r>
                        <m:rPr>
                          <m:sty m:val="p"/>
                        </m:rPr>
                        <a:rPr lang="de-DE" sz="1400" b="0" i="0" dirty="0">
                          <a:solidFill>
                            <a:srgbClr val="003C5A"/>
                          </a:solidFill>
                          <a:latin typeface="Cambria Math" panose="02040503050406030204" pitchFamily="18" charset="0"/>
                          <a:ea typeface="Segoe UI Symbol" pitchFamily="34" charset="0"/>
                          <a:cs typeface="Arial" pitchFamily="34" charset="0"/>
                        </a:rPr>
                        <m:t>mol</m:t>
                      </m:r>
                      <m:r>
                        <a:rPr lang="de-DE" sz="1400" b="0" i="0" dirty="0">
                          <a:solidFill>
                            <a:srgbClr val="003C5A"/>
                          </a:solidFill>
                          <a:latin typeface="Cambria Math" panose="02040503050406030204" pitchFamily="18" charset="0"/>
                          <a:ea typeface="Segoe UI Symbol" pitchFamily="34" charset="0"/>
                          <a:cs typeface="Arial" pitchFamily="34" charset="0"/>
                        </a:rPr>
                        <m:t> </m:t>
                      </m:r>
                      <m:sSup>
                        <m:sSupPr>
                          <m:ctrlPr>
                            <a:rPr lang="de-DE" sz="1400" i="1" dirty="0">
                              <a:solidFill>
                                <a:srgbClr val="003C5A"/>
                              </a:solidFill>
                              <a:latin typeface="Cambria Math" panose="02040503050406030204" pitchFamily="18" charset="0"/>
                              <a:ea typeface="Segoe UI Symbol" pitchFamily="34" charset="0"/>
                              <a:cs typeface="Arial" pitchFamily="34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de-DE" sz="1400" b="0" i="0" dirty="0" smtClean="0">
                              <a:solidFill>
                                <a:srgbClr val="003C5A"/>
                              </a:solidFill>
                              <a:latin typeface="Cambria Math" panose="02040503050406030204" pitchFamily="18" charset="0"/>
                              <a:ea typeface="Segoe UI Symbol" pitchFamily="34" charset="0"/>
                              <a:cs typeface="Arial" pitchFamily="34" charset="0"/>
                            </a:rPr>
                            <m:t>mol</m:t>
                          </m:r>
                        </m:e>
                        <m:sup>
                          <m:r>
                            <a:rPr lang="de-DE" sz="1400" b="0" i="0" dirty="0">
                              <a:solidFill>
                                <a:srgbClr val="003C5A"/>
                              </a:solidFill>
                              <a:latin typeface="Cambria Math" panose="02040503050406030204" pitchFamily="18" charset="0"/>
                              <a:ea typeface="Segoe UI Symbol" pitchFamily="34" charset="0"/>
                              <a:cs typeface="Arial" pitchFamily="34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de-DE" sz="800" dirty="0">
                  <a:solidFill>
                    <a:srgbClr val="003C5A"/>
                  </a:solidFill>
                  <a:latin typeface="Arial" pitchFamily="34" charset="0"/>
                  <a:ea typeface="Segoe UI Symbo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22" name="Rectangle 6">
                <a:extLst>
                  <a:ext uri="{FF2B5EF4-FFF2-40B4-BE49-F238E27FC236}">
                    <a16:creationId xmlns:a16="http://schemas.microsoft.com/office/drawing/2014/main" id="{C3EF4293-A95E-4D86-9187-D7A5527917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28625" y="1995686"/>
                <a:ext cx="1368149" cy="322899"/>
              </a:xfrm>
              <a:prstGeom prst="rect">
                <a:avLst/>
              </a:prstGeom>
              <a:blipFill>
                <a:blip r:embed="rId6"/>
                <a:stretch>
                  <a:fillRect r="-178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6">
                <a:extLst>
                  <a:ext uri="{FF2B5EF4-FFF2-40B4-BE49-F238E27FC236}">
                    <a16:creationId xmlns:a16="http://schemas.microsoft.com/office/drawing/2014/main" id="{F2B92E05-73F1-478D-BCFD-30CEE20000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84202" y="1995686"/>
                <a:ext cx="1368149" cy="3228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t" anchorCtr="0">
                <a:noAutofit/>
              </a:bodyPr>
              <a:lstStyle/>
              <a:p>
                <a:pPr eaLnBrk="0" hangingPunct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sz="1400" b="0" i="1" dirty="0" smtClean="0">
                          <a:solidFill>
                            <a:srgbClr val="003C5A"/>
                          </a:solidFill>
                          <a:latin typeface="Cambria Math" panose="02040503050406030204" pitchFamily="18" charset="0"/>
                          <a:ea typeface="Segoe UI Symbol" pitchFamily="34" charset="0"/>
                          <a:cs typeface="Arial" pitchFamily="34" charset="0"/>
                        </a:rPr>
                        <m:t>0.254 </m:t>
                      </m:r>
                      <m:r>
                        <m:rPr>
                          <m:sty m:val="p"/>
                        </m:rPr>
                        <a:rPr lang="de-DE" sz="1400" b="0" i="0" dirty="0">
                          <a:solidFill>
                            <a:srgbClr val="003C5A"/>
                          </a:solidFill>
                          <a:latin typeface="Cambria Math" panose="02040503050406030204" pitchFamily="18" charset="0"/>
                          <a:ea typeface="Segoe UI Symbol" pitchFamily="34" charset="0"/>
                          <a:cs typeface="Arial" pitchFamily="34" charset="0"/>
                        </a:rPr>
                        <m:t>mol</m:t>
                      </m:r>
                      <m:r>
                        <a:rPr lang="de-DE" sz="1400" b="0" i="0" dirty="0">
                          <a:solidFill>
                            <a:srgbClr val="003C5A"/>
                          </a:solidFill>
                          <a:latin typeface="Cambria Math" panose="02040503050406030204" pitchFamily="18" charset="0"/>
                          <a:ea typeface="Segoe UI Symbol" pitchFamily="34" charset="0"/>
                          <a:cs typeface="Arial" pitchFamily="34" charset="0"/>
                        </a:rPr>
                        <m:t> </m:t>
                      </m:r>
                      <m:sSup>
                        <m:sSupPr>
                          <m:ctrlPr>
                            <a:rPr lang="de-DE" sz="1400" i="1" dirty="0">
                              <a:solidFill>
                                <a:srgbClr val="003C5A"/>
                              </a:solidFill>
                              <a:latin typeface="Cambria Math" panose="02040503050406030204" pitchFamily="18" charset="0"/>
                              <a:ea typeface="Segoe UI Symbol" pitchFamily="34" charset="0"/>
                              <a:cs typeface="Arial" pitchFamily="34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de-DE" sz="1400" b="0" i="0" dirty="0" smtClean="0">
                              <a:solidFill>
                                <a:srgbClr val="003C5A"/>
                              </a:solidFill>
                              <a:latin typeface="Cambria Math" panose="02040503050406030204" pitchFamily="18" charset="0"/>
                              <a:ea typeface="Segoe UI Symbol" pitchFamily="34" charset="0"/>
                              <a:cs typeface="Arial" pitchFamily="34" charset="0"/>
                            </a:rPr>
                            <m:t>mol</m:t>
                          </m:r>
                        </m:e>
                        <m:sup>
                          <m:r>
                            <a:rPr lang="de-DE" sz="1400" b="0" i="0" dirty="0">
                              <a:solidFill>
                                <a:srgbClr val="003C5A"/>
                              </a:solidFill>
                              <a:latin typeface="Cambria Math" panose="02040503050406030204" pitchFamily="18" charset="0"/>
                              <a:ea typeface="Segoe UI Symbol" pitchFamily="34" charset="0"/>
                              <a:cs typeface="Arial" pitchFamily="34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de-DE" sz="800" dirty="0">
                  <a:solidFill>
                    <a:srgbClr val="003C5A"/>
                  </a:solidFill>
                  <a:latin typeface="Arial" pitchFamily="34" charset="0"/>
                  <a:ea typeface="Segoe UI Symbo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23" name="Rectangle 6">
                <a:extLst>
                  <a:ext uri="{FF2B5EF4-FFF2-40B4-BE49-F238E27FC236}">
                    <a16:creationId xmlns:a16="http://schemas.microsoft.com/office/drawing/2014/main" id="{F2B92E05-73F1-478D-BCFD-30CEE20000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84202" y="1995686"/>
                <a:ext cx="1368149" cy="322899"/>
              </a:xfrm>
              <a:prstGeom prst="rect">
                <a:avLst/>
              </a:prstGeom>
              <a:blipFill>
                <a:blip r:embed="rId7"/>
                <a:stretch>
                  <a:fillRect r="-178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feld 34">
            <a:extLst>
              <a:ext uri="{FF2B5EF4-FFF2-40B4-BE49-F238E27FC236}">
                <a16:creationId xmlns:a16="http://schemas.microsoft.com/office/drawing/2014/main" id="{696C5378-C880-4021-86B4-78BC17F42ED5}"/>
              </a:ext>
            </a:extLst>
          </p:cNvPr>
          <p:cNvSpPr txBox="1"/>
          <p:nvPr/>
        </p:nvSpPr>
        <p:spPr>
          <a:xfrm>
            <a:off x="123322" y="4912668"/>
            <a:ext cx="876695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/>
            <a:r>
              <a:rPr lang="en-US" sz="9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[1] </a:t>
            </a:r>
            <a:r>
              <a:rPr lang="en-US" sz="900" dirty="0" err="1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Mester</a:t>
            </a:r>
            <a:r>
              <a:rPr lang="en-US" sz="9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, Zoltan; </a:t>
            </a:r>
            <a:r>
              <a:rPr lang="en-US" sz="900" dirty="0" err="1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Panagiotopoulos</a:t>
            </a:r>
            <a:r>
              <a:rPr lang="en-US" sz="9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, </a:t>
            </a:r>
            <a:r>
              <a:rPr lang="en-US" sz="900" dirty="0" err="1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Athanassios</a:t>
            </a:r>
            <a:r>
              <a:rPr lang="en-US" sz="9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 Z., Journal of Chemical Physics, (2015), 143 (4), 44505</a:t>
            </a:r>
          </a:p>
        </p:txBody>
      </p:sp>
      <p:pic>
        <p:nvPicPr>
          <p:cNvPr id="36" name="Grafik 35">
            <a:extLst>
              <a:ext uri="{FF2B5EF4-FFF2-40B4-BE49-F238E27FC236}">
                <a16:creationId xmlns:a16="http://schemas.microsoft.com/office/drawing/2014/main" id="{629C598C-F81B-465F-947E-2EC75100FEC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1744" y="2276882"/>
            <a:ext cx="1440000" cy="1440000"/>
          </a:xfrm>
          <a:prstGeom prst="rect">
            <a:avLst/>
          </a:prstGeom>
        </p:spPr>
      </p:pic>
      <p:pic>
        <p:nvPicPr>
          <p:cNvPr id="38" name="Grafik 37">
            <a:extLst>
              <a:ext uri="{FF2B5EF4-FFF2-40B4-BE49-F238E27FC236}">
                <a16:creationId xmlns:a16="http://schemas.microsoft.com/office/drawing/2014/main" id="{53E69249-7619-409C-9D6C-FADAF66AF70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99069" y="2276882"/>
            <a:ext cx="1440000" cy="1440000"/>
          </a:xfrm>
          <a:prstGeom prst="rect">
            <a:avLst/>
          </a:prstGeom>
        </p:spPr>
      </p:pic>
      <p:pic>
        <p:nvPicPr>
          <p:cNvPr id="40" name="Grafik 39">
            <a:extLst>
              <a:ext uri="{FF2B5EF4-FFF2-40B4-BE49-F238E27FC236}">
                <a16:creationId xmlns:a16="http://schemas.microsoft.com/office/drawing/2014/main" id="{5AFD5860-A054-4A7A-8E80-C05A9937CC1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81174" y="2283878"/>
            <a:ext cx="1440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2086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125521" y="1347422"/>
            <a:ext cx="91440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 anchorCtr="0">
            <a:noAutofit/>
          </a:bodyPr>
          <a:lstStyle/>
          <a:p>
            <a:pPr eaLnBrk="0" hangingPunct="0"/>
            <a:endParaRPr lang="de-DE" sz="1600" dirty="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  <a:p>
            <a:pPr eaLnBrk="0" hangingPunct="0"/>
            <a:endParaRPr lang="de-DE" sz="1600" dirty="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  <a:p>
            <a:pPr eaLnBrk="0" hangingPunct="0"/>
            <a:endParaRPr lang="de-DE" sz="1600" dirty="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  <a:p>
            <a:pPr eaLnBrk="0" hangingPunct="0"/>
            <a:endParaRPr lang="de-DE" sz="1600" dirty="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  <a:p>
            <a:pPr eaLnBrk="0" hangingPunct="0"/>
            <a:endParaRPr lang="de-DE" sz="1600" dirty="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  <a:p>
            <a:pPr eaLnBrk="0" hangingPunct="0"/>
            <a:endParaRPr lang="de-DE" sz="1600" dirty="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  <a:p>
            <a:pPr eaLnBrk="0" hangingPunct="0"/>
            <a:endParaRPr lang="de-DE" sz="1600" dirty="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  <a:p>
            <a:pPr eaLnBrk="0" hangingPunct="0"/>
            <a:endParaRPr lang="de-DE" sz="1600" dirty="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  <a:p>
            <a:pPr eaLnBrk="0" hangingPunct="0"/>
            <a:endParaRPr lang="de-DE" sz="1600" dirty="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  <a:p>
            <a:pPr eaLnBrk="0" hangingPunct="0"/>
            <a:endParaRPr lang="de-DE" sz="1600" dirty="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  <a:p>
            <a:pPr eaLnBrk="0" hangingPunct="0"/>
            <a:endParaRPr lang="de-DE" sz="1600" dirty="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  <a:p>
            <a:pPr eaLnBrk="0" hangingPunct="0"/>
            <a:endParaRPr lang="de-DE" sz="1600" dirty="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EA8B36E7-EA5A-4573-BA35-490D1773A13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521" y="1347614"/>
            <a:ext cx="2833590" cy="2880000"/>
          </a:xfrm>
          <a:prstGeom prst="rect">
            <a:avLst/>
          </a:prstGeom>
        </p:spPr>
      </p:pic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9D92E67B-6F14-4B75-A4AE-9FB16C9241EC}"/>
              </a:ext>
            </a:extLst>
          </p:cNvPr>
          <p:cNvCxnSpPr>
            <a:cxnSpLocks/>
          </p:cNvCxnSpPr>
          <p:nvPr/>
        </p:nvCxnSpPr>
        <p:spPr>
          <a:xfrm>
            <a:off x="298830" y="1851670"/>
            <a:ext cx="2544765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3" name="Grafik 22">
            <a:extLst>
              <a:ext uri="{FF2B5EF4-FFF2-40B4-BE49-F238E27FC236}">
                <a16:creationId xmlns:a16="http://schemas.microsoft.com/office/drawing/2014/main" id="{C359A2DB-56C6-420C-BE46-BCF601011B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8475" y="987766"/>
            <a:ext cx="5255525" cy="3599695"/>
          </a:xfrm>
          <a:prstGeom prst="rect">
            <a:avLst/>
          </a:prstGeom>
        </p:spPr>
      </p:pic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1B38D107-D5D7-4C05-91F9-2E503E80E9D6}"/>
              </a:ext>
            </a:extLst>
          </p:cNvPr>
          <p:cNvCxnSpPr>
            <a:cxnSpLocks/>
          </p:cNvCxnSpPr>
          <p:nvPr/>
        </p:nvCxnSpPr>
        <p:spPr>
          <a:xfrm flipV="1">
            <a:off x="8123674" y="1922686"/>
            <a:ext cx="0" cy="361032"/>
          </a:xfrm>
          <a:prstGeom prst="straightConnector1">
            <a:avLst/>
          </a:prstGeom>
          <a:ln w="19050">
            <a:solidFill>
              <a:srgbClr val="003C5A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6">
            <a:extLst>
              <a:ext uri="{FF2B5EF4-FFF2-40B4-BE49-F238E27FC236}">
                <a16:creationId xmlns:a16="http://schemas.microsoft.com/office/drawing/2014/main" id="{470853F0-42EC-4137-8F59-EBBCB2FD4D02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5671338" y="1620608"/>
            <a:ext cx="893296" cy="24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 anchorCtr="0">
            <a:noAutofit/>
          </a:bodyPr>
          <a:lstStyle/>
          <a:p>
            <a:pPr eaLnBrk="0" hangingPunct="0"/>
            <a:r>
              <a:rPr lang="de-DE" sz="1000" dirty="0">
                <a:latin typeface="Arial" pitchFamily="34" charset="0"/>
                <a:ea typeface="Segoe UI Symbol" pitchFamily="34" charset="0"/>
                <a:cs typeface="Arial" pitchFamily="34" charset="0"/>
              </a:rPr>
              <a:t>Clusterregel</a:t>
            </a:r>
            <a:endParaRPr lang="en-GB" sz="1000" baseline="30000" dirty="0"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  <p:sp>
        <p:nvSpPr>
          <p:cNvPr id="18" name="Rectangle 6">
            <a:extLst>
              <a:ext uri="{FF2B5EF4-FFF2-40B4-BE49-F238E27FC236}">
                <a16:creationId xmlns:a16="http://schemas.microsoft.com/office/drawing/2014/main" id="{75D19182-BE31-4E03-B635-C5CAA2404FE2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6474955" y="1702973"/>
            <a:ext cx="1129696" cy="24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 anchorCtr="0">
            <a:noAutofit/>
          </a:bodyPr>
          <a:lstStyle/>
          <a:p>
            <a:pPr eaLnBrk="0" hangingPunct="0"/>
            <a:r>
              <a:rPr lang="de-DE" sz="1000" dirty="0" err="1">
                <a:latin typeface="Arial" pitchFamily="34" charset="0"/>
                <a:ea typeface="Segoe UI Symbol" pitchFamily="34" charset="0"/>
                <a:cs typeface="Arial" pitchFamily="34" charset="0"/>
              </a:rPr>
              <a:t>Sol.lim</a:t>
            </a:r>
            <a:r>
              <a:rPr lang="de-DE" sz="1000" dirty="0">
                <a:latin typeface="Arial" pitchFamily="34" charset="0"/>
                <a:ea typeface="Segoe UI Symbol" pitchFamily="34" charset="0"/>
                <a:cs typeface="Arial" pitchFamily="34" charset="0"/>
              </a:rPr>
              <a:t> Mester</a:t>
            </a:r>
            <a:r>
              <a:rPr lang="de-DE" sz="1000" baseline="30000" dirty="0">
                <a:latin typeface="Arial" pitchFamily="34" charset="0"/>
                <a:ea typeface="Segoe UI Symbol" pitchFamily="34" charset="0"/>
                <a:cs typeface="Arial" pitchFamily="34" charset="0"/>
              </a:rPr>
              <a:t>[1]</a:t>
            </a:r>
            <a:endParaRPr lang="en-GB" sz="1000" baseline="30000" dirty="0"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  <p:sp>
        <p:nvSpPr>
          <p:cNvPr id="19" name="Rectangle 6">
            <a:extLst>
              <a:ext uri="{FF2B5EF4-FFF2-40B4-BE49-F238E27FC236}">
                <a16:creationId xmlns:a16="http://schemas.microsoft.com/office/drawing/2014/main" id="{35AE06B6-C9B2-43BE-A0FE-9DAE8BAC0B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1297" y="1005658"/>
            <a:ext cx="993377" cy="24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 anchorCtr="0">
            <a:noAutofit/>
          </a:bodyPr>
          <a:lstStyle/>
          <a:p>
            <a:pPr eaLnBrk="0" hangingPunct="0"/>
            <a:r>
              <a:rPr lang="de-DE" sz="1400" dirty="0">
                <a:latin typeface="Arial" pitchFamily="34" charset="0"/>
                <a:ea typeface="Segoe UI Symbol" pitchFamily="34" charset="0"/>
                <a:cs typeface="Arial" pitchFamily="34" charset="0"/>
              </a:rPr>
              <a:t>NaI∙2H</a:t>
            </a:r>
            <a:r>
              <a:rPr lang="de-DE" sz="1400" baseline="-25000" dirty="0">
                <a:latin typeface="Arial" pitchFamily="34" charset="0"/>
                <a:ea typeface="Segoe UI Symbol" pitchFamily="34" charset="0"/>
                <a:cs typeface="Arial" pitchFamily="34" charset="0"/>
              </a:rPr>
              <a:t>2</a:t>
            </a:r>
            <a:r>
              <a:rPr lang="de-DE" sz="1400" dirty="0">
                <a:latin typeface="Arial" pitchFamily="34" charset="0"/>
                <a:ea typeface="Segoe UI Symbol" pitchFamily="34" charset="0"/>
                <a:cs typeface="Arial" pitchFamily="34" charset="0"/>
              </a:rPr>
              <a:t>O</a:t>
            </a:r>
            <a:endParaRPr lang="en-GB" sz="1400" baseline="30000" dirty="0"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  <p:sp>
        <p:nvSpPr>
          <p:cNvPr id="20" name="Rectangle 6">
            <a:extLst>
              <a:ext uri="{FF2B5EF4-FFF2-40B4-BE49-F238E27FC236}">
                <a16:creationId xmlns:a16="http://schemas.microsoft.com/office/drawing/2014/main" id="{23E48B8D-8A15-4C6F-BDE5-9AF7251045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4269" y="1005657"/>
            <a:ext cx="502053" cy="24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 anchorCtr="0">
            <a:noAutofit/>
          </a:bodyPr>
          <a:lstStyle/>
          <a:p>
            <a:pPr eaLnBrk="0" hangingPunct="0"/>
            <a:r>
              <a:rPr lang="de-DE" sz="1400" dirty="0">
                <a:latin typeface="Arial" pitchFamily="34" charset="0"/>
                <a:ea typeface="Segoe UI Symbol" pitchFamily="34" charset="0"/>
                <a:cs typeface="Arial" pitchFamily="34" charset="0"/>
              </a:rPr>
              <a:t>NaI</a:t>
            </a:r>
            <a:endParaRPr lang="en-GB" sz="1400" baseline="30000" dirty="0"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21931B0A-B37B-46C5-8910-C2E55B43C965}"/>
              </a:ext>
            </a:extLst>
          </p:cNvPr>
          <p:cNvSpPr/>
          <p:nvPr/>
        </p:nvSpPr>
        <p:spPr>
          <a:xfrm>
            <a:off x="2827952" y="1347614"/>
            <a:ext cx="360040" cy="2564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hangingPunct="0"/>
            <a:r>
              <a:rPr lang="de-DE" sz="1600" baseline="300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[2]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3DF9CBC2-7653-41AB-A8D4-1EAA7A88043A}"/>
              </a:ext>
            </a:extLst>
          </p:cNvPr>
          <p:cNvSpPr txBox="1"/>
          <p:nvPr/>
        </p:nvSpPr>
        <p:spPr>
          <a:xfrm>
            <a:off x="125521" y="4772962"/>
            <a:ext cx="87669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/>
            <a:r>
              <a:rPr lang="en-US" sz="9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[1] </a:t>
            </a:r>
            <a:r>
              <a:rPr lang="en-US" sz="900" dirty="0" err="1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Mester</a:t>
            </a:r>
            <a:r>
              <a:rPr lang="en-US" sz="9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, Zoltan; </a:t>
            </a:r>
            <a:r>
              <a:rPr lang="en-US" sz="900" dirty="0" err="1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Panagiotopoulos</a:t>
            </a:r>
            <a:r>
              <a:rPr lang="en-US" sz="9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, </a:t>
            </a:r>
            <a:r>
              <a:rPr lang="en-US" sz="900" dirty="0" err="1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Athanassios</a:t>
            </a:r>
            <a:r>
              <a:rPr lang="en-US" sz="9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 Z., Journal of Chemical Physics, (2015), 143 (4), 44505</a:t>
            </a:r>
          </a:p>
          <a:p>
            <a:pPr eaLnBrk="0" hangingPunct="0"/>
            <a:r>
              <a:rPr lang="en-US" sz="9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[2] Briggs, T. R.; Geigle, W. F., J. of Physical Chemistry, (1940), 44 (3), 373 377</a:t>
            </a:r>
          </a:p>
        </p:txBody>
      </p:sp>
      <p:sp>
        <p:nvSpPr>
          <p:cNvPr id="15" name="Rectangle 6"/>
          <p:cNvSpPr>
            <a:spLocks noChangeArrowheads="1"/>
          </p:cNvSpPr>
          <p:nvPr/>
        </p:nvSpPr>
        <p:spPr bwMode="auto">
          <a:xfrm>
            <a:off x="125521" y="771550"/>
            <a:ext cx="846989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 anchorCtr="0">
            <a:noAutofit/>
          </a:bodyPr>
          <a:lstStyle/>
          <a:p>
            <a:pPr eaLnBrk="0" hangingPunct="0"/>
            <a:r>
              <a:rPr lang="de-DE" sz="2400" b="1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Ergebnisse Clusteranalyse </a:t>
            </a:r>
            <a:r>
              <a:rPr lang="de-DE" sz="2400" b="1" dirty="0" err="1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NaI</a:t>
            </a:r>
            <a:endParaRPr lang="de-DE" sz="1000" dirty="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  <p:sp>
        <p:nvSpPr>
          <p:cNvPr id="2" name="Multiplikationszeichen 1">
            <a:extLst>
              <a:ext uri="{FF2B5EF4-FFF2-40B4-BE49-F238E27FC236}">
                <a16:creationId xmlns:a16="http://schemas.microsoft.com/office/drawing/2014/main" id="{791E6590-E25A-4AC5-BD20-0EF0D84FF79B}"/>
              </a:ext>
            </a:extLst>
          </p:cNvPr>
          <p:cNvSpPr/>
          <p:nvPr/>
        </p:nvSpPr>
        <p:spPr>
          <a:xfrm>
            <a:off x="2291554" y="1778684"/>
            <a:ext cx="144000" cy="144000"/>
          </a:xfrm>
          <a:prstGeom prst="mathMultiply">
            <a:avLst>
              <a:gd name="adj1" fmla="val 8637"/>
            </a:avLst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tangle 6">
            <a:extLst>
              <a:ext uri="{FF2B5EF4-FFF2-40B4-BE49-F238E27FC236}">
                <a16:creationId xmlns:a16="http://schemas.microsoft.com/office/drawing/2014/main" id="{BAE310F3-9F25-4522-A424-14925139B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7680" y="2276098"/>
            <a:ext cx="751987" cy="338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 anchorCtr="0">
            <a:noAutofit/>
          </a:bodyPr>
          <a:lstStyle/>
          <a:p>
            <a:pPr algn="ctr" eaLnBrk="0" hangingPunct="0"/>
            <a:r>
              <a:rPr lang="de-DE" sz="1000" dirty="0">
                <a:latin typeface="Arial" pitchFamily="34" charset="0"/>
                <a:ea typeface="Segoe UI Symbol" pitchFamily="34" charset="0"/>
                <a:cs typeface="Arial" pitchFamily="34" charset="0"/>
              </a:rPr>
              <a:t>NaI : H</a:t>
            </a:r>
            <a:r>
              <a:rPr lang="de-DE" sz="1000" baseline="-25000" dirty="0">
                <a:latin typeface="Arial" pitchFamily="34" charset="0"/>
                <a:ea typeface="Segoe UI Symbol" pitchFamily="34" charset="0"/>
                <a:cs typeface="Arial" pitchFamily="34" charset="0"/>
              </a:rPr>
              <a:t>2</a:t>
            </a:r>
            <a:r>
              <a:rPr lang="de-DE" sz="1000" dirty="0">
                <a:latin typeface="Arial" pitchFamily="34" charset="0"/>
                <a:ea typeface="Segoe UI Symbol" pitchFamily="34" charset="0"/>
                <a:cs typeface="Arial" pitchFamily="34" charset="0"/>
              </a:rPr>
              <a:t>O</a:t>
            </a:r>
          </a:p>
          <a:p>
            <a:pPr algn="ctr" eaLnBrk="0" hangingPunct="0"/>
            <a:r>
              <a:rPr lang="de-DE" sz="1000" dirty="0">
                <a:latin typeface="Arial" pitchFamily="34" charset="0"/>
                <a:ea typeface="Segoe UI Symbol" pitchFamily="34" charset="0"/>
                <a:cs typeface="Arial" pitchFamily="34" charset="0"/>
              </a:rPr>
              <a:t>1 : 2</a:t>
            </a:r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F7C137F9-2ABE-448D-BABF-C6CD0288FF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673" y="2581182"/>
            <a:ext cx="1260000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959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0" grpId="0"/>
      <p:bldP spid="2" grpId="0" animBg="1"/>
      <p:bldP spid="1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125521" y="1264717"/>
            <a:ext cx="7830855" cy="1728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 anchorCtr="0">
            <a:noAutofit/>
          </a:bodyPr>
          <a:lstStyle/>
          <a:p>
            <a:pPr marL="180000" indent="-180000" eaLnBrk="0" hangingPunct="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Struktureigenschaften von drei NaCl Modellen bei unterschiedlichen Konzentrationen untersucht</a:t>
            </a:r>
          </a:p>
          <a:p>
            <a:pPr marL="637200" lvl="2" indent="-180000" eaLnBrk="0" hangingPunct="0">
              <a:buFont typeface="Wingdings" panose="05000000000000000000" pitchFamily="2" charset="2"/>
              <a:buChar char="Ø"/>
            </a:pPr>
            <a:r>
              <a:rPr lang="de-DE" sz="16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Radiale Paarverteilungsfunktion</a:t>
            </a:r>
          </a:p>
          <a:p>
            <a:pPr marL="637200" lvl="2" indent="-180000" eaLnBrk="0" hangingPunct="0">
              <a:buFont typeface="Wingdings" panose="05000000000000000000" pitchFamily="2" charset="2"/>
              <a:buChar char="Ø"/>
            </a:pPr>
            <a:r>
              <a:rPr lang="de-DE" sz="16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Clusteranalyse</a:t>
            </a:r>
            <a:br>
              <a:rPr lang="de-DE" sz="16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</a:br>
            <a:endParaRPr lang="de-DE" sz="1600" dirty="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  <a:p>
            <a:pPr marL="180000" indent="-180000" eaLnBrk="0" hangingPunct="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Clusterregel: „Bilden sich Cluster mit 6 oder mehr Ionen, sind wir nahe an oder jenseits der Löslichkeitsgrenze.“</a:t>
            </a:r>
          </a:p>
          <a:p>
            <a:pPr marL="180000" indent="-180000" eaLnBrk="0" hangingPunct="0">
              <a:buFont typeface="Arial" panose="020B0604020202020204" pitchFamily="34" charset="0"/>
              <a:buChar char="•"/>
            </a:pPr>
            <a:endParaRPr lang="de-DE" sz="1600" dirty="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  <a:p>
            <a:pPr marL="180000" indent="-180000" eaLnBrk="0" hangingPunct="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Clusteranalyse erkennt Hydrat-Feststoffbildung gut</a:t>
            </a: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34203" y="1296219"/>
            <a:ext cx="846989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 anchorCtr="0">
            <a:noAutofit/>
          </a:bodyPr>
          <a:lstStyle/>
          <a:p>
            <a:pPr eaLnBrk="0" hangingPunct="0"/>
            <a:endParaRPr lang="de-DE" sz="80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25521" y="771550"/>
            <a:ext cx="846989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 anchorCtr="0">
            <a:noAutofit/>
          </a:bodyPr>
          <a:lstStyle/>
          <a:p>
            <a:pPr eaLnBrk="0" hangingPunct="0"/>
            <a:r>
              <a:rPr lang="de-DE" sz="2400" b="1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Zusammenfassung </a:t>
            </a:r>
            <a:endParaRPr lang="de-DE" sz="1000" dirty="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BEDA0FE-D318-483D-813D-B918F3EE67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521" y="3579862"/>
            <a:ext cx="846989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 anchorCtr="0">
            <a:noAutofit/>
          </a:bodyPr>
          <a:lstStyle/>
          <a:p>
            <a:pPr eaLnBrk="0" hangingPunct="0"/>
            <a:r>
              <a:rPr lang="de-DE" sz="1600" b="1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Ausblick: </a:t>
            </a:r>
            <a:endParaRPr lang="de-DE" sz="1600" dirty="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36401EE2-F70B-44AD-8DDB-E4F5EE8B24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521" y="3939902"/>
            <a:ext cx="9144000" cy="620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 anchorCtr="0">
            <a:noAutofit/>
          </a:bodyPr>
          <a:lstStyle/>
          <a:p>
            <a:pPr marL="180000" indent="-180000" eaLnBrk="0" hangingPunct="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Anwendung der Clusteranalyse auf weitere Salzmodelle</a:t>
            </a:r>
          </a:p>
          <a:p>
            <a:pPr marL="180000" indent="-180000" eaLnBrk="0" hangingPunct="0">
              <a:buFont typeface="Arial" panose="020B0604020202020204" pitchFamily="34" charset="0"/>
              <a:buChar char="•"/>
            </a:pPr>
            <a:endParaRPr lang="de-DE" sz="1600" dirty="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  <a:p>
            <a:pPr marL="180000" indent="-180000" eaLnBrk="0" hangingPunct="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Einfluss der Ionenparameter auf Clusterbildung</a:t>
            </a:r>
          </a:p>
        </p:txBody>
      </p: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03528363-64EE-42A6-9589-E116AB48D736}"/>
              </a:ext>
            </a:extLst>
          </p:cNvPr>
          <p:cNvGrpSpPr/>
          <p:nvPr/>
        </p:nvGrpSpPr>
        <p:grpSpPr>
          <a:xfrm>
            <a:off x="696317" y="2570803"/>
            <a:ext cx="1912027" cy="1804007"/>
            <a:chOff x="228554" y="2142155"/>
            <a:chExt cx="1912027" cy="1804007"/>
          </a:xfrm>
        </p:grpSpPr>
        <p:sp>
          <p:nvSpPr>
            <p:cNvPr id="28" name="Ellipse 27">
              <a:extLst>
                <a:ext uri="{FF2B5EF4-FFF2-40B4-BE49-F238E27FC236}">
                  <a16:creationId xmlns:a16="http://schemas.microsoft.com/office/drawing/2014/main" id="{F80F4742-492E-4DBF-9F89-362F5854957D}"/>
                </a:ext>
              </a:extLst>
            </p:cNvPr>
            <p:cNvSpPr/>
            <p:nvPr/>
          </p:nvSpPr>
          <p:spPr>
            <a:xfrm>
              <a:off x="1043608" y="2953277"/>
              <a:ext cx="288032" cy="288032"/>
            </a:xfrm>
            <a:prstGeom prst="ellipse">
              <a:avLst/>
            </a:prstGeom>
            <a:solidFill>
              <a:srgbClr val="FF5500"/>
            </a:solidFill>
            <a:ln>
              <a:solidFill>
                <a:srgbClr val="FF55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29" name="Ellipse 28">
              <a:extLst>
                <a:ext uri="{FF2B5EF4-FFF2-40B4-BE49-F238E27FC236}">
                  <a16:creationId xmlns:a16="http://schemas.microsoft.com/office/drawing/2014/main" id="{6E808F23-151F-4385-BB5B-6B879C005871}"/>
                </a:ext>
              </a:extLst>
            </p:cNvPr>
            <p:cNvSpPr/>
            <p:nvPr/>
          </p:nvSpPr>
          <p:spPr>
            <a:xfrm>
              <a:off x="1543761" y="2482550"/>
              <a:ext cx="288032" cy="288032"/>
            </a:xfrm>
            <a:prstGeom prst="ellipse">
              <a:avLst/>
            </a:prstGeom>
            <a:solidFill>
              <a:srgbClr val="0128E9"/>
            </a:solidFill>
            <a:ln>
              <a:solidFill>
                <a:srgbClr val="0128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30" name="Ellipse 29">
              <a:extLst>
                <a:ext uri="{FF2B5EF4-FFF2-40B4-BE49-F238E27FC236}">
                  <a16:creationId xmlns:a16="http://schemas.microsoft.com/office/drawing/2014/main" id="{69110E33-F3EF-473F-B983-CBCAEB0AD594}"/>
                </a:ext>
              </a:extLst>
            </p:cNvPr>
            <p:cNvSpPr/>
            <p:nvPr/>
          </p:nvSpPr>
          <p:spPr>
            <a:xfrm>
              <a:off x="1714989" y="3105070"/>
              <a:ext cx="288032" cy="288032"/>
            </a:xfrm>
            <a:prstGeom prst="ellipse">
              <a:avLst/>
            </a:prstGeom>
            <a:solidFill>
              <a:srgbClr val="0128E9"/>
            </a:solidFill>
            <a:ln>
              <a:solidFill>
                <a:srgbClr val="0128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31" name="Ellipse 30">
              <a:extLst>
                <a:ext uri="{FF2B5EF4-FFF2-40B4-BE49-F238E27FC236}">
                  <a16:creationId xmlns:a16="http://schemas.microsoft.com/office/drawing/2014/main" id="{889CFCEC-B3E5-4B4B-A8BA-FDCF14F21986}"/>
                </a:ext>
              </a:extLst>
            </p:cNvPr>
            <p:cNvSpPr/>
            <p:nvPr/>
          </p:nvSpPr>
          <p:spPr>
            <a:xfrm>
              <a:off x="1211886" y="3633579"/>
              <a:ext cx="288032" cy="288032"/>
            </a:xfrm>
            <a:prstGeom prst="ellipse">
              <a:avLst/>
            </a:prstGeom>
            <a:solidFill>
              <a:srgbClr val="0128E9"/>
            </a:solidFill>
            <a:ln>
              <a:solidFill>
                <a:srgbClr val="0128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32" name="Ellipse 31">
              <a:extLst>
                <a:ext uri="{FF2B5EF4-FFF2-40B4-BE49-F238E27FC236}">
                  <a16:creationId xmlns:a16="http://schemas.microsoft.com/office/drawing/2014/main" id="{3ABD7668-6DCC-45B0-9652-DEEED8D06968}"/>
                </a:ext>
              </a:extLst>
            </p:cNvPr>
            <p:cNvSpPr/>
            <p:nvPr/>
          </p:nvSpPr>
          <p:spPr>
            <a:xfrm>
              <a:off x="638978" y="2370005"/>
              <a:ext cx="288032" cy="288032"/>
            </a:xfrm>
            <a:prstGeom prst="ellipse">
              <a:avLst/>
            </a:prstGeom>
            <a:solidFill>
              <a:srgbClr val="0128E9"/>
            </a:solidFill>
            <a:ln>
              <a:solidFill>
                <a:srgbClr val="0128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33" name="Ellipse 32">
              <a:extLst>
                <a:ext uri="{FF2B5EF4-FFF2-40B4-BE49-F238E27FC236}">
                  <a16:creationId xmlns:a16="http://schemas.microsoft.com/office/drawing/2014/main" id="{5DCF0804-F625-4BA7-96DE-912B22F3530A}"/>
                </a:ext>
              </a:extLst>
            </p:cNvPr>
            <p:cNvSpPr/>
            <p:nvPr/>
          </p:nvSpPr>
          <p:spPr>
            <a:xfrm>
              <a:off x="566764" y="2770582"/>
              <a:ext cx="288032" cy="288032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34" name="Ellipse 33">
              <a:extLst>
                <a:ext uri="{FF2B5EF4-FFF2-40B4-BE49-F238E27FC236}">
                  <a16:creationId xmlns:a16="http://schemas.microsoft.com/office/drawing/2014/main" id="{39860582-7795-4141-8E6E-7F717C6A3988}"/>
                </a:ext>
              </a:extLst>
            </p:cNvPr>
            <p:cNvSpPr/>
            <p:nvPr/>
          </p:nvSpPr>
          <p:spPr>
            <a:xfrm>
              <a:off x="1067870" y="2504342"/>
              <a:ext cx="288032" cy="288032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35" name="Ellipse 34">
              <a:extLst>
                <a:ext uri="{FF2B5EF4-FFF2-40B4-BE49-F238E27FC236}">
                  <a16:creationId xmlns:a16="http://schemas.microsoft.com/office/drawing/2014/main" id="{44F8CC4D-11C7-4445-B1F8-8EE34DDABCDF}"/>
                </a:ext>
              </a:extLst>
            </p:cNvPr>
            <p:cNvSpPr/>
            <p:nvPr/>
          </p:nvSpPr>
          <p:spPr>
            <a:xfrm>
              <a:off x="1430704" y="2840696"/>
              <a:ext cx="288032" cy="288032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36" name="Ellipse 35">
              <a:extLst>
                <a:ext uri="{FF2B5EF4-FFF2-40B4-BE49-F238E27FC236}">
                  <a16:creationId xmlns:a16="http://schemas.microsoft.com/office/drawing/2014/main" id="{2CF58670-5D44-4E75-80AF-66941954CC28}"/>
                </a:ext>
              </a:extLst>
            </p:cNvPr>
            <p:cNvSpPr/>
            <p:nvPr/>
          </p:nvSpPr>
          <p:spPr>
            <a:xfrm>
              <a:off x="1263318" y="3302739"/>
              <a:ext cx="288032" cy="288032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1619FE56-BC57-44B2-A2CF-1A0E87C17CA0}"/>
                </a:ext>
              </a:extLst>
            </p:cNvPr>
            <p:cNvSpPr/>
            <p:nvPr/>
          </p:nvSpPr>
          <p:spPr>
            <a:xfrm>
              <a:off x="713018" y="3192208"/>
              <a:ext cx="288032" cy="288032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38" name="Ellipse 37">
              <a:extLst>
                <a:ext uri="{FF2B5EF4-FFF2-40B4-BE49-F238E27FC236}">
                  <a16:creationId xmlns:a16="http://schemas.microsoft.com/office/drawing/2014/main" id="{8695FBC0-DFBA-4068-A03F-E82983697A98}"/>
                </a:ext>
              </a:extLst>
            </p:cNvPr>
            <p:cNvSpPr/>
            <p:nvPr/>
          </p:nvSpPr>
          <p:spPr>
            <a:xfrm>
              <a:off x="710780" y="3658130"/>
              <a:ext cx="288032" cy="288032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39" name="Ellipse 38">
              <a:extLst>
                <a:ext uri="{FF2B5EF4-FFF2-40B4-BE49-F238E27FC236}">
                  <a16:creationId xmlns:a16="http://schemas.microsoft.com/office/drawing/2014/main" id="{349F94A2-AE46-41F6-93AB-E794D8725DD0}"/>
                </a:ext>
              </a:extLst>
            </p:cNvPr>
            <p:cNvSpPr/>
            <p:nvPr/>
          </p:nvSpPr>
          <p:spPr>
            <a:xfrm>
              <a:off x="228554" y="3093596"/>
              <a:ext cx="288032" cy="288032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0" name="Ellipse 39">
              <a:extLst>
                <a:ext uri="{FF2B5EF4-FFF2-40B4-BE49-F238E27FC236}">
                  <a16:creationId xmlns:a16="http://schemas.microsoft.com/office/drawing/2014/main" id="{8169DAC3-406D-4793-92E6-DA3E9F079B11}"/>
                </a:ext>
              </a:extLst>
            </p:cNvPr>
            <p:cNvSpPr/>
            <p:nvPr/>
          </p:nvSpPr>
          <p:spPr>
            <a:xfrm>
              <a:off x="316211" y="3534495"/>
              <a:ext cx="288032" cy="288032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1" name="Ellipse 40">
              <a:extLst>
                <a:ext uri="{FF2B5EF4-FFF2-40B4-BE49-F238E27FC236}">
                  <a16:creationId xmlns:a16="http://schemas.microsoft.com/office/drawing/2014/main" id="{0B1C91D4-A33E-4B40-BA4A-CFB3F5F10EA9}"/>
                </a:ext>
              </a:extLst>
            </p:cNvPr>
            <p:cNvSpPr/>
            <p:nvPr/>
          </p:nvSpPr>
          <p:spPr>
            <a:xfrm>
              <a:off x="239512" y="2551729"/>
              <a:ext cx="288032" cy="288032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2" name="Ellipse 41">
              <a:extLst>
                <a:ext uri="{FF2B5EF4-FFF2-40B4-BE49-F238E27FC236}">
                  <a16:creationId xmlns:a16="http://schemas.microsoft.com/office/drawing/2014/main" id="{7B5CE12F-4CEA-4451-949B-6E3CCA2F5CD2}"/>
                </a:ext>
              </a:extLst>
            </p:cNvPr>
            <p:cNvSpPr/>
            <p:nvPr/>
          </p:nvSpPr>
          <p:spPr>
            <a:xfrm>
              <a:off x="1117749" y="2142155"/>
              <a:ext cx="288032" cy="288032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3" name="Ellipse 42">
              <a:extLst>
                <a:ext uri="{FF2B5EF4-FFF2-40B4-BE49-F238E27FC236}">
                  <a16:creationId xmlns:a16="http://schemas.microsoft.com/office/drawing/2014/main" id="{390CD611-2E5C-4C78-B769-54ED0FBD9822}"/>
                </a:ext>
              </a:extLst>
            </p:cNvPr>
            <p:cNvSpPr/>
            <p:nvPr/>
          </p:nvSpPr>
          <p:spPr>
            <a:xfrm>
              <a:off x="1852549" y="2712966"/>
              <a:ext cx="288032" cy="288032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4" name="Ellipse 43">
              <a:extLst>
                <a:ext uri="{FF2B5EF4-FFF2-40B4-BE49-F238E27FC236}">
                  <a16:creationId xmlns:a16="http://schemas.microsoft.com/office/drawing/2014/main" id="{0B6CE1F3-525B-43E7-9DA0-B552571F99B9}"/>
                </a:ext>
              </a:extLst>
            </p:cNvPr>
            <p:cNvSpPr/>
            <p:nvPr/>
          </p:nvSpPr>
          <p:spPr>
            <a:xfrm>
              <a:off x="1846654" y="3480240"/>
              <a:ext cx="288032" cy="288032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7" name="Ellipse 46">
              <a:extLst>
                <a:ext uri="{FF2B5EF4-FFF2-40B4-BE49-F238E27FC236}">
                  <a16:creationId xmlns:a16="http://schemas.microsoft.com/office/drawing/2014/main" id="{497A9FD2-005C-4256-8DD3-7E8AE7B8D172}"/>
                </a:ext>
              </a:extLst>
            </p:cNvPr>
            <p:cNvSpPr/>
            <p:nvPr/>
          </p:nvSpPr>
          <p:spPr>
            <a:xfrm>
              <a:off x="590073" y="2499742"/>
              <a:ext cx="1195102" cy="1195102"/>
            </a:xfrm>
            <a:prstGeom prst="ellipse">
              <a:avLst/>
            </a:prstGeom>
            <a:noFill/>
            <a:ln>
              <a:solidFill>
                <a:srgbClr val="003C5A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8" name="Ellipse 47">
              <a:extLst>
                <a:ext uri="{FF2B5EF4-FFF2-40B4-BE49-F238E27FC236}">
                  <a16:creationId xmlns:a16="http://schemas.microsoft.com/office/drawing/2014/main" id="{5CF21533-DC05-456F-BC16-6A0AEA095842}"/>
                </a:ext>
              </a:extLst>
            </p:cNvPr>
            <p:cNvSpPr/>
            <p:nvPr/>
          </p:nvSpPr>
          <p:spPr>
            <a:xfrm>
              <a:off x="383528" y="2294296"/>
              <a:ext cx="1596184" cy="1596184"/>
            </a:xfrm>
            <a:prstGeom prst="ellipse">
              <a:avLst/>
            </a:prstGeom>
            <a:noFill/>
            <a:ln>
              <a:solidFill>
                <a:srgbClr val="003C5A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51" name="Gruppieren 6">
            <a:extLst>
              <a:ext uri="{FF2B5EF4-FFF2-40B4-BE49-F238E27FC236}">
                <a16:creationId xmlns:a16="http://schemas.microsoft.com/office/drawing/2014/main" id="{853B69EC-761A-4A20-8CC1-AA04FAB65890}"/>
              </a:ext>
            </a:extLst>
          </p:cNvPr>
          <p:cNvGrpSpPr/>
          <p:nvPr/>
        </p:nvGrpSpPr>
        <p:grpSpPr>
          <a:xfrm>
            <a:off x="5118217" y="2363718"/>
            <a:ext cx="2340000" cy="2340000"/>
            <a:chOff x="3397785" y="1780792"/>
            <a:chExt cx="2340000" cy="2340000"/>
          </a:xfrm>
        </p:grpSpPr>
        <p:sp>
          <p:nvSpPr>
            <p:cNvPr id="52" name="Rechteck 51">
              <a:extLst>
                <a:ext uri="{FF2B5EF4-FFF2-40B4-BE49-F238E27FC236}">
                  <a16:creationId xmlns:a16="http://schemas.microsoft.com/office/drawing/2014/main" id="{2E79643A-FCC8-4EEF-A2A1-CBBD7C10416F}"/>
                </a:ext>
              </a:extLst>
            </p:cNvPr>
            <p:cNvSpPr/>
            <p:nvPr/>
          </p:nvSpPr>
          <p:spPr>
            <a:xfrm>
              <a:off x="3397785" y="1780792"/>
              <a:ext cx="2340000" cy="2340000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53" name="Ellipse 52">
              <a:extLst>
                <a:ext uri="{FF2B5EF4-FFF2-40B4-BE49-F238E27FC236}">
                  <a16:creationId xmlns:a16="http://schemas.microsoft.com/office/drawing/2014/main" id="{0B8C17AC-FC1B-4AA0-8782-BF44D821E000}"/>
                </a:ext>
              </a:extLst>
            </p:cNvPr>
            <p:cNvSpPr/>
            <p:nvPr/>
          </p:nvSpPr>
          <p:spPr>
            <a:xfrm flipH="1">
              <a:off x="3798292" y="3497016"/>
              <a:ext cx="144000" cy="144000"/>
            </a:xfrm>
            <a:prstGeom prst="ellipse">
              <a:avLst/>
            </a:prstGeom>
            <a:solidFill>
              <a:srgbClr val="433B83"/>
            </a:solidFill>
            <a:ln>
              <a:solidFill>
                <a:srgbClr val="433B83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54" name="Ellipse 53">
              <a:extLst>
                <a:ext uri="{FF2B5EF4-FFF2-40B4-BE49-F238E27FC236}">
                  <a16:creationId xmlns:a16="http://schemas.microsoft.com/office/drawing/2014/main" id="{FC8EBBC1-23B7-4A18-9A30-FF8B218FCAB8}"/>
                </a:ext>
              </a:extLst>
            </p:cNvPr>
            <p:cNvSpPr/>
            <p:nvPr/>
          </p:nvSpPr>
          <p:spPr>
            <a:xfrm flipH="1">
              <a:off x="3558429" y="3649971"/>
              <a:ext cx="144000" cy="144000"/>
            </a:xfrm>
            <a:prstGeom prst="ellipse">
              <a:avLst/>
            </a:prstGeom>
            <a:solidFill>
              <a:srgbClr val="433B83"/>
            </a:solidFill>
            <a:ln>
              <a:solidFill>
                <a:srgbClr val="433B83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55" name="Ellipse 54">
              <a:extLst>
                <a:ext uri="{FF2B5EF4-FFF2-40B4-BE49-F238E27FC236}">
                  <a16:creationId xmlns:a16="http://schemas.microsoft.com/office/drawing/2014/main" id="{AE1CD7BC-8751-4435-AC6B-D1531F20B312}"/>
                </a:ext>
              </a:extLst>
            </p:cNvPr>
            <p:cNvSpPr/>
            <p:nvPr/>
          </p:nvSpPr>
          <p:spPr>
            <a:xfrm flipH="1">
              <a:off x="3894360" y="3768746"/>
              <a:ext cx="144000" cy="144000"/>
            </a:xfrm>
            <a:prstGeom prst="ellipse">
              <a:avLst/>
            </a:prstGeom>
            <a:solidFill>
              <a:srgbClr val="433B83"/>
            </a:solidFill>
            <a:ln>
              <a:solidFill>
                <a:srgbClr val="433B83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56" name="Ellipse 55">
              <a:extLst>
                <a:ext uri="{FF2B5EF4-FFF2-40B4-BE49-F238E27FC236}">
                  <a16:creationId xmlns:a16="http://schemas.microsoft.com/office/drawing/2014/main" id="{88956B39-A03B-442F-8B52-BA0EBC96314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851406" y="3003814"/>
              <a:ext cx="144000" cy="144000"/>
            </a:xfrm>
            <a:prstGeom prst="ellipse">
              <a:avLst/>
            </a:prstGeom>
            <a:solidFill>
              <a:srgbClr val="433B83"/>
            </a:solidFill>
            <a:ln>
              <a:solidFill>
                <a:srgbClr val="433B83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57" name="Ellipse 56">
              <a:extLst>
                <a:ext uri="{FF2B5EF4-FFF2-40B4-BE49-F238E27FC236}">
                  <a16:creationId xmlns:a16="http://schemas.microsoft.com/office/drawing/2014/main" id="{762F0043-D0B0-4854-BA47-F9CBA803CD4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123033" y="3400576"/>
              <a:ext cx="144000" cy="144000"/>
            </a:xfrm>
            <a:prstGeom prst="ellipse">
              <a:avLst/>
            </a:prstGeom>
            <a:solidFill>
              <a:srgbClr val="FDE724"/>
            </a:solidFill>
            <a:ln>
              <a:solidFill>
                <a:srgbClr val="FDE724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58" name="Ellipse 57">
              <a:extLst>
                <a:ext uri="{FF2B5EF4-FFF2-40B4-BE49-F238E27FC236}">
                  <a16:creationId xmlns:a16="http://schemas.microsoft.com/office/drawing/2014/main" id="{C3627317-C0A7-4FD3-8364-C2253C78FB0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205112" y="3127776"/>
              <a:ext cx="144000" cy="144000"/>
            </a:xfrm>
            <a:prstGeom prst="ellipse">
              <a:avLst/>
            </a:prstGeom>
            <a:solidFill>
              <a:srgbClr val="433B83"/>
            </a:solidFill>
            <a:ln>
              <a:solidFill>
                <a:srgbClr val="433B83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59" name="Ellipse 58">
              <a:extLst>
                <a:ext uri="{FF2B5EF4-FFF2-40B4-BE49-F238E27FC236}">
                  <a16:creationId xmlns:a16="http://schemas.microsoft.com/office/drawing/2014/main" id="{C016A733-EA98-4BFF-947B-0EA5EDFE226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876640" y="2643774"/>
              <a:ext cx="144000" cy="144000"/>
            </a:xfrm>
            <a:prstGeom prst="ellipse">
              <a:avLst/>
            </a:prstGeom>
            <a:solidFill>
              <a:srgbClr val="277C8E"/>
            </a:solidFill>
            <a:ln>
              <a:solidFill>
                <a:srgbClr val="277C8E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60" name="Ellipse 59">
              <a:extLst>
                <a:ext uri="{FF2B5EF4-FFF2-40B4-BE49-F238E27FC236}">
                  <a16:creationId xmlns:a16="http://schemas.microsoft.com/office/drawing/2014/main" id="{A5EC2E12-AA13-4E9A-8E96-BCE268ABC94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179389" y="2464091"/>
              <a:ext cx="144000" cy="144000"/>
            </a:xfrm>
            <a:prstGeom prst="ellipse">
              <a:avLst/>
            </a:prstGeom>
            <a:solidFill>
              <a:srgbClr val="277C8E"/>
            </a:solidFill>
            <a:ln>
              <a:solidFill>
                <a:srgbClr val="277C8E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61" name="Ellipse 60">
              <a:extLst>
                <a:ext uri="{FF2B5EF4-FFF2-40B4-BE49-F238E27FC236}">
                  <a16:creationId xmlns:a16="http://schemas.microsoft.com/office/drawing/2014/main" id="{6C985F2C-6037-40D8-ABE3-20DBF5D156CE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643494" y="2274230"/>
              <a:ext cx="144000" cy="144000"/>
            </a:xfrm>
            <a:prstGeom prst="ellipse">
              <a:avLst/>
            </a:prstGeom>
            <a:solidFill>
              <a:srgbClr val="277C8E"/>
            </a:solidFill>
            <a:ln>
              <a:solidFill>
                <a:srgbClr val="277C8E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62" name="Ellipse 61">
              <a:extLst>
                <a:ext uri="{FF2B5EF4-FFF2-40B4-BE49-F238E27FC236}">
                  <a16:creationId xmlns:a16="http://schemas.microsoft.com/office/drawing/2014/main" id="{2DDB5535-242B-442E-B041-75FD19ACCF08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948640" y="2086296"/>
              <a:ext cx="144000" cy="144000"/>
            </a:xfrm>
            <a:prstGeom prst="ellipse">
              <a:avLst/>
            </a:prstGeom>
            <a:solidFill>
              <a:srgbClr val="277C8E"/>
            </a:solidFill>
            <a:ln>
              <a:solidFill>
                <a:srgbClr val="277C8E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63" name="Ellipse 62">
              <a:extLst>
                <a:ext uri="{FF2B5EF4-FFF2-40B4-BE49-F238E27FC236}">
                  <a16:creationId xmlns:a16="http://schemas.microsoft.com/office/drawing/2014/main" id="{7F8825D0-050B-419D-8B0D-F37080427619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911981" y="2361161"/>
              <a:ext cx="144000" cy="144000"/>
            </a:xfrm>
            <a:prstGeom prst="ellipse">
              <a:avLst/>
            </a:prstGeom>
            <a:solidFill>
              <a:srgbClr val="277C8E"/>
            </a:solidFill>
            <a:ln>
              <a:solidFill>
                <a:srgbClr val="277C8E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64" name="Ellipse 63">
              <a:extLst>
                <a:ext uri="{FF2B5EF4-FFF2-40B4-BE49-F238E27FC236}">
                  <a16:creationId xmlns:a16="http://schemas.microsoft.com/office/drawing/2014/main" id="{E98A07F2-B4F9-409E-8A53-C8268869CEA7}"/>
                </a:ext>
              </a:extLst>
            </p:cNvPr>
            <p:cNvSpPr/>
            <p:nvPr/>
          </p:nvSpPr>
          <p:spPr>
            <a:xfrm flipH="1">
              <a:off x="3944155" y="3258691"/>
              <a:ext cx="144000" cy="144000"/>
            </a:xfrm>
            <a:prstGeom prst="ellipse">
              <a:avLst/>
            </a:prstGeom>
            <a:solidFill>
              <a:srgbClr val="433B83"/>
            </a:solidFill>
            <a:ln>
              <a:solidFill>
                <a:srgbClr val="433B83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05121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125521" y="1707654"/>
            <a:ext cx="91440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 anchorCtr="0">
            <a:noAutofit/>
          </a:bodyPr>
          <a:lstStyle/>
          <a:p>
            <a:pPr eaLnBrk="0" hangingPunct="0"/>
            <a:endParaRPr lang="de-DE" sz="160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25521" y="1203598"/>
            <a:ext cx="846989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 anchorCtr="0">
            <a:noAutofit/>
          </a:bodyPr>
          <a:lstStyle/>
          <a:p>
            <a:pPr eaLnBrk="0" hangingPunct="0"/>
            <a:endParaRPr lang="de-DE" sz="80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806455" y="2340918"/>
            <a:ext cx="55310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 anchorCtr="0">
            <a:noAutofit/>
          </a:bodyPr>
          <a:lstStyle/>
          <a:p>
            <a:pPr eaLnBrk="0" hangingPunct="0"/>
            <a:r>
              <a:rPr lang="de-DE" sz="2400" b="1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Vielen Dank für Ihre Aufmerksamkeit </a:t>
            </a:r>
            <a:endParaRPr lang="de-DE" sz="100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84993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6"/>
              <p:cNvSpPr>
                <a:spLocks noChangeArrowheads="1"/>
              </p:cNvSpPr>
              <p:nvPr/>
            </p:nvSpPr>
            <p:spPr bwMode="auto">
              <a:xfrm>
                <a:off x="125521" y="3881466"/>
                <a:ext cx="9144000" cy="11110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t" anchorCtr="0">
                <a:noAutofit/>
              </a:bodyPr>
              <a:lstStyle/>
              <a:p>
                <a:pPr marL="285750" indent="-285750" eaLnBrk="0" hangingPunct="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de-DE" sz="1600" i="1" dirty="0" smtClean="0">
                        <a:solidFill>
                          <a:srgbClr val="003C5A"/>
                        </a:solidFill>
                        <a:latin typeface="Cambria Math" panose="02040503050406030204" pitchFamily="18" charset="0"/>
                        <a:ea typeface="Segoe UI Symbol" pitchFamily="34" charset="0"/>
                        <a:cs typeface="Arial" pitchFamily="34" charset="0"/>
                      </a:rPr>
                      <m:t>𝑁</m:t>
                    </m:r>
                    <m:r>
                      <a:rPr lang="de-DE" sz="1600" i="1" dirty="0" smtClean="0">
                        <a:solidFill>
                          <a:srgbClr val="003C5A"/>
                        </a:solidFill>
                        <a:latin typeface="Cambria Math" panose="02040503050406030204" pitchFamily="18" charset="0"/>
                        <a:ea typeface="Segoe UI Symbol" pitchFamily="34" charset="0"/>
                        <a:cs typeface="Arial" pitchFamily="34" charset="0"/>
                      </a:rPr>
                      <m:t>=4000</m:t>
                    </m:r>
                  </m:oMath>
                </a14:m>
                <a:r>
                  <a:rPr lang="de-DE" sz="1600" dirty="0">
                    <a:solidFill>
                      <a:srgbClr val="003C5A"/>
                    </a:solidFill>
                    <a:latin typeface="Arial" pitchFamily="34" charset="0"/>
                    <a:ea typeface="Segoe UI Symbol" pitchFamily="34" charset="0"/>
                    <a:cs typeface="Arial" pitchFamily="34" charset="0"/>
                  </a:rPr>
                  <a:t>			         </a:t>
                </a:r>
                <a14:m>
                  <m:oMath xmlns:m="http://schemas.openxmlformats.org/officeDocument/2006/math">
                    <m:r>
                      <a:rPr lang="de-DE" sz="1600" i="1" dirty="0" smtClean="0">
                        <a:solidFill>
                          <a:srgbClr val="003C5A"/>
                        </a:solidFill>
                        <a:latin typeface="Cambria Math" panose="02040503050406030204" pitchFamily="18" charset="0"/>
                        <a:ea typeface="Segoe UI Symbol" pitchFamily="34" charset="0"/>
                        <a:cs typeface="Arial" pitchFamily="34" charset="0"/>
                      </a:rPr>
                      <m:t>𝑁</m:t>
                    </m:r>
                    <m:r>
                      <a:rPr lang="de-DE" sz="1600" i="1" dirty="0" smtClean="0">
                        <a:solidFill>
                          <a:srgbClr val="003C5A"/>
                        </a:solidFill>
                        <a:latin typeface="Cambria Math" panose="02040503050406030204" pitchFamily="18" charset="0"/>
                        <a:ea typeface="Segoe UI Symbol" pitchFamily="34" charset="0"/>
                        <a:cs typeface="Arial" pitchFamily="34" charset="0"/>
                      </a:rPr>
                      <m:t>=4000</m:t>
                    </m:r>
                  </m:oMath>
                </a14:m>
                <a:endParaRPr lang="de-DE" sz="1600" dirty="0">
                  <a:solidFill>
                    <a:srgbClr val="003C5A"/>
                  </a:solidFill>
                  <a:latin typeface="Arial" pitchFamily="34" charset="0"/>
                  <a:ea typeface="Segoe UI Symbol" pitchFamily="34" charset="0"/>
                  <a:cs typeface="Arial" pitchFamily="34" charset="0"/>
                </a:endParaRPr>
              </a:p>
              <a:p>
                <a:pPr marL="285750" indent="-285750" eaLnBrk="0" hangingPunct="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de-DE" sz="1600" i="1" dirty="0" smtClean="0">
                        <a:solidFill>
                          <a:srgbClr val="003C5A"/>
                        </a:solidFill>
                        <a:latin typeface="Cambria Math" panose="02040503050406030204" pitchFamily="18" charset="0"/>
                        <a:ea typeface="Segoe UI Symbol" pitchFamily="34" charset="0"/>
                        <a:cs typeface="Arial" pitchFamily="34" charset="0"/>
                      </a:rPr>
                      <m:t>𝑝</m:t>
                    </m:r>
                    <m:r>
                      <a:rPr lang="de-DE" sz="1600" i="1" dirty="0" smtClean="0">
                        <a:solidFill>
                          <a:srgbClr val="003C5A"/>
                        </a:solidFill>
                        <a:latin typeface="Cambria Math" panose="02040503050406030204" pitchFamily="18" charset="0"/>
                        <a:ea typeface="Segoe UI Symbol" pitchFamily="34" charset="0"/>
                        <a:cs typeface="Arial" pitchFamily="34" charset="0"/>
                      </a:rPr>
                      <m:t>=1 </m:t>
                    </m:r>
                    <m:r>
                      <m:rPr>
                        <m:sty m:val="p"/>
                      </m:rPr>
                      <a:rPr lang="de-DE" sz="1600" i="0" dirty="0" smtClean="0">
                        <a:solidFill>
                          <a:srgbClr val="003C5A"/>
                        </a:solidFill>
                        <a:latin typeface="Cambria Math" panose="02040503050406030204" pitchFamily="18" charset="0"/>
                        <a:ea typeface="Segoe UI Symbol" pitchFamily="34" charset="0"/>
                        <a:cs typeface="Arial" pitchFamily="34" charset="0"/>
                      </a:rPr>
                      <m:t>bar</m:t>
                    </m:r>
                  </m:oMath>
                </a14:m>
                <a:r>
                  <a:rPr lang="de-DE" sz="1600" dirty="0">
                    <a:solidFill>
                      <a:srgbClr val="003C5A"/>
                    </a:solidFill>
                    <a:latin typeface="Arial" pitchFamily="34" charset="0"/>
                    <a:ea typeface="Segoe UI Symbol" pitchFamily="34" charset="0"/>
                    <a:cs typeface="Arial" pitchFamily="34" charset="0"/>
                  </a:rPr>
                  <a:t>			         </a:t>
                </a:r>
                <a14:m>
                  <m:oMath xmlns:m="http://schemas.openxmlformats.org/officeDocument/2006/math">
                    <m:r>
                      <a:rPr lang="de-DE" sz="1600" i="1" dirty="0" smtClean="0">
                        <a:solidFill>
                          <a:srgbClr val="003C5A"/>
                        </a:solidFill>
                        <a:latin typeface="Cambria Math" panose="02040503050406030204" pitchFamily="18" charset="0"/>
                        <a:ea typeface="Segoe UI Symbol" pitchFamily="34" charset="0"/>
                        <a:cs typeface="Arial" pitchFamily="34" charset="0"/>
                      </a:rPr>
                      <m:t>𝑉</m:t>
                    </m:r>
                    <m:r>
                      <a:rPr lang="de-DE" sz="1600" b="0" i="1" dirty="0" smtClean="0">
                        <a:solidFill>
                          <a:srgbClr val="003C5A"/>
                        </a:solidFill>
                        <a:latin typeface="Cambria Math" panose="02040503050406030204" pitchFamily="18" charset="0"/>
                        <a:ea typeface="Segoe UI Symbol" pitchFamily="34" charset="0"/>
                        <a:cs typeface="Arial" pitchFamily="34" charset="0"/>
                      </a:rPr>
                      <m:t>=</m:t>
                    </m:r>
                    <m:r>
                      <a:rPr lang="de-DE" sz="1600" i="1" dirty="0" smtClean="0">
                        <a:solidFill>
                          <a:srgbClr val="003C5A"/>
                        </a:solidFill>
                        <a:latin typeface="Cambria Math" panose="02040503050406030204" pitchFamily="18" charset="0"/>
                        <a:ea typeface="Segoe UI Symbol" pitchFamily="34" charset="0"/>
                        <a:cs typeface="Arial" pitchFamily="34" charset="0"/>
                      </a:rPr>
                      <m:t>𝑉</m:t>
                    </m:r>
                    <m:r>
                      <a:rPr lang="de-DE" sz="1600" i="1" dirty="0" smtClean="0">
                        <a:solidFill>
                          <a:srgbClr val="003C5A"/>
                        </a:solidFill>
                        <a:latin typeface="Cambria Math" panose="02040503050406030204" pitchFamily="18" charset="0"/>
                        <a:ea typeface="Segoe UI Symbol" pitchFamily="34" charset="0"/>
                        <a:cs typeface="Arial" pitchFamily="34" charset="0"/>
                      </a:rPr>
                      <m:t>(</m:t>
                    </m:r>
                    <m:r>
                      <a:rPr lang="el-GR" sz="1600" i="1" dirty="0" smtClean="0">
                        <a:solidFill>
                          <a:srgbClr val="003C5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𝜌</m:t>
                    </m:r>
                    <m:r>
                      <a:rPr lang="de-DE" sz="1600" i="1" baseline="-25000" dirty="0" smtClean="0">
                        <a:solidFill>
                          <a:srgbClr val="003C5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𝑖</m:t>
                    </m:r>
                    <m:r>
                      <a:rPr lang="de-DE" sz="1600" i="1" dirty="0" smtClean="0">
                        <a:solidFill>
                          <a:srgbClr val="003C5A"/>
                        </a:solidFill>
                        <a:latin typeface="Cambria Math" panose="02040503050406030204" pitchFamily="18" charset="0"/>
                        <a:ea typeface="Segoe UI Symbol" pitchFamily="34" charset="0"/>
                        <a:cs typeface="Arial" pitchFamily="34" charset="0"/>
                      </a:rPr>
                      <m:t>)</m:t>
                    </m:r>
                  </m:oMath>
                </a14:m>
                <a:endParaRPr lang="de-DE" sz="1600" dirty="0">
                  <a:solidFill>
                    <a:srgbClr val="003C5A"/>
                  </a:solidFill>
                  <a:latin typeface="Arial" pitchFamily="34" charset="0"/>
                  <a:ea typeface="Segoe UI Symbol" pitchFamily="34" charset="0"/>
                  <a:cs typeface="Arial" pitchFamily="34" charset="0"/>
                </a:endParaRPr>
              </a:p>
              <a:p>
                <a:pPr marL="285750" indent="-285750" eaLnBrk="0" hangingPunct="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de-DE" sz="1600" i="1" dirty="0" smtClean="0">
                        <a:solidFill>
                          <a:srgbClr val="003C5A"/>
                        </a:solidFill>
                        <a:latin typeface="Cambria Math" panose="02040503050406030204" pitchFamily="18" charset="0"/>
                        <a:ea typeface="Segoe UI Symbol" pitchFamily="34" charset="0"/>
                        <a:cs typeface="Arial" pitchFamily="34" charset="0"/>
                      </a:rPr>
                      <m:t>𝑇</m:t>
                    </m:r>
                    <m:r>
                      <a:rPr lang="de-DE" sz="1600" i="1" dirty="0" smtClean="0">
                        <a:solidFill>
                          <a:srgbClr val="003C5A"/>
                        </a:solidFill>
                        <a:latin typeface="Cambria Math" panose="02040503050406030204" pitchFamily="18" charset="0"/>
                        <a:ea typeface="Segoe UI Symbol" pitchFamily="34" charset="0"/>
                        <a:cs typeface="Arial" pitchFamily="34" charset="0"/>
                      </a:rPr>
                      <m:t>=298.15 </m:t>
                    </m:r>
                    <m:r>
                      <m:rPr>
                        <m:sty m:val="p"/>
                      </m:rPr>
                      <a:rPr lang="de-DE" sz="1600" i="0" dirty="0" smtClean="0">
                        <a:solidFill>
                          <a:srgbClr val="003C5A"/>
                        </a:solidFill>
                        <a:latin typeface="Cambria Math" panose="02040503050406030204" pitchFamily="18" charset="0"/>
                        <a:ea typeface="Segoe UI Symbol" pitchFamily="34" charset="0"/>
                        <a:cs typeface="Arial" pitchFamily="34" charset="0"/>
                      </a:rPr>
                      <m:t>K</m:t>
                    </m:r>
                  </m:oMath>
                </a14:m>
                <a:r>
                  <a:rPr lang="de-DE" sz="1600" dirty="0">
                    <a:solidFill>
                      <a:srgbClr val="003C5A"/>
                    </a:solidFill>
                    <a:latin typeface="Arial" pitchFamily="34" charset="0"/>
                    <a:ea typeface="Segoe UI Symbol" pitchFamily="34" charset="0"/>
                    <a:cs typeface="Arial" pitchFamily="34" charset="0"/>
                  </a:rPr>
                  <a:t>			         </a:t>
                </a:r>
                <a14:m>
                  <m:oMath xmlns:m="http://schemas.openxmlformats.org/officeDocument/2006/math">
                    <m:r>
                      <a:rPr lang="de-DE" sz="1600" i="1" dirty="0" smtClean="0">
                        <a:solidFill>
                          <a:srgbClr val="003C5A"/>
                        </a:solidFill>
                        <a:latin typeface="Cambria Math" panose="02040503050406030204" pitchFamily="18" charset="0"/>
                        <a:ea typeface="Segoe UI Symbol" pitchFamily="34" charset="0"/>
                        <a:cs typeface="Arial" pitchFamily="34" charset="0"/>
                      </a:rPr>
                      <m:t>𝑇</m:t>
                    </m:r>
                    <m:r>
                      <a:rPr lang="de-DE" sz="1600" i="1" dirty="0" smtClean="0">
                        <a:solidFill>
                          <a:srgbClr val="003C5A"/>
                        </a:solidFill>
                        <a:latin typeface="Cambria Math" panose="02040503050406030204" pitchFamily="18" charset="0"/>
                        <a:ea typeface="Segoe UI Symbol" pitchFamily="34" charset="0"/>
                        <a:cs typeface="Arial" pitchFamily="34" charset="0"/>
                      </a:rPr>
                      <m:t>=298.15 </m:t>
                    </m:r>
                    <m:r>
                      <m:rPr>
                        <m:sty m:val="p"/>
                      </m:rPr>
                      <a:rPr lang="de-DE" sz="1600" i="0" dirty="0" smtClean="0">
                        <a:solidFill>
                          <a:srgbClr val="003C5A"/>
                        </a:solidFill>
                        <a:latin typeface="Cambria Math" panose="02040503050406030204" pitchFamily="18" charset="0"/>
                        <a:ea typeface="Segoe UI Symbol" pitchFamily="34" charset="0"/>
                        <a:cs typeface="Arial" pitchFamily="34" charset="0"/>
                      </a:rPr>
                      <m:t>K</m:t>
                    </m:r>
                  </m:oMath>
                </a14:m>
                <a:endParaRPr lang="de-DE" sz="1600" dirty="0">
                  <a:solidFill>
                    <a:srgbClr val="003C5A"/>
                  </a:solidFill>
                  <a:latin typeface="Arial" pitchFamily="34" charset="0"/>
                  <a:ea typeface="Segoe UI Symbol" pitchFamily="34" charset="0"/>
                  <a:cs typeface="Arial" pitchFamily="34" charset="0"/>
                </a:endParaRPr>
              </a:p>
              <a:p>
                <a:pPr marL="285750" indent="-285750" eaLnBrk="0" hangingPunct="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de-DE" sz="1600" i="1" dirty="0" smtClean="0">
                        <a:solidFill>
                          <a:srgbClr val="003C5A"/>
                        </a:solidFill>
                        <a:latin typeface="Cambria Math" panose="02040503050406030204" pitchFamily="18" charset="0"/>
                        <a:ea typeface="Segoe UI Symbol" pitchFamily="34" charset="0"/>
                        <a:cs typeface="Arial" pitchFamily="34" charset="0"/>
                      </a:rPr>
                      <m:t>𝑥</m:t>
                    </m:r>
                    <m:r>
                      <m:rPr>
                        <m:sty m:val="p"/>
                      </m:rPr>
                      <a:rPr lang="de-DE" sz="1600" i="0" baseline="-25000" dirty="0" smtClean="0">
                        <a:solidFill>
                          <a:srgbClr val="003C5A"/>
                        </a:solidFill>
                        <a:latin typeface="Cambria Math" panose="02040503050406030204" pitchFamily="18" charset="0"/>
                        <a:ea typeface="Segoe UI Symbol" pitchFamily="34" charset="0"/>
                        <a:cs typeface="Arial" pitchFamily="34" charset="0"/>
                      </a:rPr>
                      <m:t>i</m:t>
                    </m:r>
                  </m:oMath>
                </a14:m>
                <a:r>
                  <a:rPr lang="de-DE" sz="1600" dirty="0">
                    <a:solidFill>
                      <a:srgbClr val="003C5A"/>
                    </a:solidFill>
                    <a:latin typeface="Arial" pitchFamily="34" charset="0"/>
                    <a:ea typeface="Segoe UI Symbol" pitchFamily="34" charset="0"/>
                    <a:cs typeface="Arial" pitchFamily="34" charset="0"/>
                  </a:rPr>
                  <a:t>				         </a:t>
                </a:r>
                <a14:m>
                  <m:oMath xmlns:m="http://schemas.openxmlformats.org/officeDocument/2006/math">
                    <m:r>
                      <a:rPr lang="de-DE" sz="1600" i="1" dirty="0" smtClean="0">
                        <a:solidFill>
                          <a:srgbClr val="003C5A"/>
                        </a:solidFill>
                        <a:latin typeface="Cambria Math" panose="02040503050406030204" pitchFamily="18" charset="0"/>
                        <a:ea typeface="Segoe UI Symbol" pitchFamily="34" charset="0"/>
                        <a:cs typeface="Arial" pitchFamily="34" charset="0"/>
                      </a:rPr>
                      <m:t>𝑥</m:t>
                    </m:r>
                    <m:r>
                      <m:rPr>
                        <m:sty m:val="p"/>
                      </m:rPr>
                      <a:rPr lang="de-DE" sz="1600" i="0" baseline="-25000" dirty="0" smtClean="0">
                        <a:solidFill>
                          <a:srgbClr val="003C5A"/>
                        </a:solidFill>
                        <a:latin typeface="Cambria Math" panose="02040503050406030204" pitchFamily="18" charset="0"/>
                        <a:ea typeface="Segoe UI Symbol" pitchFamily="34" charset="0"/>
                        <a:cs typeface="Arial" pitchFamily="34" charset="0"/>
                      </a:rPr>
                      <m:t>i</m:t>
                    </m:r>
                  </m:oMath>
                </a14:m>
                <a:r>
                  <a:rPr lang="de-DE" sz="1600" dirty="0">
                    <a:solidFill>
                      <a:srgbClr val="003C5A"/>
                    </a:solidFill>
                    <a:latin typeface="Arial" pitchFamily="34" charset="0"/>
                    <a:ea typeface="Segoe UI Symbol" pitchFamily="34" charset="0"/>
                    <a:cs typeface="Arial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1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5521" y="3881466"/>
                <a:ext cx="9144000" cy="1111079"/>
              </a:xfrm>
              <a:prstGeom prst="rect">
                <a:avLst/>
              </a:prstGeom>
              <a:blipFill>
                <a:blip r:embed="rId3"/>
                <a:stretch>
                  <a:fillRect l="-267" t="-549" b="-164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25521" y="771550"/>
            <a:ext cx="846989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 anchorCtr="0">
            <a:noAutofit/>
          </a:bodyPr>
          <a:lstStyle/>
          <a:p>
            <a:pPr eaLnBrk="0" hangingPunct="0"/>
            <a:r>
              <a:rPr lang="de-DE" sz="2400" b="1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Simulationsprogramm </a:t>
            </a:r>
            <a:endParaRPr lang="de-DE" sz="1000" dirty="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FCC42FAF-8EE6-40FE-8A36-BEBC25EB45D4}"/>
              </a:ext>
            </a:extLst>
          </p:cNvPr>
          <p:cNvSpPr/>
          <p:nvPr/>
        </p:nvSpPr>
        <p:spPr>
          <a:xfrm>
            <a:off x="251520" y="2622853"/>
            <a:ext cx="1368152" cy="792088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>
            <a:solidFill>
              <a:srgbClr val="003C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i="1" dirty="0" err="1">
                <a:solidFill>
                  <a:schemeClr val="tx1"/>
                </a:solidFill>
              </a:rPr>
              <a:t>NpT</a:t>
            </a:r>
            <a:r>
              <a:rPr lang="de-DE" dirty="0">
                <a:solidFill>
                  <a:schemeClr val="tx1"/>
                </a:solidFill>
              </a:rPr>
              <a:t>-Simulation</a:t>
            </a: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57DDEBA1-EB02-49C3-BD8C-D151BBBB19A8}"/>
              </a:ext>
            </a:extLst>
          </p:cNvPr>
          <p:cNvSpPr/>
          <p:nvPr/>
        </p:nvSpPr>
        <p:spPr>
          <a:xfrm>
            <a:off x="4139001" y="2616875"/>
            <a:ext cx="1368152" cy="792088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>
            <a:solidFill>
              <a:srgbClr val="003C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i="1" dirty="0">
                <a:solidFill>
                  <a:schemeClr val="tx1"/>
                </a:solidFill>
              </a:rPr>
              <a:t>NVT</a:t>
            </a:r>
            <a:r>
              <a:rPr lang="de-DE" dirty="0">
                <a:solidFill>
                  <a:schemeClr val="tx1"/>
                </a:solidFill>
              </a:rPr>
              <a:t>-Simulation</a:t>
            </a:r>
          </a:p>
        </p:txBody>
      </p: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6E55DBDD-5B9A-4399-B4B7-C0749EE14038}"/>
              </a:ext>
            </a:extLst>
          </p:cNvPr>
          <p:cNvCxnSpPr/>
          <p:nvPr/>
        </p:nvCxnSpPr>
        <p:spPr>
          <a:xfrm>
            <a:off x="1618721" y="3016347"/>
            <a:ext cx="360040" cy="0"/>
          </a:xfrm>
          <a:prstGeom prst="straightConnector1">
            <a:avLst/>
          </a:prstGeom>
          <a:ln w="19050">
            <a:solidFill>
              <a:srgbClr val="003C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3C80E279-E9FA-4421-A463-9618B3D4E6AE}"/>
              </a:ext>
            </a:extLst>
          </p:cNvPr>
          <p:cNvCxnSpPr>
            <a:cxnSpLocks/>
          </p:cNvCxnSpPr>
          <p:nvPr/>
        </p:nvCxnSpPr>
        <p:spPr>
          <a:xfrm>
            <a:off x="3774067" y="3012227"/>
            <a:ext cx="360040" cy="0"/>
          </a:xfrm>
          <a:prstGeom prst="straightConnector1">
            <a:avLst/>
          </a:prstGeom>
          <a:ln w="19050">
            <a:solidFill>
              <a:srgbClr val="003C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CFAACCB7-F06B-4955-A859-33AAE7775945}"/>
                  </a:ext>
                </a:extLst>
              </p:cNvPr>
              <p:cNvSpPr txBox="1"/>
              <p:nvPr/>
            </p:nvSpPr>
            <p:spPr>
              <a:xfrm>
                <a:off x="1978761" y="2849620"/>
                <a:ext cx="179041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1600" i="1" dirty="0" smtClean="0">
                          <a:solidFill>
                            <a:srgbClr val="003C5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𝜌</m:t>
                      </m:r>
                      <m:r>
                        <m:rPr>
                          <m:sty m:val="p"/>
                        </m:rPr>
                        <a:rPr lang="de-DE" sz="1600" i="0" baseline="-25000" dirty="0" smtClean="0">
                          <a:solidFill>
                            <a:srgbClr val="003C5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i</m:t>
                      </m:r>
                      <m:r>
                        <a:rPr lang="de-DE" sz="1600" i="1" dirty="0" smtClean="0">
                          <a:solidFill>
                            <a:srgbClr val="003C5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de-DE" sz="1600" i="1" dirty="0" smtClean="0">
                          <a:solidFill>
                            <a:srgbClr val="003C5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𝑇</m:t>
                      </m:r>
                      <m:r>
                        <a:rPr lang="de-DE" sz="1600" i="1" dirty="0" smtClean="0">
                          <a:solidFill>
                            <a:srgbClr val="003C5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, </m:t>
                      </m:r>
                      <m:r>
                        <a:rPr lang="de-DE" sz="1600" i="1" dirty="0" smtClean="0">
                          <a:solidFill>
                            <a:srgbClr val="003C5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𝑝</m:t>
                      </m:r>
                      <m:r>
                        <a:rPr lang="de-DE" sz="1600" i="1" dirty="0" smtClean="0">
                          <a:solidFill>
                            <a:srgbClr val="003C5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r>
                        <a:rPr lang="de-DE" sz="1600" i="1" dirty="0">
                          <a:solidFill>
                            <a:srgbClr val="003C5A"/>
                          </a:solidFill>
                          <a:latin typeface="Cambria Math" panose="02040503050406030204" pitchFamily="18" charset="0"/>
                          <a:ea typeface="Segoe UI Symbol" pitchFamily="34" charset="0"/>
                          <a:cs typeface="Arial" pitchFamily="34" charset="0"/>
                        </a:rPr>
                        <m:t>𝑥</m:t>
                      </m:r>
                      <m:r>
                        <m:rPr>
                          <m:sty m:val="p"/>
                        </m:rPr>
                        <a:rPr lang="de-DE" sz="1600" i="0" baseline="-25000" dirty="0">
                          <a:solidFill>
                            <a:srgbClr val="003C5A"/>
                          </a:solidFill>
                          <a:latin typeface="Cambria Math" panose="02040503050406030204" pitchFamily="18" charset="0"/>
                          <a:ea typeface="Segoe UI Symbol" pitchFamily="34" charset="0"/>
                          <a:cs typeface="Arial" pitchFamily="34" charset="0"/>
                        </a:rPr>
                        <m:t>i</m:t>
                      </m:r>
                      <m:r>
                        <a:rPr lang="de-DE" sz="1600" i="1" dirty="0" smtClean="0">
                          <a:solidFill>
                            <a:srgbClr val="003C5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 lang="de-DE" sz="1600" i="1" dirty="0">
                  <a:solidFill>
                    <a:srgbClr val="003C5A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CFAACCB7-F06B-4955-A859-33AAE77759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8761" y="2849620"/>
                <a:ext cx="1790412" cy="338554"/>
              </a:xfrm>
              <a:prstGeom prst="rect">
                <a:avLst/>
              </a:prstGeom>
              <a:blipFill>
                <a:blip r:embed="rId4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8AB41798-63B1-4B18-A7B9-AE42D2B40BC6}"/>
              </a:ext>
            </a:extLst>
          </p:cNvPr>
          <p:cNvCxnSpPr>
            <a:cxnSpLocks/>
          </p:cNvCxnSpPr>
          <p:nvPr/>
        </p:nvCxnSpPr>
        <p:spPr>
          <a:xfrm>
            <a:off x="5507153" y="2760891"/>
            <a:ext cx="360040" cy="0"/>
          </a:xfrm>
          <a:prstGeom prst="straightConnector1">
            <a:avLst/>
          </a:prstGeom>
          <a:ln w="19050">
            <a:solidFill>
              <a:srgbClr val="003C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8F12C49D-0B44-4A18-920C-033BFF5E7640}"/>
              </a:ext>
            </a:extLst>
          </p:cNvPr>
          <p:cNvCxnSpPr>
            <a:cxnSpLocks/>
          </p:cNvCxnSpPr>
          <p:nvPr/>
        </p:nvCxnSpPr>
        <p:spPr>
          <a:xfrm>
            <a:off x="5507153" y="3264947"/>
            <a:ext cx="360040" cy="0"/>
          </a:xfrm>
          <a:prstGeom prst="straightConnector1">
            <a:avLst/>
          </a:prstGeom>
          <a:ln w="19050">
            <a:solidFill>
              <a:srgbClr val="003C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feld 13">
            <a:extLst>
              <a:ext uri="{FF2B5EF4-FFF2-40B4-BE49-F238E27FC236}">
                <a16:creationId xmlns:a16="http://schemas.microsoft.com/office/drawing/2014/main" id="{8C8459E2-58E4-4C61-B074-F371B6BD63B9}"/>
              </a:ext>
            </a:extLst>
          </p:cNvPr>
          <p:cNvSpPr txBox="1"/>
          <p:nvPr/>
        </p:nvSpPr>
        <p:spPr>
          <a:xfrm>
            <a:off x="5867193" y="2591613"/>
            <a:ext cx="8650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rgbClr val="003C5A"/>
                </a:solidFill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RDF</a:t>
            </a:r>
            <a:endParaRPr lang="de-DE" sz="1600" dirty="0">
              <a:solidFill>
                <a:srgbClr val="003C5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6E4E4504-F928-46D3-B9E5-B9873AC2297D}"/>
              </a:ext>
            </a:extLst>
          </p:cNvPr>
          <p:cNvSpPr txBox="1"/>
          <p:nvPr/>
        </p:nvSpPr>
        <p:spPr>
          <a:xfrm>
            <a:off x="5867193" y="3099445"/>
            <a:ext cx="8650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rgbClr val="003C5A"/>
                </a:solidFill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Cluster</a:t>
            </a:r>
            <a:endParaRPr lang="de-DE" sz="1600" dirty="0">
              <a:solidFill>
                <a:srgbClr val="003C5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6">
            <a:extLst>
              <a:ext uri="{FF2B5EF4-FFF2-40B4-BE49-F238E27FC236}">
                <a16:creationId xmlns:a16="http://schemas.microsoft.com/office/drawing/2014/main" id="{FDCE80C8-3A81-4DE4-81E7-3952FD1FE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521" y="1228504"/>
            <a:ext cx="846989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 anchorCtr="0">
            <a:noAutofit/>
          </a:bodyPr>
          <a:lstStyle/>
          <a:p>
            <a:pPr eaLnBrk="0" hangingPunct="0"/>
            <a:r>
              <a:rPr lang="de-DE" b="1" i="1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ms</a:t>
            </a:r>
            <a:r>
              <a:rPr lang="de-DE" b="1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2</a:t>
            </a:r>
            <a:endParaRPr lang="de-DE" sz="800" dirty="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0D941E9C-DE9F-4E41-878C-3419B6BF5ADD}"/>
              </a:ext>
            </a:extLst>
          </p:cNvPr>
          <p:cNvCxnSpPr>
            <a:cxnSpLocks/>
          </p:cNvCxnSpPr>
          <p:nvPr/>
        </p:nvCxnSpPr>
        <p:spPr>
          <a:xfrm rot="5400000">
            <a:off x="431540" y="2442833"/>
            <a:ext cx="360040" cy="0"/>
          </a:xfrm>
          <a:prstGeom prst="straightConnector1">
            <a:avLst/>
          </a:prstGeom>
          <a:ln w="19050">
            <a:solidFill>
              <a:srgbClr val="003C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04354F7B-AB47-4710-B319-978617BD72F5}"/>
              </a:ext>
            </a:extLst>
          </p:cNvPr>
          <p:cNvCxnSpPr>
            <a:cxnSpLocks/>
          </p:cNvCxnSpPr>
          <p:nvPr/>
        </p:nvCxnSpPr>
        <p:spPr>
          <a:xfrm rot="5400000">
            <a:off x="1079612" y="2442833"/>
            <a:ext cx="360040" cy="0"/>
          </a:xfrm>
          <a:prstGeom prst="straightConnector1">
            <a:avLst/>
          </a:prstGeom>
          <a:ln w="19050">
            <a:solidFill>
              <a:srgbClr val="003C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0952002C-09D0-4555-9656-3755B64C2D5B}"/>
              </a:ext>
            </a:extLst>
          </p:cNvPr>
          <p:cNvCxnSpPr>
            <a:cxnSpLocks/>
          </p:cNvCxnSpPr>
          <p:nvPr/>
        </p:nvCxnSpPr>
        <p:spPr>
          <a:xfrm rot="5400000">
            <a:off x="4319021" y="2436855"/>
            <a:ext cx="360040" cy="0"/>
          </a:xfrm>
          <a:prstGeom prst="straightConnector1">
            <a:avLst/>
          </a:prstGeom>
          <a:ln w="19050">
            <a:solidFill>
              <a:srgbClr val="003C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C0468FC0-889A-4312-A8DA-86A8C66FF7A9}"/>
              </a:ext>
            </a:extLst>
          </p:cNvPr>
          <p:cNvCxnSpPr>
            <a:cxnSpLocks/>
          </p:cNvCxnSpPr>
          <p:nvPr/>
        </p:nvCxnSpPr>
        <p:spPr>
          <a:xfrm rot="5400000">
            <a:off x="4967093" y="2436855"/>
            <a:ext cx="360040" cy="0"/>
          </a:xfrm>
          <a:prstGeom prst="straightConnector1">
            <a:avLst/>
          </a:prstGeom>
          <a:ln w="19050">
            <a:solidFill>
              <a:srgbClr val="003C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7049C028-7DB5-440F-B617-2CF95B16B24E}"/>
              </a:ext>
            </a:extLst>
          </p:cNvPr>
          <p:cNvCxnSpPr>
            <a:cxnSpLocks/>
          </p:cNvCxnSpPr>
          <p:nvPr/>
        </p:nvCxnSpPr>
        <p:spPr>
          <a:xfrm rot="16200000">
            <a:off x="1082059" y="3607428"/>
            <a:ext cx="360040" cy="0"/>
          </a:xfrm>
          <a:prstGeom prst="straightConnector1">
            <a:avLst/>
          </a:prstGeom>
          <a:ln w="19050">
            <a:solidFill>
              <a:srgbClr val="003C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CAF243E8-0315-4893-A8B2-61DB0B23252C}"/>
              </a:ext>
            </a:extLst>
          </p:cNvPr>
          <p:cNvCxnSpPr>
            <a:cxnSpLocks/>
          </p:cNvCxnSpPr>
          <p:nvPr/>
        </p:nvCxnSpPr>
        <p:spPr>
          <a:xfrm rot="16200000">
            <a:off x="443025" y="3607428"/>
            <a:ext cx="360040" cy="0"/>
          </a:xfrm>
          <a:prstGeom prst="straightConnector1">
            <a:avLst/>
          </a:prstGeom>
          <a:ln w="19050">
            <a:solidFill>
              <a:srgbClr val="003C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53A25EB9-8C58-40E9-A694-9303A6D38A08}"/>
              </a:ext>
            </a:extLst>
          </p:cNvPr>
          <p:cNvCxnSpPr>
            <a:cxnSpLocks/>
          </p:cNvCxnSpPr>
          <p:nvPr/>
        </p:nvCxnSpPr>
        <p:spPr>
          <a:xfrm rot="16200000">
            <a:off x="4967093" y="3601661"/>
            <a:ext cx="360040" cy="0"/>
          </a:xfrm>
          <a:prstGeom prst="straightConnector1">
            <a:avLst/>
          </a:prstGeom>
          <a:ln w="19050">
            <a:solidFill>
              <a:srgbClr val="003C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B38F3EC3-4FA1-429E-A1C8-ED1329865083}"/>
              </a:ext>
            </a:extLst>
          </p:cNvPr>
          <p:cNvCxnSpPr>
            <a:cxnSpLocks/>
          </p:cNvCxnSpPr>
          <p:nvPr/>
        </p:nvCxnSpPr>
        <p:spPr>
          <a:xfrm rot="16200000">
            <a:off x="4328059" y="3601661"/>
            <a:ext cx="360040" cy="0"/>
          </a:xfrm>
          <a:prstGeom prst="straightConnector1">
            <a:avLst/>
          </a:prstGeom>
          <a:ln w="19050">
            <a:solidFill>
              <a:srgbClr val="003C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Grafik 27">
            <a:extLst>
              <a:ext uri="{FF2B5EF4-FFF2-40B4-BE49-F238E27FC236}">
                <a16:creationId xmlns:a16="http://schemas.microsoft.com/office/drawing/2014/main" id="{B7242597-0489-4730-97AE-66AB1875F1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520" y="1026681"/>
            <a:ext cx="1440000" cy="1440000"/>
          </a:xfrm>
          <a:prstGeom prst="rect">
            <a:avLst/>
          </a:prstGeom>
        </p:spPr>
      </p:pic>
      <p:pic>
        <p:nvPicPr>
          <p:cNvPr id="31" name="Grafik 30">
            <a:extLst>
              <a:ext uri="{FF2B5EF4-FFF2-40B4-BE49-F238E27FC236}">
                <a16:creationId xmlns:a16="http://schemas.microsoft.com/office/drawing/2014/main" id="{903DD293-181A-4A7A-8B41-ECAD7BA85A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4107" y="1032780"/>
            <a:ext cx="1440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938759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75000"/>
            <a:alpha val="30000"/>
          </a:schemeClr>
        </a:solidFill>
        <a:ln>
          <a:solidFill>
            <a:srgbClr val="003C5A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1074</Words>
  <Application>Microsoft Office PowerPoint</Application>
  <PresentationFormat>Bildschirmpräsentation (16:9)</PresentationFormat>
  <Paragraphs>253</Paragraphs>
  <Slides>20</Slides>
  <Notes>20</Notes>
  <HiddenSlides>0</HiddenSlides>
  <MMClips>2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20</vt:i4>
      </vt:variant>
    </vt:vector>
  </HeadingPairs>
  <TitlesOfParts>
    <vt:vector size="29" baseType="lpstr">
      <vt:lpstr>Arial</vt:lpstr>
      <vt:lpstr>Arial Rounded MT Bold</vt:lpstr>
      <vt:lpstr>ArialMT</vt:lpstr>
      <vt:lpstr>Calibri</vt:lpstr>
      <vt:lpstr>Cambria Math</vt:lpstr>
      <vt:lpstr>Courier New</vt:lpstr>
      <vt:lpstr>Segoe UI</vt:lpstr>
      <vt:lpstr>Wingdings</vt:lpstr>
      <vt:lpstr>Larissa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Neuhaus</dc:creator>
  <cp:lastModifiedBy>Yunus Sari</cp:lastModifiedBy>
  <cp:revision>434</cp:revision>
  <dcterms:created xsi:type="dcterms:W3CDTF">2017-02-22T17:37:59Z</dcterms:created>
  <dcterms:modified xsi:type="dcterms:W3CDTF">2022-06-01T14:58:38Z</dcterms:modified>
</cp:coreProperties>
</file>